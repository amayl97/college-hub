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18"/>
  </p:notesMasterIdLst>
  <p:sldIdLst>
    <p:sldId id="256" r:id="rId2"/>
    <p:sldId id="265" r:id="rId3"/>
    <p:sldId id="269" r:id="rId4"/>
    <p:sldId id="270" r:id="rId5"/>
    <p:sldId id="271" r:id="rId6"/>
    <p:sldId id="272" r:id="rId7"/>
    <p:sldId id="273" r:id="rId8"/>
    <p:sldId id="274" r:id="rId9"/>
    <p:sldId id="275" r:id="rId10"/>
    <p:sldId id="268" r:id="rId11"/>
    <p:sldId id="276" r:id="rId12"/>
    <p:sldId id="277" r:id="rId13"/>
    <p:sldId id="278" r:id="rId14"/>
    <p:sldId id="279" r:id="rId15"/>
    <p:sldId id="266" r:id="rId16"/>
    <p:sldId id="280"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D088001E-99BF-4D6F-9650-D4AD592DB22E}">
          <p14:sldIdLst>
            <p14:sldId id="256"/>
            <p14:sldId id="265"/>
            <p14:sldId id="269"/>
            <p14:sldId id="270"/>
            <p14:sldId id="271"/>
            <p14:sldId id="272"/>
            <p14:sldId id="273"/>
            <p14:sldId id="274"/>
          </p14:sldIdLst>
        </p14:section>
        <p14:section name="Server Environment" id="{7161C9DF-3ACC-4CA4-BE9A-DC2547434F7B}">
          <p14:sldIdLst>
            <p14:sldId id="275"/>
            <p14:sldId id="268"/>
            <p14:sldId id="276"/>
            <p14:sldId id="277"/>
            <p14:sldId id="278"/>
            <p14:sldId id="279"/>
            <p14:sldId id="266"/>
            <p14:sldId id="28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9" d="100"/>
          <a:sy n="69" d="100"/>
        </p:scale>
        <p:origin x="75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5BFCD2E-7228-44BF-A142-074A569114EE}" type="datetimeFigureOut">
              <a:rPr lang="en-US" smtClean="0"/>
              <a:t>12/11/2022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11FCF40-CB3C-47B8-B261-EDA055CFB94B}" type="slidenum">
              <a:rPr lang="en-US" smtClean="0"/>
              <a:t>‹#›</a:t>
            </a:fld>
            <a:endParaRPr lang="en-US"/>
          </a:p>
        </p:txBody>
      </p:sp>
    </p:spTree>
    <p:extLst>
      <p:ext uri="{BB962C8B-B14F-4D97-AF65-F5344CB8AC3E}">
        <p14:creationId xmlns:p14="http://schemas.microsoft.com/office/powerpoint/2010/main" val="29029403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0" dirty="0" err="1">
                <a:solidFill>
                  <a:srgbClr val="BCC0C3"/>
                </a:solidFill>
                <a:effectLst/>
                <a:latin typeface="arial" panose="020B0604020202020204" pitchFamily="34" charset="0"/>
              </a:rPr>
              <a:t>InterNIC</a:t>
            </a:r>
            <a:r>
              <a:rPr lang="en-US" b="0" i="0" dirty="0">
                <a:solidFill>
                  <a:srgbClr val="BDC1C6"/>
                </a:solidFill>
                <a:effectLst/>
                <a:latin typeface="arial" panose="020B0604020202020204" pitchFamily="34" charset="0"/>
              </a:rPr>
              <a:t> is a registered service mark of the U.S. Department of Commerce.</a:t>
            </a:r>
            <a:endParaRPr lang="en-US" dirty="0"/>
          </a:p>
        </p:txBody>
      </p:sp>
      <p:sp>
        <p:nvSpPr>
          <p:cNvPr id="4" name="Slide Number Placeholder 3"/>
          <p:cNvSpPr>
            <a:spLocks noGrp="1"/>
          </p:cNvSpPr>
          <p:nvPr>
            <p:ph type="sldNum" sz="quarter" idx="5"/>
          </p:nvPr>
        </p:nvSpPr>
        <p:spPr/>
        <p:txBody>
          <a:bodyPr/>
          <a:lstStyle/>
          <a:p>
            <a:fld id="{811FCF40-CB3C-47B8-B261-EDA055CFB94B}" type="slidenum">
              <a:rPr lang="en-US" smtClean="0"/>
              <a:t>6</a:t>
            </a:fld>
            <a:endParaRPr lang="en-US"/>
          </a:p>
        </p:txBody>
      </p:sp>
    </p:spTree>
    <p:extLst>
      <p:ext uri="{BB962C8B-B14F-4D97-AF65-F5344CB8AC3E}">
        <p14:creationId xmlns:p14="http://schemas.microsoft.com/office/powerpoint/2010/main" val="13045537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3714216-68E4-48F3-BEEA-B59CEDB7C435}" type="datetimeFigureOut">
              <a:rPr lang="en-US" smtClean="0"/>
              <a:t>12/11/2022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45821B-C871-40A7-A3EB-AB073EA155F9}"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58998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714216-68E4-48F3-BEEA-B59CEDB7C435}" type="datetimeFigureOut">
              <a:rPr lang="en-US" smtClean="0"/>
              <a:t>12/11/2022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45821B-C871-40A7-A3EB-AB073EA155F9}" type="slidenum">
              <a:rPr lang="en-US" smtClean="0"/>
              <a:t>‹#›</a:t>
            </a:fld>
            <a:endParaRPr lang="en-US"/>
          </a:p>
        </p:txBody>
      </p:sp>
    </p:spTree>
    <p:extLst>
      <p:ext uri="{BB962C8B-B14F-4D97-AF65-F5344CB8AC3E}">
        <p14:creationId xmlns:p14="http://schemas.microsoft.com/office/powerpoint/2010/main" val="1236737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3714216-68E4-48F3-BEEA-B59CEDB7C435}" type="datetimeFigureOut">
              <a:rPr lang="en-US" smtClean="0"/>
              <a:t>12/11/2022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45821B-C871-40A7-A3EB-AB073EA155F9}"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461167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3714216-68E4-48F3-BEEA-B59CEDB7C435}" type="datetimeFigureOut">
              <a:rPr lang="en-US" smtClean="0"/>
              <a:t>12/11/2022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245821B-C871-40A7-A3EB-AB073EA155F9}" type="slidenum">
              <a:rPr lang="en-US" smtClean="0"/>
              <a:t>‹#›</a:t>
            </a:fld>
            <a:endParaRPr lang="en-US"/>
          </a:p>
        </p:txBody>
      </p:sp>
    </p:spTree>
    <p:extLst>
      <p:ext uri="{BB962C8B-B14F-4D97-AF65-F5344CB8AC3E}">
        <p14:creationId xmlns:p14="http://schemas.microsoft.com/office/powerpoint/2010/main" val="42029316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3714216-68E4-48F3-BEEA-B59CEDB7C435}" type="datetimeFigureOut">
              <a:rPr lang="en-US" smtClean="0"/>
              <a:t>12/11/2022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245821B-C871-40A7-A3EB-AB073EA155F9}" type="slidenum">
              <a:rPr lang="en-US" smtClean="0"/>
              <a:t>‹#›</a:t>
            </a:fld>
            <a:endParaRPr lang="en-US"/>
          </a:p>
        </p:txBody>
      </p:sp>
    </p:spTree>
    <p:extLst>
      <p:ext uri="{BB962C8B-B14F-4D97-AF65-F5344CB8AC3E}">
        <p14:creationId xmlns:p14="http://schemas.microsoft.com/office/powerpoint/2010/main" val="24790500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3714216-68E4-48F3-BEEA-B59CEDB7C435}" type="datetimeFigureOut">
              <a:rPr lang="en-US" smtClean="0"/>
              <a:t>12/11/2022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245821B-C871-40A7-A3EB-AB073EA155F9}" type="slidenum">
              <a:rPr lang="en-US" smtClean="0"/>
              <a:t>‹#›</a:t>
            </a:fld>
            <a:endParaRPr lang="en-US"/>
          </a:p>
        </p:txBody>
      </p:sp>
    </p:spTree>
    <p:extLst>
      <p:ext uri="{BB962C8B-B14F-4D97-AF65-F5344CB8AC3E}">
        <p14:creationId xmlns:p14="http://schemas.microsoft.com/office/powerpoint/2010/main" val="22032198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73714216-68E4-48F3-BEEA-B59CEDB7C435}" type="datetimeFigureOut">
              <a:rPr lang="en-US" smtClean="0"/>
              <a:t>12/11/2022</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4245821B-C871-40A7-A3EB-AB073EA155F9}" type="slidenum">
              <a:rPr lang="en-US" smtClean="0"/>
              <a:t>‹#›</a:t>
            </a:fld>
            <a:endParaRPr lang="en-US"/>
          </a:p>
        </p:txBody>
      </p:sp>
    </p:spTree>
    <p:extLst>
      <p:ext uri="{BB962C8B-B14F-4D97-AF65-F5344CB8AC3E}">
        <p14:creationId xmlns:p14="http://schemas.microsoft.com/office/powerpoint/2010/main" val="16725541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73714216-68E4-48F3-BEEA-B59CEDB7C435}" type="datetimeFigureOut">
              <a:rPr lang="en-US" smtClean="0"/>
              <a:t>12/11/2022</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245821B-C871-40A7-A3EB-AB073EA155F9}" type="slidenum">
              <a:rPr lang="en-US" smtClean="0"/>
              <a:t>‹#›</a:t>
            </a:fld>
            <a:endParaRPr lang="en-US"/>
          </a:p>
        </p:txBody>
      </p:sp>
    </p:spTree>
    <p:extLst>
      <p:ext uri="{BB962C8B-B14F-4D97-AF65-F5344CB8AC3E}">
        <p14:creationId xmlns:p14="http://schemas.microsoft.com/office/powerpoint/2010/main" val="4368050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3714216-68E4-48F3-BEEA-B59CEDB7C435}" type="datetimeFigureOut">
              <a:rPr lang="en-US" smtClean="0"/>
              <a:t>12/11/2022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245821B-C871-40A7-A3EB-AB073EA155F9}" type="slidenum">
              <a:rPr lang="en-US" smtClean="0"/>
              <a:t>‹#›</a:t>
            </a:fld>
            <a:endParaRPr lang="en-US"/>
          </a:p>
        </p:txBody>
      </p:sp>
    </p:spTree>
    <p:extLst>
      <p:ext uri="{BB962C8B-B14F-4D97-AF65-F5344CB8AC3E}">
        <p14:creationId xmlns:p14="http://schemas.microsoft.com/office/powerpoint/2010/main" val="42225925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714216-68E4-48F3-BEEA-B59CEDB7C435}" type="datetimeFigureOut">
              <a:rPr lang="en-US" smtClean="0"/>
              <a:t>12/11/2022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45821B-C871-40A7-A3EB-AB073EA155F9}" type="slidenum">
              <a:rPr lang="en-US" smtClean="0"/>
              <a:t>‹#›</a:t>
            </a:fld>
            <a:endParaRPr lang="en-US"/>
          </a:p>
        </p:txBody>
      </p:sp>
    </p:spTree>
    <p:extLst>
      <p:ext uri="{BB962C8B-B14F-4D97-AF65-F5344CB8AC3E}">
        <p14:creationId xmlns:p14="http://schemas.microsoft.com/office/powerpoint/2010/main" val="41722940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714216-68E4-48F3-BEEA-B59CEDB7C435}" type="datetimeFigureOut">
              <a:rPr lang="en-US" smtClean="0"/>
              <a:t>12/11/2022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45821B-C871-40A7-A3EB-AB073EA155F9}" type="slidenum">
              <a:rPr lang="en-US" smtClean="0"/>
              <a:t>‹#›</a:t>
            </a:fld>
            <a:endParaRPr lang="en-US"/>
          </a:p>
        </p:txBody>
      </p:sp>
    </p:spTree>
    <p:extLst>
      <p:ext uri="{BB962C8B-B14F-4D97-AF65-F5344CB8AC3E}">
        <p14:creationId xmlns:p14="http://schemas.microsoft.com/office/powerpoint/2010/main" val="39847378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73714216-68E4-48F3-BEEA-B59CEDB7C435}" type="datetimeFigureOut">
              <a:rPr lang="en-US" smtClean="0"/>
              <a:t>12/11/2022</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4245821B-C871-40A7-A3EB-AB073EA155F9}"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2827735"/>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EB1836F0-F9E0-4D93-9BDD-7EEC6EA05F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5289754" y="639097"/>
            <a:ext cx="6253317" cy="3686015"/>
          </a:xfrm>
        </p:spPr>
        <p:txBody>
          <a:bodyPr>
            <a:normAutofit/>
          </a:bodyPr>
          <a:lstStyle/>
          <a:p>
            <a:r>
              <a:rPr lang="en-US" sz="5600" dirty="0">
                <a:latin typeface="Times New Roman" panose="02020603050405020304" pitchFamily="18" charset="0"/>
                <a:cs typeface="Times New Roman" panose="02020603050405020304" pitchFamily="18" charset="0"/>
              </a:rPr>
              <a:t>Server Environment </a:t>
            </a:r>
            <a:br>
              <a:rPr lang="en-US" sz="5600" dirty="0">
                <a:latin typeface="Times New Roman" panose="02020603050405020304" pitchFamily="18" charset="0"/>
                <a:cs typeface="Times New Roman" panose="02020603050405020304" pitchFamily="18" charset="0"/>
              </a:rPr>
            </a:br>
            <a:br>
              <a:rPr lang="en-US" sz="5600" dirty="0">
                <a:latin typeface="Times New Roman" panose="02020603050405020304" pitchFamily="18" charset="0"/>
                <a:cs typeface="Times New Roman" panose="02020603050405020304" pitchFamily="18" charset="0"/>
              </a:rPr>
            </a:br>
            <a:r>
              <a:rPr lang="en-US" sz="5600" dirty="0">
                <a:latin typeface="Times New Roman" panose="02020603050405020304" pitchFamily="18" charset="0"/>
                <a:cs typeface="Times New Roman" panose="02020603050405020304" pitchFamily="18" charset="0"/>
              </a:rPr>
              <a:t>(Microsoft and Linux)</a:t>
            </a:r>
          </a:p>
        </p:txBody>
      </p:sp>
      <p:pic>
        <p:nvPicPr>
          <p:cNvPr id="6" name="Graphic 5" descr="Server">
            <a:extLst>
              <a:ext uri="{FF2B5EF4-FFF2-40B4-BE49-F238E27FC236}">
                <a16:creationId xmlns:a16="http://schemas.microsoft.com/office/drawing/2014/main" id="{65564C97-8D11-65EB-46EA-4E57F1B9433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33999" y="1163529"/>
            <a:ext cx="4001315" cy="4001315"/>
          </a:xfrm>
          <a:prstGeom prst="rect">
            <a:avLst/>
          </a:prstGeom>
        </p:spPr>
      </p:pic>
      <p:cxnSp>
        <p:nvCxnSpPr>
          <p:cNvPr id="22" name="Straight Connector 21">
            <a:extLst>
              <a:ext uri="{FF2B5EF4-FFF2-40B4-BE49-F238E27FC236}">
                <a16:creationId xmlns:a16="http://schemas.microsoft.com/office/drawing/2014/main" id="{7A49EFD3-A806-4D59-99F1-AA9AFAE4EF7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447071" y="4343400"/>
            <a:ext cx="5636107" cy="0"/>
          </a:xfrm>
          <a:prstGeom prst="line">
            <a:avLst/>
          </a:prstGeom>
          <a:ln w="6350">
            <a:solidFill>
              <a:schemeClr val="tx2">
                <a:alpha val="90000"/>
              </a:schemeClr>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6D2F28D1-82F9-40FE-935C-85ECF7660D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Rectangle 25">
            <a:extLst>
              <a:ext uri="{FF2B5EF4-FFF2-40B4-BE49-F238E27FC236}">
                <a16:creationId xmlns:a16="http://schemas.microsoft.com/office/drawing/2014/main" id="{4B670E93-2F53-48FC-AB6C-E99E22D17F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4195385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36320" y="-101598"/>
            <a:ext cx="9601196" cy="1947332"/>
          </a:xfrm>
        </p:spPr>
        <p:txBody>
          <a:bodyPr>
            <a:normAutofit/>
          </a:bodyPr>
          <a:lstStyle/>
          <a:p>
            <a:r>
              <a:rPr lang="en-US" dirty="0">
                <a:latin typeface="Times New Roman" panose="02020603050405020304" pitchFamily="18" charset="0"/>
                <a:cs typeface="Times New Roman" panose="02020603050405020304" pitchFamily="18" charset="0"/>
              </a:rPr>
              <a:t> What is server? </a:t>
            </a:r>
          </a:p>
        </p:txBody>
      </p:sp>
      <p:sp>
        <p:nvSpPr>
          <p:cNvPr id="3" name="Content Placeholder 2"/>
          <p:cNvSpPr>
            <a:spLocks noGrp="1"/>
          </p:cNvSpPr>
          <p:nvPr>
            <p:ph idx="1"/>
          </p:nvPr>
        </p:nvSpPr>
        <p:spPr>
          <a:xfrm>
            <a:off x="1066800" y="1984279"/>
            <a:ext cx="10058400" cy="4023360"/>
          </a:xfrm>
        </p:spPr>
        <p:txBody>
          <a:bodyPr>
            <a:normAutofit/>
          </a:bodyPr>
          <a:lstStyle/>
          <a:p>
            <a:pPr lvl="1">
              <a:buFont typeface="Wingdings" panose="05000000000000000000" pitchFamily="2" charset="2"/>
              <a:buChar char="§"/>
            </a:pPr>
            <a:r>
              <a:rPr lang="en-US" sz="2600" dirty="0">
                <a:latin typeface="Times New Roman" panose="02020603050405020304" pitchFamily="18" charset="0"/>
                <a:cs typeface="Times New Roman" panose="02020603050405020304" pitchFamily="18" charset="0"/>
              </a:rPr>
              <a:t>A server is a software or hardware device that accepts and responds to requests made over a network. </a:t>
            </a:r>
          </a:p>
          <a:p>
            <a:pPr lvl="1">
              <a:buFont typeface="Wingdings" panose="05000000000000000000" pitchFamily="2" charset="2"/>
              <a:buChar char="§"/>
            </a:pPr>
            <a:endParaRPr lang="en-US" sz="2600"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
            </a:pPr>
            <a:r>
              <a:rPr lang="en-US" sz="2600" dirty="0">
                <a:latin typeface="Times New Roman" panose="02020603050405020304" pitchFamily="18" charset="0"/>
                <a:cs typeface="Times New Roman" panose="02020603050405020304" pitchFamily="18" charset="0"/>
              </a:rPr>
              <a:t>The device that makes the request, and receives a response from the server, is called a client. </a:t>
            </a:r>
          </a:p>
          <a:p>
            <a:pPr lvl="1">
              <a:buFont typeface="Wingdings" panose="05000000000000000000" pitchFamily="2" charset="2"/>
              <a:buChar char="§"/>
            </a:pPr>
            <a:endParaRPr lang="en-US" sz="2600"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
            </a:pPr>
            <a:r>
              <a:rPr lang="en-US" sz="2600" dirty="0">
                <a:latin typeface="Times New Roman" panose="02020603050405020304" pitchFamily="18" charset="0"/>
                <a:cs typeface="Times New Roman" panose="02020603050405020304" pitchFamily="18" charset="0"/>
              </a:rPr>
              <a:t>On the Internet, the term "server" commonly refers to the computer system that receives requests for a web files and sends those files to the client.</a:t>
            </a:r>
          </a:p>
        </p:txBody>
      </p:sp>
    </p:spTree>
    <p:extLst>
      <p:ext uri="{BB962C8B-B14F-4D97-AF65-F5344CB8AC3E}">
        <p14:creationId xmlns:p14="http://schemas.microsoft.com/office/powerpoint/2010/main" val="17545374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36320" y="-101598"/>
            <a:ext cx="9601196" cy="1947332"/>
          </a:xfrm>
        </p:spPr>
        <p:txBody>
          <a:bodyPr>
            <a:normAutofit/>
          </a:bodyPr>
          <a:lstStyle/>
          <a:p>
            <a:r>
              <a:rPr lang="en-US" dirty="0">
                <a:latin typeface="Times New Roman" panose="02020603050405020304" pitchFamily="18" charset="0"/>
                <a:cs typeface="Times New Roman" panose="02020603050405020304" pitchFamily="18" charset="0"/>
              </a:rPr>
              <a:t>Why we use servers?</a:t>
            </a:r>
          </a:p>
        </p:txBody>
      </p:sp>
      <p:sp>
        <p:nvSpPr>
          <p:cNvPr id="3" name="Content Placeholder 2"/>
          <p:cNvSpPr>
            <a:spLocks noGrp="1"/>
          </p:cNvSpPr>
          <p:nvPr>
            <p:ph idx="1"/>
          </p:nvPr>
        </p:nvSpPr>
        <p:spPr/>
        <p:txBody>
          <a:bodyPr>
            <a:normAutofit fontScale="92500" lnSpcReduction="10000"/>
          </a:bodyPr>
          <a:lstStyle/>
          <a:p>
            <a:pPr lvl="1">
              <a:lnSpc>
                <a:spcPct val="150000"/>
              </a:lnSpc>
              <a:buFont typeface="Wingdings" panose="05000000000000000000" pitchFamily="2" charset="2"/>
              <a:buChar char="§"/>
            </a:pPr>
            <a:r>
              <a:rPr lang="en-US" sz="2600" dirty="0">
                <a:latin typeface="Times New Roman" panose="02020603050405020304" pitchFamily="18" charset="0"/>
                <a:cs typeface="Times New Roman" panose="02020603050405020304" pitchFamily="18" charset="0"/>
              </a:rPr>
              <a:t>Servers manage network resources. </a:t>
            </a:r>
          </a:p>
          <a:p>
            <a:pPr lvl="1">
              <a:lnSpc>
                <a:spcPct val="150000"/>
              </a:lnSpc>
              <a:buFont typeface="Wingdings" panose="05000000000000000000" pitchFamily="2" charset="2"/>
              <a:buChar char="§"/>
            </a:pPr>
            <a:r>
              <a:rPr lang="en-US" sz="2600" dirty="0">
                <a:latin typeface="Times New Roman" panose="02020603050405020304" pitchFamily="18" charset="0"/>
                <a:cs typeface="Times New Roman" panose="02020603050405020304" pitchFamily="18" charset="0"/>
              </a:rPr>
              <a:t>For example, a user may set up a server to control access to a network, send/receive e-mail, manage print jobs, or host a website.</a:t>
            </a:r>
          </a:p>
          <a:p>
            <a:pPr lvl="1">
              <a:lnSpc>
                <a:spcPct val="150000"/>
              </a:lnSpc>
              <a:buFont typeface="Wingdings" panose="05000000000000000000" pitchFamily="2" charset="2"/>
              <a:buChar char="§"/>
            </a:pPr>
            <a:r>
              <a:rPr lang="en-US" sz="2600" dirty="0">
                <a:latin typeface="Times New Roman" panose="02020603050405020304" pitchFamily="18" charset="0"/>
                <a:cs typeface="Times New Roman" panose="02020603050405020304" pitchFamily="18" charset="0"/>
              </a:rPr>
              <a:t>They are also proficient at performing intense calculations. </a:t>
            </a:r>
          </a:p>
          <a:p>
            <a:pPr lvl="1">
              <a:lnSpc>
                <a:spcPct val="150000"/>
              </a:lnSpc>
              <a:buFont typeface="Wingdings" panose="05000000000000000000" pitchFamily="2" charset="2"/>
              <a:buChar char="§"/>
            </a:pPr>
            <a:r>
              <a:rPr lang="en-US" sz="2600" dirty="0">
                <a:latin typeface="Times New Roman" panose="02020603050405020304" pitchFamily="18" charset="0"/>
                <a:cs typeface="Times New Roman" panose="02020603050405020304" pitchFamily="18" charset="0"/>
              </a:rPr>
              <a:t>Some servers are committed to a specific task, often referred to as dedicated. </a:t>
            </a:r>
          </a:p>
          <a:p>
            <a:pPr lvl="1">
              <a:lnSpc>
                <a:spcPct val="150000"/>
              </a:lnSpc>
              <a:buFont typeface="Wingdings" panose="05000000000000000000" pitchFamily="2" charset="2"/>
              <a:buChar char="§"/>
            </a:pPr>
            <a:r>
              <a:rPr lang="en-US" sz="2600" dirty="0">
                <a:latin typeface="Times New Roman" panose="02020603050405020304" pitchFamily="18" charset="0"/>
                <a:cs typeface="Times New Roman" panose="02020603050405020304" pitchFamily="18" charset="0"/>
              </a:rPr>
              <a:t>However, many servers today are shared servers that take on the responsibility of e-mail, DNS, FTP, and multiple websites in the case of a web server.</a:t>
            </a:r>
          </a:p>
        </p:txBody>
      </p:sp>
    </p:spTree>
    <p:extLst>
      <p:ext uri="{BB962C8B-B14F-4D97-AF65-F5344CB8AC3E}">
        <p14:creationId xmlns:p14="http://schemas.microsoft.com/office/powerpoint/2010/main" val="23279784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36320" y="-101598"/>
            <a:ext cx="9601196" cy="1947332"/>
          </a:xfrm>
        </p:spPr>
        <p:txBody>
          <a:bodyPr>
            <a:normAutofit/>
          </a:bodyPr>
          <a:lstStyle/>
          <a:p>
            <a:r>
              <a:rPr lang="en-US" dirty="0">
                <a:latin typeface="Times New Roman" panose="02020603050405020304" pitchFamily="18" charset="0"/>
                <a:cs typeface="Times New Roman" panose="02020603050405020304" pitchFamily="18" charset="0"/>
              </a:rPr>
              <a:t>Why are servers always on?</a:t>
            </a:r>
          </a:p>
        </p:txBody>
      </p:sp>
      <p:sp>
        <p:nvSpPr>
          <p:cNvPr id="3" name="Content Placeholder 2"/>
          <p:cNvSpPr>
            <a:spLocks noGrp="1"/>
          </p:cNvSpPr>
          <p:nvPr>
            <p:ph idx="1"/>
          </p:nvPr>
        </p:nvSpPr>
        <p:spPr/>
        <p:txBody>
          <a:bodyPr>
            <a:normAutofit/>
          </a:bodyPr>
          <a:lstStyle/>
          <a:p>
            <a:pPr lvl="1">
              <a:lnSpc>
                <a:spcPct val="150000"/>
              </a:lnSpc>
              <a:buFont typeface="Wingdings" panose="05000000000000000000" pitchFamily="2" charset="2"/>
              <a:buChar char="§"/>
            </a:pPr>
            <a:r>
              <a:rPr lang="en-US" sz="2600" dirty="0">
                <a:latin typeface="Times New Roman" panose="02020603050405020304" pitchFamily="18" charset="0"/>
                <a:cs typeface="Times New Roman" panose="02020603050405020304" pitchFamily="18" charset="0"/>
              </a:rPr>
              <a:t>Because they are commonly used to deliver services that are constantly required, most servers are never turned off. </a:t>
            </a:r>
          </a:p>
          <a:p>
            <a:pPr lvl="1">
              <a:lnSpc>
                <a:spcPct val="150000"/>
              </a:lnSpc>
              <a:buFont typeface="Wingdings" panose="05000000000000000000" pitchFamily="2" charset="2"/>
              <a:buChar char="§"/>
            </a:pPr>
            <a:r>
              <a:rPr lang="en-US" sz="2600" dirty="0">
                <a:latin typeface="Times New Roman" panose="02020603050405020304" pitchFamily="18" charset="0"/>
                <a:cs typeface="Times New Roman" panose="02020603050405020304" pitchFamily="18" charset="0"/>
              </a:rPr>
              <a:t>Consequently, when servers fail, they can cause the network users and company many problems. </a:t>
            </a:r>
          </a:p>
          <a:p>
            <a:pPr lvl="1">
              <a:lnSpc>
                <a:spcPct val="150000"/>
              </a:lnSpc>
              <a:buFont typeface="Wingdings" panose="05000000000000000000" pitchFamily="2" charset="2"/>
              <a:buChar char="§"/>
            </a:pPr>
            <a:r>
              <a:rPr lang="en-US" sz="2600" dirty="0">
                <a:latin typeface="Times New Roman" panose="02020603050405020304" pitchFamily="18" charset="0"/>
                <a:cs typeface="Times New Roman" panose="02020603050405020304" pitchFamily="18" charset="0"/>
              </a:rPr>
              <a:t>To alleviate these issues, servers are commonly set up to be fault tolerant.</a:t>
            </a:r>
          </a:p>
        </p:txBody>
      </p:sp>
    </p:spTree>
    <p:extLst>
      <p:ext uri="{BB962C8B-B14F-4D97-AF65-F5344CB8AC3E}">
        <p14:creationId xmlns:p14="http://schemas.microsoft.com/office/powerpoint/2010/main" val="23366828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36320" y="-101598"/>
            <a:ext cx="9601196" cy="1947332"/>
          </a:xfrm>
        </p:spPr>
        <p:txBody>
          <a:bodyPr>
            <a:normAutofit/>
          </a:bodyPr>
          <a:lstStyle/>
          <a:p>
            <a:r>
              <a:rPr lang="en-US" dirty="0">
                <a:latin typeface="Times New Roman" panose="02020603050405020304" pitchFamily="18" charset="0"/>
                <a:cs typeface="Times New Roman" panose="02020603050405020304" pitchFamily="18" charset="0"/>
              </a:rPr>
              <a:t>Examples of Servers</a:t>
            </a:r>
          </a:p>
        </p:txBody>
      </p:sp>
      <p:sp>
        <p:nvSpPr>
          <p:cNvPr id="3" name="Content Placeholder 2"/>
          <p:cNvSpPr>
            <a:spLocks noGrp="1"/>
          </p:cNvSpPr>
          <p:nvPr>
            <p:ph idx="1"/>
          </p:nvPr>
        </p:nvSpPr>
        <p:spPr/>
        <p:txBody>
          <a:bodyPr>
            <a:normAutofit/>
          </a:bodyPr>
          <a:lstStyle/>
          <a:p>
            <a:pPr lvl="1">
              <a:buFont typeface="Wingdings" panose="05000000000000000000" pitchFamily="2" charset="2"/>
              <a:buChar char="§"/>
            </a:pPr>
            <a:r>
              <a:rPr lang="en-US" sz="2600" dirty="0">
                <a:latin typeface="Times New Roman" panose="02020603050405020304" pitchFamily="18" charset="0"/>
                <a:cs typeface="Times New Roman" panose="02020603050405020304" pitchFamily="18" charset="0"/>
              </a:rPr>
              <a:t>Here are various server types.</a:t>
            </a:r>
          </a:p>
          <a:p>
            <a:r>
              <a:rPr lang="en-US" sz="2800" dirty="0">
                <a:latin typeface="Times New Roman" panose="02020603050405020304" pitchFamily="18" charset="0"/>
                <a:cs typeface="Times New Roman" panose="02020603050405020304" pitchFamily="18" charset="0"/>
              </a:rPr>
              <a:t>1. Application server   2. Blade server,  </a:t>
            </a:r>
          </a:p>
          <a:p>
            <a:r>
              <a:rPr lang="en-US" sz="2800" dirty="0">
                <a:latin typeface="Times New Roman" panose="02020603050405020304" pitchFamily="18" charset="0"/>
                <a:cs typeface="Times New Roman" panose="02020603050405020304" pitchFamily="18" charset="0"/>
              </a:rPr>
              <a:t>3. Cloud server ,          4.  Database server ,</a:t>
            </a:r>
          </a:p>
          <a:p>
            <a:r>
              <a:rPr lang="en-US" sz="2800" dirty="0">
                <a:latin typeface="Times New Roman" panose="02020603050405020304" pitchFamily="18" charset="0"/>
                <a:cs typeface="Times New Roman" panose="02020603050405020304" pitchFamily="18" charset="0"/>
              </a:rPr>
              <a:t>5. Dedicated server,    6. Domain name service, </a:t>
            </a:r>
          </a:p>
          <a:p>
            <a:r>
              <a:rPr lang="en-US" sz="2800" dirty="0">
                <a:latin typeface="Times New Roman" panose="02020603050405020304" pitchFamily="18" charset="0"/>
                <a:cs typeface="Times New Roman" panose="02020603050405020304" pitchFamily="18" charset="0"/>
              </a:rPr>
              <a:t>7. File server,              8. Mail server,</a:t>
            </a:r>
          </a:p>
          <a:p>
            <a:r>
              <a:rPr lang="en-US" sz="2800" dirty="0">
                <a:latin typeface="Times New Roman" panose="02020603050405020304" pitchFamily="18" charset="0"/>
                <a:cs typeface="Times New Roman" panose="02020603050405020304" pitchFamily="18" charset="0"/>
              </a:rPr>
              <a:t>9. Print server,            10. Proxy server, </a:t>
            </a:r>
          </a:p>
          <a:p>
            <a:pPr marL="0" indent="0">
              <a:buNone/>
            </a:pPr>
            <a:r>
              <a:rPr lang="en-US" sz="2800" dirty="0">
                <a:latin typeface="Times New Roman" panose="02020603050405020304" pitchFamily="18" charset="0"/>
                <a:cs typeface="Times New Roman" panose="02020603050405020304" pitchFamily="18" charset="0"/>
              </a:rPr>
              <a:t>11. Standalone server,  12. Web server</a:t>
            </a:r>
          </a:p>
        </p:txBody>
      </p:sp>
    </p:spTree>
    <p:extLst>
      <p:ext uri="{BB962C8B-B14F-4D97-AF65-F5344CB8AC3E}">
        <p14:creationId xmlns:p14="http://schemas.microsoft.com/office/powerpoint/2010/main" val="16841622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36320" y="-101598"/>
            <a:ext cx="9601196" cy="1947332"/>
          </a:xfrm>
        </p:spPr>
        <p:txBody>
          <a:bodyPr>
            <a:normAutofit/>
          </a:bodyPr>
          <a:lstStyle/>
          <a:p>
            <a:r>
              <a:rPr lang="en-US" dirty="0">
                <a:latin typeface="Times New Roman" panose="02020603050405020304" pitchFamily="18" charset="0"/>
                <a:cs typeface="Times New Roman" panose="02020603050405020304" pitchFamily="18" charset="0"/>
              </a:rPr>
              <a:t>How do other computers connect to a  server?</a:t>
            </a:r>
          </a:p>
        </p:txBody>
      </p:sp>
      <p:sp>
        <p:nvSpPr>
          <p:cNvPr id="3" name="Content Placeholder 2"/>
          <p:cNvSpPr>
            <a:spLocks noGrp="1"/>
          </p:cNvSpPr>
          <p:nvPr>
            <p:ph idx="1"/>
          </p:nvPr>
        </p:nvSpPr>
        <p:spPr/>
        <p:txBody>
          <a:bodyPr>
            <a:normAutofit fontScale="92500"/>
          </a:bodyPr>
          <a:lstStyle/>
          <a:p>
            <a:pPr lvl="1">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With a local network, the server connects to a router or switch that all other computers on the network use. </a:t>
            </a:r>
          </a:p>
          <a:p>
            <a:pPr lvl="1">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Once connected to the network, other computers can access that server and its features. </a:t>
            </a:r>
          </a:p>
          <a:p>
            <a:pPr lvl="1">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For example, with a web server, a user could connect to the server to view a website, search, and communicate with other users on the network.</a:t>
            </a:r>
          </a:p>
          <a:p>
            <a:pPr lvl="1">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An Internet server works the same way as a local network server, but on a much larger scale. The server is assigned an IP address by </a:t>
            </a:r>
            <a:r>
              <a:rPr lang="en-US" sz="2400" dirty="0" err="1">
                <a:latin typeface="Times New Roman" panose="02020603050405020304" pitchFamily="18" charset="0"/>
                <a:cs typeface="Times New Roman" panose="02020603050405020304" pitchFamily="18" charset="0"/>
              </a:rPr>
              <a:t>InterNIC</a:t>
            </a:r>
            <a:r>
              <a:rPr lang="en-US" sz="2400" dirty="0">
                <a:latin typeface="Times New Roman" panose="02020603050405020304" pitchFamily="18" charset="0"/>
                <a:cs typeface="Times New Roman" panose="02020603050405020304" pitchFamily="18" charset="0"/>
              </a:rPr>
              <a:t>, or by web host.</a:t>
            </a:r>
          </a:p>
          <a:p>
            <a:pPr lvl="1">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Usually, users connect to a server using its domain name, which is registered with a domain name registrar. When users connect to the domain name (such as “google.com"), the name is automatically translated to the server's IP address by a DNS resolver.</a:t>
            </a:r>
          </a:p>
        </p:txBody>
      </p:sp>
    </p:spTree>
    <p:extLst>
      <p:ext uri="{BB962C8B-B14F-4D97-AF65-F5344CB8AC3E}">
        <p14:creationId xmlns:p14="http://schemas.microsoft.com/office/powerpoint/2010/main" val="27148013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36320" y="-101598"/>
            <a:ext cx="9601196" cy="1947332"/>
          </a:xfrm>
        </p:spPr>
        <p:txBody>
          <a:bodyPr>
            <a:normAutofit/>
          </a:bodyPr>
          <a:lstStyle/>
          <a:p>
            <a:r>
              <a:rPr lang="en-US" dirty="0">
                <a:latin typeface="Times New Roman" panose="02020603050405020304" pitchFamily="18" charset="0"/>
                <a:cs typeface="Times New Roman" panose="02020603050405020304" pitchFamily="18" charset="0"/>
              </a:rPr>
              <a:t>Where are servers stored?</a:t>
            </a:r>
          </a:p>
        </p:txBody>
      </p:sp>
      <p:sp>
        <p:nvSpPr>
          <p:cNvPr id="3" name="Content Placeholder 2"/>
          <p:cNvSpPr>
            <a:spLocks noGrp="1"/>
          </p:cNvSpPr>
          <p:nvPr>
            <p:ph idx="1"/>
          </p:nvPr>
        </p:nvSpPr>
        <p:spPr/>
        <p:txBody>
          <a:bodyPr>
            <a:normAutofit lnSpcReduction="10000"/>
          </a:bodyPr>
          <a:lstStyle/>
          <a:p>
            <a:pPr lvl="1">
              <a:lnSpc>
                <a:spcPct val="150000"/>
              </a:lnSpc>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In a business or corporate environment, a server and other network equipment are often stored in a closet or glass house. </a:t>
            </a:r>
          </a:p>
          <a:p>
            <a:pPr lvl="1">
              <a:lnSpc>
                <a:spcPct val="150000"/>
              </a:lnSpc>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These areas help isolate sensitive computers and equipment from people who should not access them.</a:t>
            </a:r>
          </a:p>
          <a:p>
            <a:pPr lvl="1">
              <a:lnSpc>
                <a:spcPct val="150000"/>
              </a:lnSpc>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Servers that are remote or not hosted on-site are located in a data center.</a:t>
            </a:r>
          </a:p>
          <a:p>
            <a:pPr lvl="1">
              <a:lnSpc>
                <a:spcPct val="150000"/>
              </a:lnSpc>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 With these types of servers, the hardware is managed by another company and configured remotely by you or your company.</a:t>
            </a:r>
          </a:p>
        </p:txBody>
      </p:sp>
    </p:spTree>
    <p:extLst>
      <p:ext uri="{BB962C8B-B14F-4D97-AF65-F5344CB8AC3E}">
        <p14:creationId xmlns:p14="http://schemas.microsoft.com/office/powerpoint/2010/main" val="4399696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36320" y="-101598"/>
            <a:ext cx="9601196" cy="1947332"/>
          </a:xfrm>
        </p:spPr>
        <p:txBody>
          <a:bodyPr>
            <a:normAutofit/>
          </a:bodyPr>
          <a:lstStyle/>
          <a:p>
            <a:r>
              <a:rPr lang="en-US" dirty="0">
                <a:latin typeface="Times New Roman" panose="02020603050405020304" pitchFamily="18" charset="0"/>
                <a:cs typeface="Times New Roman" panose="02020603050405020304" pitchFamily="18" charset="0"/>
              </a:rPr>
              <a:t>Can my computer be a server?</a:t>
            </a:r>
          </a:p>
        </p:txBody>
      </p:sp>
      <p:sp>
        <p:nvSpPr>
          <p:cNvPr id="3" name="Content Placeholder 2"/>
          <p:cNvSpPr>
            <a:spLocks noGrp="1"/>
          </p:cNvSpPr>
          <p:nvPr>
            <p:ph idx="1"/>
          </p:nvPr>
        </p:nvSpPr>
        <p:spPr/>
        <p:txBody>
          <a:bodyPr>
            <a:normAutofit fontScale="92500" lnSpcReduction="10000"/>
          </a:bodyPr>
          <a:lstStyle/>
          <a:p>
            <a:r>
              <a:rPr lang="en-US" dirty="0">
                <a:latin typeface="Times New Roman" panose="02020603050405020304" pitchFamily="18" charset="0"/>
                <a:cs typeface="Times New Roman" panose="02020603050405020304" pitchFamily="18" charset="0"/>
              </a:rPr>
              <a:t>Yes. Any computer, even a home desktop or laptop computer, can act as a server with the right software.</a:t>
            </a:r>
          </a:p>
          <a:p>
            <a:r>
              <a:rPr lang="en-US" dirty="0">
                <a:latin typeface="Times New Roman" panose="02020603050405020304" pitchFamily="18" charset="0"/>
                <a:cs typeface="Times New Roman" panose="02020603050405020304" pitchFamily="18" charset="0"/>
              </a:rPr>
              <a:t>For example, you could install an FTP server program on your computer to share files between other users on your network.</a:t>
            </a:r>
          </a:p>
          <a:p>
            <a:r>
              <a:rPr lang="en-US" dirty="0">
                <a:latin typeface="Times New Roman" panose="02020603050405020304" pitchFamily="18" charset="0"/>
                <a:cs typeface="Times New Roman" panose="02020603050405020304" pitchFamily="18" charset="0"/>
              </a:rPr>
              <a:t>Although it is possible to have your home computer act as a server, keep the following ideas in mind.</a:t>
            </a:r>
          </a:p>
          <a:p>
            <a:pPr marL="457200" indent="-457200">
              <a:buFont typeface="+mj-lt"/>
              <a:buAutoNum type="arabicPeriod"/>
            </a:pPr>
            <a:r>
              <a:rPr lang="en-US" dirty="0">
                <a:latin typeface="Times New Roman" panose="02020603050405020304" pitchFamily="18" charset="0"/>
                <a:cs typeface="Times New Roman" panose="02020603050405020304" pitchFamily="18" charset="0"/>
              </a:rPr>
              <a:t>Your computer and the related server software must always be running to be accessible.</a:t>
            </a:r>
          </a:p>
          <a:p>
            <a:pPr marL="457200" indent="-457200">
              <a:buFont typeface="+mj-lt"/>
              <a:buAutoNum type="arabicPeriod"/>
            </a:pPr>
            <a:r>
              <a:rPr lang="en-US" dirty="0">
                <a:latin typeface="Times New Roman" panose="02020603050405020304" pitchFamily="18" charset="0"/>
                <a:cs typeface="Times New Roman" panose="02020603050405020304" pitchFamily="18" charset="0"/>
              </a:rPr>
              <a:t>When your computer is used as a server, its resources (e.g., processing and bandwidth) is taken away from what you have available to do other things.</a:t>
            </a:r>
          </a:p>
          <a:p>
            <a:pPr marL="457200" indent="-457200">
              <a:buFont typeface="+mj-lt"/>
              <a:buAutoNum type="arabicPeriod"/>
            </a:pPr>
            <a:r>
              <a:rPr lang="en-US" dirty="0">
                <a:latin typeface="Times New Roman" panose="02020603050405020304" pitchFamily="18" charset="0"/>
                <a:cs typeface="Times New Roman" panose="02020603050405020304" pitchFamily="18" charset="0"/>
              </a:rPr>
              <a:t>Connecting a computer to a network and the Internet can open up your computer to new types of attacks.</a:t>
            </a:r>
          </a:p>
          <a:p>
            <a:pPr marL="457200" indent="-457200">
              <a:buFont typeface="+mj-lt"/>
              <a:buAutoNum type="arabicPeriod"/>
            </a:pPr>
            <a:r>
              <a:rPr lang="en-US" dirty="0">
                <a:latin typeface="Times New Roman" panose="02020603050405020304" pitchFamily="18" charset="0"/>
                <a:cs typeface="Times New Roman" panose="02020603050405020304" pitchFamily="18" charset="0"/>
              </a:rPr>
              <a:t>If the service you're providing becomes popular, a typical computer may not have the necessary resources to handle all of the requests.</a:t>
            </a:r>
          </a:p>
        </p:txBody>
      </p:sp>
    </p:spTree>
    <p:extLst>
      <p:ext uri="{BB962C8B-B14F-4D97-AF65-F5344CB8AC3E}">
        <p14:creationId xmlns:p14="http://schemas.microsoft.com/office/powerpoint/2010/main" val="28885242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36320" y="-101598"/>
            <a:ext cx="9601196" cy="1947332"/>
          </a:xfrm>
        </p:spPr>
        <p:txBody>
          <a:bodyPr>
            <a:normAutofit/>
          </a:bodyPr>
          <a:lstStyle/>
          <a:p>
            <a:r>
              <a:rPr lang="en-US" dirty="0">
                <a:latin typeface="Times New Roman" panose="02020603050405020304" pitchFamily="18" charset="0"/>
                <a:cs typeface="Times New Roman" panose="02020603050405020304" pitchFamily="18" charset="0"/>
              </a:rPr>
              <a:t>Window Server VS Linux Server</a:t>
            </a:r>
          </a:p>
        </p:txBody>
      </p:sp>
      <p:sp>
        <p:nvSpPr>
          <p:cNvPr id="3" name="Content Placeholder 2"/>
          <p:cNvSpPr>
            <a:spLocks noGrp="1"/>
          </p:cNvSpPr>
          <p:nvPr>
            <p:ph idx="1"/>
          </p:nvPr>
        </p:nvSpPr>
        <p:spPr/>
        <p:txBody>
          <a:bodyPr>
            <a:normAutofit fontScale="85000" lnSpcReduction="10000"/>
          </a:bodyPr>
          <a:lstStyle/>
          <a:p>
            <a:pPr lvl="1">
              <a:lnSpc>
                <a:spcPct val="150000"/>
              </a:lnSpc>
              <a:buFont typeface="Wingdings" panose="05000000000000000000" pitchFamily="2" charset="2"/>
              <a:buChar char="§"/>
            </a:pPr>
            <a:r>
              <a:rPr lang="en-US" sz="2600" dirty="0">
                <a:latin typeface="Times New Roman" panose="02020603050405020304" pitchFamily="18" charset="0"/>
                <a:cs typeface="Times New Roman" panose="02020603050405020304" pitchFamily="18" charset="0"/>
              </a:rPr>
              <a:t>Linux and Microsoft Windows are the two main web-hosting services on the market. </a:t>
            </a:r>
          </a:p>
          <a:p>
            <a:pPr lvl="1">
              <a:lnSpc>
                <a:spcPct val="150000"/>
              </a:lnSpc>
              <a:buFont typeface="Wingdings" panose="05000000000000000000" pitchFamily="2" charset="2"/>
              <a:buChar char="§"/>
            </a:pPr>
            <a:r>
              <a:rPr lang="en-US" sz="2600" dirty="0">
                <a:latin typeface="Times New Roman" panose="02020603050405020304" pitchFamily="18" charset="0"/>
                <a:cs typeface="Times New Roman" panose="02020603050405020304" pitchFamily="18" charset="0"/>
              </a:rPr>
              <a:t>Linux is an open source software server, which makes it cheaper and easier to use than a Windows server.</a:t>
            </a:r>
          </a:p>
          <a:p>
            <a:pPr lvl="1">
              <a:lnSpc>
                <a:spcPct val="150000"/>
              </a:lnSpc>
              <a:buFont typeface="Wingdings" panose="05000000000000000000" pitchFamily="2" charset="2"/>
              <a:buChar char="§"/>
            </a:pPr>
            <a:r>
              <a:rPr lang="en-US" sz="2600" dirty="0">
                <a:latin typeface="Times New Roman" panose="02020603050405020304" pitchFamily="18" charset="0"/>
                <a:cs typeface="Times New Roman" panose="02020603050405020304" pitchFamily="18" charset="0"/>
              </a:rPr>
              <a:t>Windows is a Microsoft product designed to make Microsoft a profit. </a:t>
            </a:r>
          </a:p>
          <a:p>
            <a:pPr lvl="1">
              <a:lnSpc>
                <a:spcPct val="150000"/>
              </a:lnSpc>
              <a:buFont typeface="Wingdings" panose="05000000000000000000" pitchFamily="2" charset="2"/>
              <a:buChar char="§"/>
            </a:pPr>
            <a:r>
              <a:rPr lang="en-US" sz="2600" dirty="0">
                <a:latin typeface="Times New Roman" panose="02020603050405020304" pitchFamily="18" charset="0"/>
                <a:cs typeface="Times New Roman" panose="02020603050405020304" pitchFamily="18" charset="0"/>
              </a:rPr>
              <a:t>For many companies, the profit is worth the price. </a:t>
            </a:r>
          </a:p>
          <a:p>
            <a:pPr lvl="1">
              <a:lnSpc>
                <a:spcPct val="150000"/>
              </a:lnSpc>
              <a:buFont typeface="Wingdings" panose="05000000000000000000" pitchFamily="2" charset="2"/>
              <a:buChar char="§"/>
            </a:pPr>
            <a:r>
              <a:rPr lang="en-US" sz="2600" dirty="0">
                <a:latin typeface="Times New Roman" panose="02020603050405020304" pitchFamily="18" charset="0"/>
                <a:cs typeface="Times New Roman" panose="02020603050405020304" pitchFamily="18" charset="0"/>
              </a:rPr>
              <a:t>A Windows server generally offers more range and more support than Linux servers.</a:t>
            </a:r>
          </a:p>
        </p:txBody>
      </p:sp>
    </p:spTree>
    <p:extLst>
      <p:ext uri="{BB962C8B-B14F-4D97-AF65-F5344CB8AC3E}">
        <p14:creationId xmlns:p14="http://schemas.microsoft.com/office/powerpoint/2010/main" val="14194357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36320" y="-101598"/>
            <a:ext cx="9601196" cy="1947332"/>
          </a:xfrm>
        </p:spPr>
        <p:txBody>
          <a:bodyPr>
            <a:normAutofit/>
          </a:bodyPr>
          <a:lstStyle/>
          <a:p>
            <a:r>
              <a:rPr lang="en-US" dirty="0">
                <a:latin typeface="Times New Roman" panose="02020603050405020304" pitchFamily="18" charset="0"/>
                <a:cs typeface="Times New Roman" panose="02020603050405020304" pitchFamily="18" charset="0"/>
              </a:rPr>
              <a:t>What Is Windows Server and How Is It Different From Windows?</a:t>
            </a:r>
          </a:p>
        </p:txBody>
      </p:sp>
      <p:sp>
        <p:nvSpPr>
          <p:cNvPr id="3" name="Content Placeholder 2"/>
          <p:cNvSpPr>
            <a:spLocks noGrp="1"/>
          </p:cNvSpPr>
          <p:nvPr>
            <p:ph idx="1"/>
          </p:nvPr>
        </p:nvSpPr>
        <p:spPr>
          <a:xfrm>
            <a:off x="1097279" y="1845734"/>
            <a:ext cx="10194175" cy="4347248"/>
          </a:xfrm>
        </p:spPr>
        <p:txBody>
          <a:bodyPr>
            <a:normAutofit lnSpcReduction="10000"/>
          </a:bodyPr>
          <a:lstStyle/>
          <a:p>
            <a:pPr lvl="1">
              <a:lnSpc>
                <a:spcPct val="100000"/>
              </a:lnSpc>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Essentially, Windows Server is a line of operating systems that Microsoft specifically creates for use on a server. </a:t>
            </a:r>
          </a:p>
          <a:p>
            <a:pPr lvl="1">
              <a:lnSpc>
                <a:spcPct val="100000"/>
              </a:lnSpc>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Servers are extremely powerful machines that are designed to run constantly and provide resources for other computers. </a:t>
            </a:r>
          </a:p>
          <a:p>
            <a:pPr lvl="1">
              <a:lnSpc>
                <a:spcPct val="100000"/>
              </a:lnSpc>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This means in almost all cases, Windows Server is only used in business settings.</a:t>
            </a:r>
          </a:p>
          <a:p>
            <a:pPr lvl="1">
              <a:lnSpc>
                <a:spcPct val="100000"/>
              </a:lnSpc>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Microsoft has published Windows Server under this name since Windows Server 2003 launched in April 2003.</a:t>
            </a:r>
          </a:p>
          <a:p>
            <a:pPr lvl="1">
              <a:lnSpc>
                <a:spcPct val="100000"/>
              </a:lnSpc>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However, even before this, server versions of Windows were available. </a:t>
            </a:r>
          </a:p>
          <a:p>
            <a:pPr lvl="1">
              <a:lnSpc>
                <a:spcPct val="100000"/>
              </a:lnSpc>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For instance, Windows NT 4.0 was available in both workstation (for general use) and server flavors.</a:t>
            </a:r>
          </a:p>
        </p:txBody>
      </p:sp>
    </p:spTree>
    <p:extLst>
      <p:ext uri="{BB962C8B-B14F-4D97-AF65-F5344CB8AC3E}">
        <p14:creationId xmlns:p14="http://schemas.microsoft.com/office/powerpoint/2010/main" val="6506683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36320" y="-101598"/>
            <a:ext cx="9601196" cy="1947332"/>
          </a:xfrm>
        </p:spPr>
        <p:txBody>
          <a:bodyPr>
            <a:normAutofit/>
          </a:bodyPr>
          <a:lstStyle/>
          <a:p>
            <a:r>
              <a:rPr lang="en-US" dirty="0">
                <a:latin typeface="Times New Roman" panose="02020603050405020304" pitchFamily="18" charset="0"/>
                <a:cs typeface="Times New Roman" panose="02020603050405020304" pitchFamily="18" charset="0"/>
              </a:rPr>
              <a:t>What Is Windows Server and How Is It Different From Windows?</a:t>
            </a:r>
          </a:p>
        </p:txBody>
      </p:sp>
      <p:sp>
        <p:nvSpPr>
          <p:cNvPr id="3" name="Content Placeholder 2"/>
          <p:cNvSpPr>
            <a:spLocks noGrp="1"/>
          </p:cNvSpPr>
          <p:nvPr>
            <p:ph idx="1"/>
          </p:nvPr>
        </p:nvSpPr>
        <p:spPr>
          <a:xfrm>
            <a:off x="1097279" y="1845734"/>
            <a:ext cx="10194175" cy="4347248"/>
          </a:xfrm>
        </p:spPr>
        <p:txBody>
          <a:bodyPr>
            <a:normAutofit/>
          </a:bodyPr>
          <a:lstStyle/>
          <a:p>
            <a:pPr lvl="1">
              <a:lnSpc>
                <a:spcPct val="100000"/>
              </a:lnSpc>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With just a quick glance, you might have trouble telling the difference between Windows Server and normal versions of Windows. </a:t>
            </a:r>
          </a:p>
          <a:p>
            <a:pPr lvl="1">
              <a:lnSpc>
                <a:spcPct val="100000"/>
              </a:lnSpc>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The desktop looks the same, including the taskbar, desktop icons, and Start button.</a:t>
            </a:r>
          </a:p>
          <a:p>
            <a:pPr lvl="1">
              <a:lnSpc>
                <a:spcPct val="100000"/>
              </a:lnSpc>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As it turns out, every Windows Server release corresponds to a consumer version of Windows. </a:t>
            </a:r>
          </a:p>
          <a:p>
            <a:pPr lvl="1">
              <a:lnSpc>
                <a:spcPct val="100000"/>
              </a:lnSpc>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Windows Server 2003, for instance, is the server version of Windows XP. Current versions include Windows Server 2016, which is based on the Windows 10 Anniversary Update, and Windows Server 2019, based on version 1809 of Windows 10.</a:t>
            </a:r>
          </a:p>
        </p:txBody>
      </p:sp>
    </p:spTree>
    <p:extLst>
      <p:ext uri="{BB962C8B-B14F-4D97-AF65-F5344CB8AC3E}">
        <p14:creationId xmlns:p14="http://schemas.microsoft.com/office/powerpoint/2010/main" val="24141905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36320" y="-101598"/>
            <a:ext cx="9601196" cy="1947332"/>
          </a:xfrm>
        </p:spPr>
        <p:txBody>
          <a:bodyPr>
            <a:normAutofit/>
          </a:bodyPr>
          <a:lstStyle/>
          <a:p>
            <a:r>
              <a:rPr lang="en-US" dirty="0">
                <a:latin typeface="Times New Roman" panose="02020603050405020304" pitchFamily="18" charset="0"/>
                <a:cs typeface="Times New Roman" panose="02020603050405020304" pitchFamily="18" charset="0"/>
              </a:rPr>
              <a:t>Window Server Environment</a:t>
            </a:r>
          </a:p>
        </p:txBody>
      </p:sp>
      <p:sp>
        <p:nvSpPr>
          <p:cNvPr id="3" name="Content Placeholder 2"/>
          <p:cNvSpPr>
            <a:spLocks noGrp="1"/>
          </p:cNvSpPr>
          <p:nvPr>
            <p:ph idx="1"/>
          </p:nvPr>
        </p:nvSpPr>
        <p:spPr>
          <a:xfrm>
            <a:off x="1097279" y="1845734"/>
            <a:ext cx="10194175" cy="4347248"/>
          </a:xfrm>
        </p:spPr>
        <p:txBody>
          <a:bodyPr>
            <a:normAutofit/>
          </a:bodyPr>
          <a:lstStyle/>
          <a:p>
            <a:pPr lvl="1">
              <a:lnSpc>
                <a:spcPct val="100000"/>
              </a:lnSpc>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Because Windows Server and Windows share a code base, you can perform many of the same functions on both. </a:t>
            </a:r>
          </a:p>
          <a:p>
            <a:pPr lvl="1">
              <a:lnSpc>
                <a:spcPct val="100000"/>
              </a:lnSpc>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You can download and install programs like browsers and photo editors on Windows Server, and many Windows basics like Notepad are included in Windows Server.</a:t>
            </a:r>
          </a:p>
          <a:p>
            <a:pPr lvl="1">
              <a:lnSpc>
                <a:spcPct val="100000"/>
              </a:lnSpc>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However, Windows Server and Windows Pro/Home have more differences than similarities. Let's review some of them.</a:t>
            </a:r>
          </a:p>
          <a:p>
            <a:pPr marL="658368" lvl="1" indent="-457200">
              <a:lnSpc>
                <a:spcPct val="100000"/>
              </a:lnSpc>
              <a:buFont typeface="+mj-lt"/>
              <a:buAutoNum type="arabicPeriod"/>
            </a:pPr>
            <a:r>
              <a:rPr lang="en-US" sz="2400" dirty="0">
                <a:latin typeface="Times New Roman" panose="02020603050405020304" pitchFamily="18" charset="0"/>
                <a:cs typeface="Times New Roman" panose="02020603050405020304" pitchFamily="18" charset="0"/>
              </a:rPr>
              <a:t>Windows Server Includes Enterprise Management Software</a:t>
            </a:r>
          </a:p>
        </p:txBody>
      </p:sp>
    </p:spTree>
    <p:extLst>
      <p:ext uri="{BB962C8B-B14F-4D97-AF65-F5344CB8AC3E}">
        <p14:creationId xmlns:p14="http://schemas.microsoft.com/office/powerpoint/2010/main" val="42238532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36320" y="-101598"/>
            <a:ext cx="9601196" cy="1947332"/>
          </a:xfrm>
        </p:spPr>
        <p:txBody>
          <a:bodyPr>
            <a:normAutofit/>
          </a:bodyPr>
          <a:lstStyle/>
          <a:p>
            <a:r>
              <a:rPr lang="en-US" dirty="0">
                <a:latin typeface="Times New Roman" panose="02020603050405020304" pitchFamily="18" charset="0"/>
                <a:cs typeface="Times New Roman" panose="02020603050405020304" pitchFamily="18" charset="0"/>
              </a:rPr>
              <a:t>Window Server Environment (Contd..)</a:t>
            </a:r>
          </a:p>
        </p:txBody>
      </p:sp>
      <p:sp>
        <p:nvSpPr>
          <p:cNvPr id="3" name="Content Placeholder 2"/>
          <p:cNvSpPr>
            <a:spLocks noGrp="1"/>
          </p:cNvSpPr>
          <p:nvPr>
            <p:ph idx="1"/>
          </p:nvPr>
        </p:nvSpPr>
        <p:spPr>
          <a:xfrm>
            <a:off x="1097279" y="1845734"/>
            <a:ext cx="10194175" cy="4347248"/>
          </a:xfrm>
        </p:spPr>
        <p:txBody>
          <a:bodyPr>
            <a:normAutofit/>
          </a:bodyPr>
          <a:lstStyle/>
          <a:p>
            <a:pPr lvl="1">
              <a:lnSpc>
                <a:spcPct val="100000"/>
              </a:lnSpc>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Because Windows Server is intended for businesses, it includes plenty of enterprise software. Below are a few roles that a server can perform thanks to these tools:</a:t>
            </a:r>
          </a:p>
          <a:p>
            <a:pPr lvl="1">
              <a:lnSpc>
                <a:spcPct val="100000"/>
              </a:lnSpc>
              <a:buFont typeface="Wingdings" panose="05000000000000000000" pitchFamily="2" charset="2"/>
              <a:buChar char="§"/>
            </a:pPr>
            <a:r>
              <a:rPr lang="en-US" sz="2400" b="1" dirty="0">
                <a:latin typeface="Times New Roman" panose="02020603050405020304" pitchFamily="18" charset="0"/>
                <a:cs typeface="Times New Roman" panose="02020603050405020304" pitchFamily="18" charset="0"/>
              </a:rPr>
              <a:t>Active Directory: </a:t>
            </a:r>
            <a:r>
              <a:rPr lang="en-US" sz="2400" dirty="0">
                <a:latin typeface="Times New Roman" panose="02020603050405020304" pitchFamily="18" charset="0"/>
                <a:cs typeface="Times New Roman" panose="02020603050405020304" pitchFamily="18" charset="0"/>
              </a:rPr>
              <a:t>Active Directory is a user management service that allows a server to act as a domain controller. Instead of each user logging into a local computer, the domain controller handles all user account authentication. </a:t>
            </a:r>
          </a:p>
          <a:p>
            <a:pPr lvl="1">
              <a:lnSpc>
                <a:spcPct val="100000"/>
              </a:lnSpc>
              <a:buFont typeface="Wingdings" panose="05000000000000000000" pitchFamily="2" charset="2"/>
              <a:buChar char="§"/>
            </a:pPr>
            <a:r>
              <a:rPr lang="en-US" sz="2400" b="1" dirty="0">
                <a:latin typeface="Times New Roman" panose="02020603050405020304" pitchFamily="18" charset="0"/>
                <a:cs typeface="Times New Roman" panose="02020603050405020304" pitchFamily="18" charset="0"/>
              </a:rPr>
              <a:t>DHCP: </a:t>
            </a:r>
            <a:r>
              <a:rPr lang="en-US" sz="2400" dirty="0">
                <a:latin typeface="Times New Roman" panose="02020603050405020304" pitchFamily="18" charset="0"/>
                <a:cs typeface="Times New Roman" panose="02020603050405020304" pitchFamily="18" charset="0"/>
              </a:rPr>
              <a:t>Dynamic Host Configuration Protocol is a protocol that lets a server automatically assign IP addresses to all devices on the network. At home, your router probably handles this. But in a business setting, IT staff can take advantage of the greater DHCP functionality in Windows Server.</a:t>
            </a:r>
          </a:p>
        </p:txBody>
      </p:sp>
    </p:spTree>
    <p:extLst>
      <p:ext uri="{BB962C8B-B14F-4D97-AF65-F5344CB8AC3E}">
        <p14:creationId xmlns:p14="http://schemas.microsoft.com/office/powerpoint/2010/main" val="16780586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36320" y="-101598"/>
            <a:ext cx="9601196" cy="1947332"/>
          </a:xfrm>
        </p:spPr>
        <p:txBody>
          <a:bodyPr>
            <a:normAutofit/>
          </a:bodyPr>
          <a:lstStyle/>
          <a:p>
            <a:r>
              <a:rPr lang="en-US" dirty="0">
                <a:latin typeface="Times New Roman" panose="02020603050405020304" pitchFamily="18" charset="0"/>
                <a:cs typeface="Times New Roman" panose="02020603050405020304" pitchFamily="18" charset="0"/>
              </a:rPr>
              <a:t>Window Server Environment (Contd..)</a:t>
            </a:r>
          </a:p>
        </p:txBody>
      </p:sp>
      <p:sp>
        <p:nvSpPr>
          <p:cNvPr id="3" name="Content Placeholder 2"/>
          <p:cNvSpPr>
            <a:spLocks noGrp="1"/>
          </p:cNvSpPr>
          <p:nvPr>
            <p:ph idx="1"/>
          </p:nvPr>
        </p:nvSpPr>
        <p:spPr>
          <a:xfrm>
            <a:off x="1097279" y="1845734"/>
            <a:ext cx="10194175" cy="4347248"/>
          </a:xfrm>
        </p:spPr>
        <p:txBody>
          <a:bodyPr>
            <a:normAutofit/>
          </a:bodyPr>
          <a:lstStyle/>
          <a:p>
            <a:pPr lvl="1">
              <a:lnSpc>
                <a:spcPct val="100000"/>
              </a:lnSpc>
              <a:buFont typeface="Wingdings" panose="05000000000000000000" pitchFamily="2" charset="2"/>
              <a:buChar char="§"/>
            </a:pPr>
            <a:r>
              <a:rPr lang="en-US" sz="2400" b="1" dirty="0">
                <a:latin typeface="Times New Roman" panose="02020603050405020304" pitchFamily="18" charset="0"/>
                <a:cs typeface="Times New Roman" panose="02020603050405020304" pitchFamily="18" charset="0"/>
              </a:rPr>
              <a:t>File and Storage: </a:t>
            </a:r>
            <a:r>
              <a:rPr lang="en-US" sz="2400" dirty="0">
                <a:latin typeface="Times New Roman" panose="02020603050405020304" pitchFamily="18" charset="0"/>
                <a:cs typeface="Times New Roman" panose="02020603050405020304" pitchFamily="18" charset="0"/>
              </a:rPr>
              <a:t>Having a file server for your company is another common use. This allows you to keep important data in a central location and set permissions to control who can access which files.</a:t>
            </a:r>
          </a:p>
          <a:p>
            <a:pPr lvl="1">
              <a:lnSpc>
                <a:spcPct val="100000"/>
              </a:lnSpc>
              <a:buFont typeface="Wingdings" panose="05000000000000000000" pitchFamily="2" charset="2"/>
              <a:buChar char="§"/>
            </a:pPr>
            <a:r>
              <a:rPr lang="en-US" sz="2400" b="1" dirty="0">
                <a:latin typeface="Times New Roman" panose="02020603050405020304" pitchFamily="18" charset="0"/>
                <a:cs typeface="Times New Roman" panose="02020603050405020304" pitchFamily="18" charset="0"/>
              </a:rPr>
              <a:t>Print Services: </a:t>
            </a:r>
            <a:r>
              <a:rPr lang="en-US" sz="2400" dirty="0">
                <a:latin typeface="Times New Roman" panose="02020603050405020304" pitchFamily="18" charset="0"/>
                <a:cs typeface="Times New Roman" panose="02020603050405020304" pitchFamily="18" charset="0"/>
              </a:rPr>
              <a:t>If a business has dozens of printers across the building, it's a waste of time for IT staff to configure them individually for each new workstation. Setting up a print server allows you to easily map printers to computers and reduce redundant work.</a:t>
            </a:r>
          </a:p>
          <a:p>
            <a:pPr lvl="1">
              <a:lnSpc>
                <a:spcPct val="100000"/>
              </a:lnSpc>
              <a:buFont typeface="Wingdings" panose="05000000000000000000" pitchFamily="2" charset="2"/>
              <a:buChar char="§"/>
            </a:pPr>
            <a:r>
              <a:rPr lang="en-US" sz="2400" b="1" dirty="0">
                <a:latin typeface="Times New Roman" panose="02020603050405020304" pitchFamily="18" charset="0"/>
                <a:cs typeface="Times New Roman" panose="02020603050405020304" pitchFamily="18" charset="0"/>
              </a:rPr>
              <a:t>Windows Update Services: </a:t>
            </a:r>
            <a:r>
              <a:rPr lang="en-US" sz="2400" dirty="0">
                <a:latin typeface="Times New Roman" panose="02020603050405020304" pitchFamily="18" charset="0"/>
                <a:cs typeface="Times New Roman" panose="02020603050405020304" pitchFamily="18" charset="0"/>
              </a:rPr>
              <a:t>Often, businesses don't want all Windows updates to come through right away. By setting up a server as a Windows Update controller, you can route all workstation updates through that server and configure specific rules for how they should work.</a:t>
            </a:r>
          </a:p>
        </p:txBody>
      </p:sp>
    </p:spTree>
    <p:extLst>
      <p:ext uri="{BB962C8B-B14F-4D97-AF65-F5344CB8AC3E}">
        <p14:creationId xmlns:p14="http://schemas.microsoft.com/office/powerpoint/2010/main" val="39703152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latin typeface="Times New Roman" panose="02020603050405020304" pitchFamily="18" charset="0"/>
                <a:cs typeface="Times New Roman" panose="02020603050405020304" pitchFamily="18" charset="0"/>
              </a:rPr>
              <a:t>Linux Server</a:t>
            </a:r>
          </a:p>
        </p:txBody>
      </p:sp>
      <p:sp>
        <p:nvSpPr>
          <p:cNvPr id="3" name="Content Placeholder 2"/>
          <p:cNvSpPr>
            <a:spLocks noGrp="1"/>
          </p:cNvSpPr>
          <p:nvPr>
            <p:ph idx="1"/>
          </p:nvPr>
        </p:nvSpPr>
        <p:spPr/>
        <p:txBody>
          <a:bodyPr>
            <a:normAutofit fontScale="85000" lnSpcReduction="10000"/>
          </a:bodyPr>
          <a:lstStyle/>
          <a:p>
            <a:pPr lvl="1">
              <a:lnSpc>
                <a:spcPct val="110000"/>
              </a:lnSpc>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A Linux server is a variant of the Linux operating system that is designed to handle more intense storage and operational needs of larger organizations and their software. </a:t>
            </a:r>
          </a:p>
          <a:p>
            <a:pPr lvl="1">
              <a:lnSpc>
                <a:spcPct val="110000"/>
              </a:lnSpc>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Linux servers are widely used today and considered amongst the most popular due to their stability, security, and flexibility, which outstrip standard Windows servers.</a:t>
            </a:r>
          </a:p>
          <a:p>
            <a:pPr lvl="1">
              <a:lnSpc>
                <a:spcPct val="110000"/>
              </a:lnSpc>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Another major benefit of using Linux over closed-source software like Windows is that the former is fully open-source.</a:t>
            </a:r>
          </a:p>
          <a:p>
            <a:pPr lvl="1">
              <a:lnSpc>
                <a:spcPct val="110000"/>
              </a:lnSpc>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 This helps keeps setup and maintenance costs low, as even many of the proprietary variants of the standard Linux OS (such as Debian, CentOS, Ubuntu, and Red Hat) give users significant flexibility in terms of set up, operation, and maintenance their servers.</a:t>
            </a:r>
          </a:p>
          <a:p>
            <a:pPr lvl="1">
              <a:lnSpc>
                <a:spcPct val="110000"/>
              </a:lnSpc>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Additionally, Linux Servers are generally lighter to run on both physical and cloud servers because they don’t require a graphics interface.</a:t>
            </a:r>
          </a:p>
          <a:p>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374542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latin typeface="Times New Roman" panose="02020603050405020304" pitchFamily="18" charset="0"/>
                <a:cs typeface="Times New Roman" panose="02020603050405020304" pitchFamily="18" charset="0"/>
              </a:rPr>
              <a:t>Linux Server (Contd..)</a:t>
            </a:r>
          </a:p>
        </p:txBody>
      </p:sp>
      <p:sp>
        <p:nvSpPr>
          <p:cNvPr id="3" name="Content Placeholder 2"/>
          <p:cNvSpPr>
            <a:spLocks noGrp="1"/>
          </p:cNvSpPr>
          <p:nvPr>
            <p:ph idx="1"/>
          </p:nvPr>
        </p:nvSpPr>
        <p:spPr/>
        <p:txBody>
          <a:bodyPr>
            <a:normAutofit/>
          </a:bodyPr>
          <a:lstStyle/>
          <a:p>
            <a:r>
              <a:rPr lang="en-US" sz="2800" dirty="0">
                <a:latin typeface="Times New Roman" panose="02020603050405020304" pitchFamily="18" charset="0"/>
                <a:cs typeface="Times New Roman" panose="02020603050405020304" pitchFamily="18" charset="0"/>
              </a:rPr>
              <a:t>Each “flavor” of Linux server is designed with different uses in mind:</a:t>
            </a:r>
          </a:p>
          <a:p>
            <a:pPr marL="514350" indent="-514350">
              <a:buFont typeface="+mj-lt"/>
              <a:buAutoNum type="arabicPeriod"/>
            </a:pPr>
            <a:r>
              <a:rPr lang="en-US" sz="2800" dirty="0">
                <a:latin typeface="Times New Roman" panose="02020603050405020304" pitchFamily="18" charset="0"/>
                <a:cs typeface="Times New Roman" panose="02020603050405020304" pitchFamily="18" charset="0"/>
              </a:rPr>
              <a:t>If you’re running a web server, chances are it is running CentOS®</a:t>
            </a:r>
          </a:p>
          <a:p>
            <a:pPr marL="514350" indent="-514350">
              <a:buFont typeface="+mj-lt"/>
              <a:buAutoNum type="arabicPeriod"/>
            </a:pPr>
            <a:r>
              <a:rPr lang="en-US" sz="2800" dirty="0">
                <a:latin typeface="Times New Roman" panose="02020603050405020304" pitchFamily="18" charset="0"/>
                <a:cs typeface="Times New Roman" panose="02020603050405020304" pitchFamily="18" charset="0"/>
              </a:rPr>
              <a:t>If your application serves thousands of users — or more — you’ll want something designed to handle that kind of volume, such as Red Hat® Enterprise or Ubuntu server</a:t>
            </a:r>
          </a:p>
          <a:p>
            <a:pPr marL="514350" indent="-514350">
              <a:buFont typeface="+mj-lt"/>
              <a:buAutoNum type="arabicPeriod"/>
            </a:pPr>
            <a:r>
              <a:rPr lang="en-US" sz="2800" dirty="0">
                <a:latin typeface="Times New Roman" panose="02020603050405020304" pitchFamily="18" charset="0"/>
                <a:cs typeface="Times New Roman" panose="02020603050405020304" pitchFamily="18" charset="0"/>
              </a:rPr>
              <a:t>If that seems like overkill for your business needs, a </a:t>
            </a:r>
            <a:r>
              <a:rPr lang="en-US" sz="2800" dirty="0" err="1">
                <a:latin typeface="Times New Roman" panose="02020603050405020304" pitchFamily="18" charset="0"/>
                <a:cs typeface="Times New Roman" panose="02020603050405020304" pitchFamily="18" charset="0"/>
              </a:rPr>
              <a:t>TurnKey</a:t>
            </a:r>
            <a:r>
              <a:rPr lang="en-US" sz="2800" dirty="0">
                <a:latin typeface="Times New Roman" panose="02020603050405020304" pitchFamily="18" charset="0"/>
                <a:cs typeface="Times New Roman" panose="02020603050405020304" pitchFamily="18" charset="0"/>
              </a:rPr>
              <a:t> Linux single-purpose server might be sufficient</a:t>
            </a:r>
          </a:p>
        </p:txBody>
      </p:sp>
    </p:spTree>
    <p:extLst>
      <p:ext uri="{BB962C8B-B14F-4D97-AF65-F5344CB8AC3E}">
        <p14:creationId xmlns:p14="http://schemas.microsoft.com/office/powerpoint/2010/main" val="1779645029"/>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99</TotalTime>
  <Words>1624</Words>
  <Application>Microsoft Office PowerPoint</Application>
  <PresentationFormat>Widescreen</PresentationFormat>
  <Paragraphs>88</Paragraphs>
  <Slides>16</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Calibri Light</vt:lpstr>
      <vt:lpstr>Times New Roman</vt:lpstr>
      <vt:lpstr>Wingdings</vt:lpstr>
      <vt:lpstr>Retrospect</vt:lpstr>
      <vt:lpstr>Server Environment   (Microsoft and Linux)</vt:lpstr>
      <vt:lpstr> What is server? </vt:lpstr>
      <vt:lpstr>Why we use servers?</vt:lpstr>
      <vt:lpstr>Why are servers always on?</vt:lpstr>
      <vt:lpstr>Examples of Servers</vt:lpstr>
      <vt:lpstr>How do other computers connect to a  server?</vt:lpstr>
      <vt:lpstr>Where are servers stored?</vt:lpstr>
      <vt:lpstr>Can my computer be a server?</vt:lpstr>
      <vt:lpstr>Window Server VS Linux Server</vt:lpstr>
      <vt:lpstr>What Is Windows Server and How Is It Different From Windows?</vt:lpstr>
      <vt:lpstr>What Is Windows Server and How Is It Different From Windows?</vt:lpstr>
      <vt:lpstr>Window Server Environment</vt:lpstr>
      <vt:lpstr>Window Server Environment (Contd..)</vt:lpstr>
      <vt:lpstr>Window Server Environment (Contd..)</vt:lpstr>
      <vt:lpstr>Linux Server</vt:lpstr>
      <vt:lpstr>Linux Server (Contd..)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System and Network Administration </dc:title>
  <dc:creator>riazsataish@gmail.com</dc:creator>
  <cp:lastModifiedBy>Ayesha Arshad</cp:lastModifiedBy>
  <cp:revision>43</cp:revision>
  <dcterms:created xsi:type="dcterms:W3CDTF">2021-10-22T15:29:17Z</dcterms:created>
  <dcterms:modified xsi:type="dcterms:W3CDTF">2022-12-11T13:50:34Z</dcterms:modified>
</cp:coreProperties>
</file>