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5"/>
  </p:notesMasterIdLst>
  <p:handoutMasterIdLst>
    <p:handoutMasterId r:id="rId26"/>
  </p:handout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60" r:id="rId20"/>
    <p:sldId id="262" r:id="rId21"/>
    <p:sldId id="263" r:id="rId22"/>
    <p:sldId id="264" r:id="rId23"/>
    <p:sldId id="26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176E1-0074-4C1B-8D1C-4169E610CAEB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86B5F-78C4-4386-AD6B-BB38278D72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0280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A95076-3129-4AFE-9313-DFFB2BD7DB17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F7B5A-DBB8-4D2B-B71B-9EA25BDA4B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372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4F7B5A-DBB8-4D2B-B71B-9EA25BDA4B27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97F4D-058C-43BE-B5F6-9985381749A6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5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87ABF-D3B3-4CD9-84D1-6F7B7973D42C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8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0B636-9DC8-4CFC-AC35-400FDDCCB509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8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FD7D5-3B92-4BBB-8931-F53CFBFAB411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970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B2289-CE00-48AB-BF8E-CC422DC3458A}" type="datetime1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168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CFEF5-ED95-45A0-B890-DF901828B081}" type="datetime1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39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D809D-FE3C-4A64-A37B-FFCF9B10F223}" type="datetime1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0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F420D-AAFB-43A5-8D63-2201E96772F9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59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7698C-B805-4DFB-8B90-45A6AE748746}" type="datetime1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89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4BC9-E590-40E3-8D35-F185B048EBC5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15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97CE-5319-4F85-8426-B91787581216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7721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D4413-CD45-40B1-875B-966CDA077B82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35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29FD8-C5C8-44FD-B350-C67F50AAE667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73625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9A255-A573-44FF-89F6-23343DD13512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47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4407D-664F-4C3E-9414-74AF8CF18769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903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2DB7-27DD-4DF2-A92D-8F76B48A4F0F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0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B8B79-6E9F-4FFE-91F5-EA972790A200}" type="datetime1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51C6E8E-AA1D-44A2-BA04-72992BF5C8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1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6" y="285750"/>
            <a:ext cx="7766936" cy="4171950"/>
          </a:xfrm>
        </p:spPr>
        <p:txBody>
          <a:bodyPr/>
          <a:lstStyle/>
          <a:p>
            <a:pPr algn="ctr"/>
            <a:r>
              <a:rPr lang="en-US" dirty="0" smtClean="0"/>
              <a:t>User  and  Groups Administrator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6" y="1385888"/>
            <a:ext cx="8051271" cy="4786311"/>
          </a:xfrm>
        </p:spPr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7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01263"/>
            <a:ext cx="8596668" cy="4740100"/>
          </a:xfrm>
        </p:spPr>
        <p:txBody>
          <a:bodyPr/>
          <a:lstStyle/>
          <a:p>
            <a:r>
              <a:rPr lang="en-GB" sz="2800" dirty="0"/>
              <a:t>Linux is a multi-user operating system, which means that more than one user can use Linux at the same time. </a:t>
            </a:r>
            <a:endParaRPr lang="en-GB" sz="2800" dirty="0" smtClean="0"/>
          </a:p>
          <a:p>
            <a:r>
              <a:rPr lang="en-GB" sz="2800" dirty="0" smtClean="0"/>
              <a:t>Linux </a:t>
            </a:r>
            <a:r>
              <a:rPr lang="en-GB" sz="2800" dirty="0"/>
              <a:t>provides a beautiful mechanism to manage users in a system. </a:t>
            </a:r>
            <a:endParaRPr lang="en-GB" sz="2800" dirty="0" smtClean="0"/>
          </a:p>
          <a:p>
            <a:r>
              <a:rPr lang="en-GB" sz="2800" dirty="0" smtClean="0"/>
              <a:t>One </a:t>
            </a:r>
            <a:r>
              <a:rPr lang="en-GB" sz="2800" dirty="0"/>
              <a:t>of the most important roles of a system administrator is to manage the users and groups in a system</a:t>
            </a:r>
            <a:r>
              <a:rPr lang="en-GB" dirty="0"/>
              <a:t>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2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Linux user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055077"/>
            <a:ext cx="9404512" cy="4986285"/>
          </a:xfrm>
        </p:spPr>
        <p:txBody>
          <a:bodyPr>
            <a:normAutofit/>
          </a:bodyPr>
          <a:lstStyle/>
          <a:p>
            <a:r>
              <a:rPr lang="en-GB" sz="2400" dirty="0"/>
              <a:t>A user or account of a system is uniquely identified by a numerical number called the UID (unique identification number). </a:t>
            </a:r>
            <a:endParaRPr lang="en-GB" sz="2400" dirty="0" smtClean="0"/>
          </a:p>
          <a:p>
            <a:r>
              <a:rPr lang="en-GB" sz="2400" dirty="0" smtClean="0"/>
              <a:t>There </a:t>
            </a:r>
            <a:r>
              <a:rPr lang="en-GB" sz="2400" dirty="0"/>
              <a:t>are two types of users – the root or super user and normal users. </a:t>
            </a:r>
            <a:endParaRPr lang="en-GB" sz="2400" dirty="0" smtClean="0"/>
          </a:p>
          <a:p>
            <a:r>
              <a:rPr lang="en-GB" sz="2400" dirty="0" smtClean="0"/>
              <a:t>A </a:t>
            </a:r>
            <a:r>
              <a:rPr lang="en-GB" sz="2400" dirty="0"/>
              <a:t>root or super user can access all the files, while the normal user has limited access to files. </a:t>
            </a:r>
            <a:endParaRPr lang="en-GB" sz="2400" dirty="0" smtClean="0"/>
          </a:p>
          <a:p>
            <a:r>
              <a:rPr lang="en-GB" sz="2400" dirty="0" smtClean="0"/>
              <a:t>A </a:t>
            </a:r>
            <a:r>
              <a:rPr lang="en-GB" sz="2400" dirty="0"/>
              <a:t>super user can add, delete and modify a user account. </a:t>
            </a:r>
            <a:endParaRPr lang="en-GB" sz="2400" dirty="0" smtClean="0"/>
          </a:p>
          <a:p>
            <a:r>
              <a:rPr lang="en-GB" sz="2400" dirty="0" smtClean="0"/>
              <a:t>The </a:t>
            </a:r>
            <a:r>
              <a:rPr lang="en-GB" sz="2400" dirty="0"/>
              <a:t>full account information is stored in the </a:t>
            </a:r>
            <a:r>
              <a:rPr lang="en-GB" sz="2400" i="1" dirty="0"/>
              <a:t>/</a:t>
            </a:r>
            <a:r>
              <a:rPr lang="en-GB" sz="2400" i="1" dirty="0" err="1"/>
              <a:t>etc</a:t>
            </a:r>
            <a:r>
              <a:rPr lang="en-GB" sz="2400" i="1" dirty="0"/>
              <a:t>/</a:t>
            </a:r>
            <a:r>
              <a:rPr lang="en-GB" sz="2400" i="1" dirty="0" err="1"/>
              <a:t>passwd</a:t>
            </a:r>
            <a:r>
              <a:rPr lang="en-GB" sz="2400" dirty="0"/>
              <a:t> file and a hash password is stored in the file </a:t>
            </a:r>
            <a:r>
              <a:rPr lang="en-GB" sz="2400" i="1" dirty="0"/>
              <a:t>/</a:t>
            </a:r>
            <a:r>
              <a:rPr lang="en-GB" sz="2400" i="1" dirty="0" err="1"/>
              <a:t>etc</a:t>
            </a:r>
            <a:r>
              <a:rPr lang="en-GB" sz="2400" i="1" dirty="0"/>
              <a:t>/shadow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5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Creating a user with a default setting: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200" dirty="0"/>
              <a:t>A user can be added by running the </a:t>
            </a:r>
            <a:r>
              <a:rPr lang="en-GB" sz="3200" i="1" dirty="0" err="1"/>
              <a:t>useradd</a:t>
            </a:r>
            <a:r>
              <a:rPr lang="en-GB" sz="3200" dirty="0"/>
              <a:t> command at the command prompt. After creating the user, set a password using the</a:t>
            </a:r>
            <a:br>
              <a:rPr lang="en-GB" sz="3200" dirty="0"/>
            </a:br>
            <a:r>
              <a:rPr lang="en-GB" sz="3200" i="1" dirty="0" err="1"/>
              <a:t>passwd</a:t>
            </a:r>
            <a:r>
              <a:rPr lang="en-GB" sz="3200" dirty="0"/>
              <a:t> utility, as follows:</a:t>
            </a:r>
            <a:endParaRPr lang="en-US" sz="3200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2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5108" y="1671935"/>
            <a:ext cx="865114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3200" dirty="0" smtClean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GB" altLang="en-US" sz="3200" dirty="0" err="1" smtClean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root@localhost</a:t>
            </a:r>
            <a:r>
              <a:rPr lang="en-GB" altLang="en-US" sz="3200" dirty="0" smtClean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]# </a:t>
            </a:r>
            <a:r>
              <a:rPr lang="en-GB" altLang="en-US" sz="3200" dirty="0" err="1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useradd</a:t>
            </a:r>
            <a:r>
              <a:rPr lang="en-GB" altLang="en-US" sz="3200" dirty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GB" altLang="en-US" sz="3200" dirty="0" smtClean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Usman</a:t>
            </a:r>
            <a:endParaRPr lang="en-US" altLang="en-US" sz="3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3200" dirty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lang="en-GB" altLang="en-US" sz="3200" dirty="0" err="1" smtClean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root@localhost</a:t>
            </a:r>
            <a:r>
              <a:rPr lang="en-GB" altLang="en-US" sz="3200" dirty="0" smtClean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]# </a:t>
            </a:r>
            <a:r>
              <a:rPr lang="en-GB" altLang="en-US" sz="3200" dirty="0" err="1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passwd</a:t>
            </a:r>
            <a:r>
              <a:rPr lang="en-GB" altLang="en-US" sz="3200" dirty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GB" altLang="en-US" sz="3200" dirty="0" smtClean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Usman</a:t>
            </a:r>
            <a:endParaRPr lang="en-GB" altLang="en-US" sz="3200" dirty="0">
              <a:latin typeface="Arial Unicode MS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US" sz="3200" dirty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Changing password</a:t>
            </a:r>
            <a:r>
              <a:rPr lang="en-GB" altLang="en-US" sz="32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</a:t>
            </a:r>
            <a:r>
              <a:rPr lang="en-GB" altLang="en-US" sz="3200" dirty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for</a:t>
            </a:r>
            <a:r>
              <a:rPr lang="en-GB" altLang="en-US" sz="32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altLang="en-US" sz="3200" dirty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user </a:t>
            </a:r>
            <a:r>
              <a:rPr lang="en-GB" altLang="en-US" sz="3200" dirty="0" smtClean="0"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Usman</a:t>
            </a:r>
            <a:r>
              <a:rPr lang="en-US" altLang="en-US" sz="3600" dirty="0" smtClean="0"/>
              <a:t> 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15108" y="3303151"/>
            <a:ext cx="1019381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New password: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Retype new password: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passwd</a:t>
            </a:r>
            <a:r>
              <a:rPr kumimoji="0" lang="en-GB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: all authentication tokens updated successfully</a:t>
            </a:r>
            <a:r>
              <a:rPr kumimoji="0" lang="en-GB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4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96461" y="504093"/>
            <a:ext cx="9179169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575"/>
              </a:spcAft>
            </a:pPr>
            <a:r>
              <a:rPr lang="en-GB" sz="2800" dirty="0">
                <a:solidFill>
                  <a:srgbClr val="353232"/>
                </a:solidFill>
                <a:latin typeface="Lato"/>
                <a:ea typeface="Times New Roman" panose="02020603050405020304" pitchFamily="18" charset="0"/>
              </a:rPr>
              <a:t>The system automatically assigns a UID, creates the home directory (</a:t>
            </a:r>
            <a:r>
              <a:rPr lang="en-GB" sz="2800" i="1" dirty="0">
                <a:solidFill>
                  <a:srgbClr val="353232"/>
                </a:solidFill>
                <a:latin typeface="Lato"/>
                <a:ea typeface="Times New Roman" panose="02020603050405020304" pitchFamily="18" charset="0"/>
              </a:rPr>
              <a:t>/home/&lt;username&gt;</a:t>
            </a:r>
            <a:r>
              <a:rPr lang="en-GB" sz="2800" dirty="0">
                <a:solidFill>
                  <a:srgbClr val="353232"/>
                </a:solidFill>
                <a:latin typeface="Lato"/>
                <a:ea typeface="Times New Roman" panose="02020603050405020304" pitchFamily="18" charset="0"/>
              </a:rPr>
              <a:t>) and sets the default shell to </a:t>
            </a:r>
            <a:r>
              <a:rPr lang="en-GB" sz="2800" i="1" dirty="0">
                <a:solidFill>
                  <a:srgbClr val="353232"/>
                </a:solidFill>
                <a:latin typeface="Lato"/>
                <a:ea typeface="Times New Roman" panose="02020603050405020304" pitchFamily="18" charset="0"/>
              </a:rPr>
              <a:t>/bin/bash</a:t>
            </a:r>
            <a:r>
              <a:rPr lang="en-GB" sz="2800" dirty="0">
                <a:solidFill>
                  <a:srgbClr val="353232"/>
                </a:solidFill>
                <a:latin typeface="Lato"/>
                <a:ea typeface="Times New Roman" panose="02020603050405020304" pitchFamily="18" charset="0"/>
              </a:rPr>
              <a:t>. </a:t>
            </a:r>
            <a:endParaRPr lang="en-GB" sz="2800" dirty="0" smtClean="0">
              <a:solidFill>
                <a:srgbClr val="353232"/>
              </a:solidFill>
              <a:latin typeface="Lato"/>
              <a:ea typeface="Times New Roman" panose="02020603050405020304" pitchFamily="18" charset="0"/>
            </a:endParaRPr>
          </a:p>
          <a:p>
            <a:pPr>
              <a:spcAft>
                <a:spcPts val="1575"/>
              </a:spcAft>
            </a:pPr>
            <a:r>
              <a:rPr lang="en-GB" sz="2800" dirty="0" smtClean="0">
                <a:solidFill>
                  <a:srgbClr val="353232"/>
                </a:solidFill>
                <a:latin typeface="Lato"/>
                <a:ea typeface="Times New Roman" panose="02020603050405020304" pitchFamily="18" charset="0"/>
              </a:rPr>
              <a:t>The</a:t>
            </a:r>
            <a:r>
              <a:rPr lang="en-GB" sz="2800" dirty="0">
                <a:solidFill>
                  <a:srgbClr val="353232"/>
                </a:solidFill>
                <a:latin typeface="Lato"/>
                <a:ea typeface="Times New Roman" panose="02020603050405020304" pitchFamily="18" charset="0"/>
              </a:rPr>
              <a:t> </a:t>
            </a:r>
            <a:r>
              <a:rPr lang="en-GB" sz="2800" i="1" dirty="0" err="1">
                <a:solidFill>
                  <a:srgbClr val="353232"/>
                </a:solidFill>
                <a:latin typeface="Lato"/>
                <a:ea typeface="Times New Roman" panose="02020603050405020304" pitchFamily="18" charset="0"/>
              </a:rPr>
              <a:t>useradd</a:t>
            </a:r>
            <a:r>
              <a:rPr lang="en-GB" sz="2800" dirty="0">
                <a:solidFill>
                  <a:srgbClr val="353232"/>
                </a:solidFill>
                <a:latin typeface="Lato"/>
                <a:ea typeface="Times New Roman" panose="02020603050405020304" pitchFamily="18" charset="0"/>
              </a:rPr>
              <a:t> command creates a user private group whenever a new user is added to the system and names the group after the user</a:t>
            </a:r>
            <a:r>
              <a:rPr lang="en-GB" sz="2800" dirty="0" smtClean="0">
                <a:solidFill>
                  <a:srgbClr val="353232"/>
                </a:solidFill>
                <a:latin typeface="Lato"/>
                <a:ea typeface="Times New Roman" panose="02020603050405020304" pitchFamily="18" charset="0"/>
              </a:rPr>
              <a:t>.</a:t>
            </a:r>
          </a:p>
          <a:p>
            <a:pPr>
              <a:spcAft>
                <a:spcPts val="1575"/>
              </a:spcAft>
            </a:pPr>
            <a:r>
              <a:rPr lang="en-GB" sz="2800" dirty="0">
                <a:solidFill>
                  <a:srgbClr val="353232"/>
                </a:solidFill>
                <a:latin typeface="Lato"/>
                <a:ea typeface="Times New Roman" panose="02020603050405020304" pitchFamily="18" charset="0"/>
              </a:rPr>
              <a:t/>
            </a:r>
            <a:br>
              <a:rPr lang="en-GB" sz="2800" dirty="0">
                <a:solidFill>
                  <a:srgbClr val="353232"/>
                </a:solidFill>
                <a:latin typeface="Lato"/>
                <a:ea typeface="Times New Roman" panose="02020603050405020304" pitchFamily="18" charset="0"/>
              </a:rPr>
            </a:br>
            <a:r>
              <a:rPr lang="en-GB" sz="2800" b="1" dirty="0">
                <a:solidFill>
                  <a:srgbClr val="141414"/>
                </a:solidFill>
                <a:latin typeface="Lato"/>
                <a:ea typeface="Times New Roman" panose="02020603050405020304" pitchFamily="18" charset="0"/>
              </a:rPr>
              <a:t>Specifying a user’s full name when </a:t>
            </a:r>
            <a:r>
              <a:rPr lang="en-GB" sz="2800" b="1" dirty="0" smtClean="0">
                <a:solidFill>
                  <a:srgbClr val="141414"/>
                </a:solidFill>
                <a:latin typeface="Lato"/>
                <a:ea typeface="Times New Roman" panose="02020603050405020304" pitchFamily="18" charset="0"/>
              </a:rPr>
              <a:t>creating </a:t>
            </a:r>
            <a:r>
              <a:rPr lang="en-GB" sz="2800" b="1" dirty="0">
                <a:solidFill>
                  <a:srgbClr val="141414"/>
                </a:solidFill>
                <a:latin typeface="Lato"/>
                <a:ea typeface="Times New Roman" panose="02020603050405020304" pitchFamily="18" charset="0"/>
              </a:rPr>
              <a:t>a user:</a:t>
            </a:r>
            <a:r>
              <a:rPr lang="en-GB" sz="2800" dirty="0">
                <a:solidFill>
                  <a:srgbClr val="353232"/>
                </a:solidFill>
                <a:latin typeface="Lato"/>
                <a:ea typeface="Times New Roman" panose="02020603050405020304" pitchFamily="18" charset="0"/>
              </a:rPr>
              <a:t> A systems administrator can use the –c option with </a:t>
            </a:r>
            <a:r>
              <a:rPr lang="en-GB" sz="2800" i="1" dirty="0" err="1">
                <a:solidFill>
                  <a:srgbClr val="353232"/>
                </a:solidFill>
                <a:latin typeface="Lato"/>
                <a:ea typeface="Times New Roman" panose="02020603050405020304" pitchFamily="18" charset="0"/>
              </a:rPr>
              <a:t>useradd</a:t>
            </a:r>
            <a:r>
              <a:rPr lang="en-GB" sz="2800" dirty="0">
                <a:solidFill>
                  <a:srgbClr val="353232"/>
                </a:solidFill>
                <a:latin typeface="Lato"/>
                <a:ea typeface="Times New Roman" panose="02020603050405020304" pitchFamily="18" charset="0"/>
              </a:rPr>
              <a:t> to specify the user’s full name, as shown below</a:t>
            </a:r>
            <a:r>
              <a:rPr lang="en-GB" sz="2800" dirty="0" smtClean="0">
                <a:solidFill>
                  <a:srgbClr val="353232"/>
                </a:solidFill>
                <a:latin typeface="Lato"/>
                <a:ea typeface="Times New Roman" panose="02020603050405020304" pitchFamily="18" charset="0"/>
              </a:rPr>
              <a:t>:</a:t>
            </a:r>
          </a:p>
          <a:p>
            <a:pPr>
              <a:spcAft>
                <a:spcPts val="1575"/>
              </a:spcAft>
            </a:pPr>
            <a:endParaRPr lang="en-US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76887" y="5548399"/>
            <a:ext cx="85892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[</a:t>
            </a:r>
            <a:r>
              <a:rPr kumimoji="0" lang="en-GB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root@localhost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kumimoji="0" lang="en-GB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bhargab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]# </a:t>
            </a:r>
            <a:r>
              <a:rPr kumimoji="0" lang="en-GB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useradd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 -c 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“</a:t>
            </a:r>
            <a:r>
              <a:rPr lang="en-GB" altLang="en-US" sz="2400" dirty="0" smtClean="0">
                <a:solidFill>
                  <a:schemeClr val="tx1"/>
                </a:solidFill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Usman Khan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”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 Usman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93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Creating a user with non-default home directory</a:t>
            </a:r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9216695"/>
              </p:ext>
            </p:extLst>
          </p:nvPr>
        </p:nvGraphicFramePr>
        <p:xfrm>
          <a:off x="457200" y="3235569"/>
          <a:ext cx="8081169" cy="11987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81169">
                  <a:extLst>
                    <a:ext uri="{9D8B030D-6E8A-4147-A177-3AD203B41FA5}">
                      <a16:colId xmlns:a16="http://schemas.microsoft.com/office/drawing/2014/main" val="3389687019"/>
                    </a:ext>
                  </a:extLst>
                </a:gridCol>
              </a:tblGrid>
              <a:tr h="11987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1000" dirty="0">
                          <a:effectLst/>
                        </a:rPr>
                        <a:t>[</a:t>
                      </a:r>
                      <a:r>
                        <a:rPr lang="en-GB" sz="2400" dirty="0">
                          <a:effectLst/>
                        </a:rPr>
                        <a:t>root@localhost </a:t>
                      </a:r>
                      <a:r>
                        <a:rPr lang="en-GB" sz="2400" dirty="0" err="1">
                          <a:effectLst/>
                        </a:rPr>
                        <a:t>bhargab</a:t>
                      </a:r>
                      <a:r>
                        <a:rPr lang="en-GB" sz="2400" dirty="0">
                          <a:effectLst/>
                        </a:rPr>
                        <a:t>]# </a:t>
                      </a:r>
                      <a:r>
                        <a:rPr lang="en-GB" sz="2400" dirty="0" err="1">
                          <a:effectLst/>
                        </a:rPr>
                        <a:t>useradd</a:t>
                      </a:r>
                      <a:r>
                        <a:rPr lang="en-GB" sz="2400" dirty="0">
                          <a:effectLst/>
                        </a:rPr>
                        <a:t> –d /home/test </a:t>
                      </a:r>
                      <a:r>
                        <a:rPr lang="en-GB" sz="2400" dirty="0" smtClean="0">
                          <a:effectLst/>
                        </a:rPr>
                        <a:t>Ali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73895764"/>
                  </a:ext>
                </a:extLst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05508" y="1971765"/>
            <a:ext cx="926189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8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/>
                <a:ea typeface="Times New Roman" panose="02020603050405020304" pitchFamily="18" charset="0"/>
              </a:rPr>
              <a:t>A non-default home directory can be set by executing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8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/>
                <a:ea typeface="Times New Roman" panose="02020603050405020304" pitchFamily="18" charset="0"/>
              </a:rPr>
              <a:t> following command:</a:t>
            </a:r>
            <a:endParaRPr kumimoji="0" lang="en-GB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8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Adding a user to a primary group and supplementary group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0701292"/>
              </p:ext>
            </p:extLst>
          </p:nvPr>
        </p:nvGraphicFramePr>
        <p:xfrm>
          <a:off x="890954" y="4013675"/>
          <a:ext cx="7647415" cy="17189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47415">
                  <a:extLst>
                    <a:ext uri="{9D8B030D-6E8A-4147-A177-3AD203B41FA5}">
                      <a16:colId xmlns:a16="http://schemas.microsoft.com/office/drawing/2014/main" val="1841804304"/>
                    </a:ext>
                  </a:extLst>
                </a:gridCol>
              </a:tblGrid>
              <a:tr h="171890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1000" dirty="0">
                          <a:effectLst/>
                        </a:rPr>
                        <a:t>[</a:t>
                      </a:r>
                      <a:r>
                        <a:rPr lang="en-GB" sz="2400" dirty="0">
                          <a:effectLst/>
                        </a:rPr>
                        <a:t>root@localhost </a:t>
                      </a:r>
                      <a:r>
                        <a:rPr lang="en-GB" sz="2400" dirty="0" err="1">
                          <a:effectLst/>
                        </a:rPr>
                        <a:t>bhargab</a:t>
                      </a:r>
                      <a:r>
                        <a:rPr lang="en-GB" sz="2400" dirty="0">
                          <a:effectLst/>
                        </a:rPr>
                        <a:t>]# </a:t>
                      </a:r>
                      <a:r>
                        <a:rPr lang="en-GB" sz="2400" dirty="0" err="1">
                          <a:effectLst/>
                        </a:rPr>
                        <a:t>useradd</a:t>
                      </a:r>
                      <a:r>
                        <a:rPr lang="en-GB" sz="2400" dirty="0">
                          <a:effectLst/>
                        </a:rPr>
                        <a:t> -g “head” -G “faculty” </a:t>
                      </a:r>
                      <a:r>
                        <a:rPr lang="en-GB" sz="2400" dirty="0" smtClean="0">
                          <a:effectLst/>
                        </a:rPr>
                        <a:t>Ali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9472535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90954" y="2327940"/>
            <a:ext cx="1219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A systems administrator can specify a primary group and a supplementary one by specifying the </a:t>
            </a:r>
            <a:r>
              <a:rPr kumimoji="0" lang="en-GB" altLang="en-US" sz="2400" b="0" i="1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–g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and </a:t>
            </a:r>
            <a:r>
              <a:rPr kumimoji="0" lang="en-GB" altLang="en-US" sz="2400" b="0" i="1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–G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option, respectively.</a:t>
            </a:r>
            <a:endParaRPr kumimoji="0" lang="en-GB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85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Locking and unlocking a user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116079"/>
              </p:ext>
            </p:extLst>
          </p:nvPr>
        </p:nvGraphicFramePr>
        <p:xfrm>
          <a:off x="780622" y="3335689"/>
          <a:ext cx="7124700" cy="1305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24700">
                  <a:extLst>
                    <a:ext uri="{9D8B030D-6E8A-4147-A177-3AD203B41FA5}">
                      <a16:colId xmlns:a16="http://schemas.microsoft.com/office/drawing/2014/main" val="41064951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2000" dirty="0">
                          <a:effectLst/>
                        </a:rPr>
                        <a:t>[root@localhost </a:t>
                      </a:r>
                      <a:r>
                        <a:rPr lang="en-GB" sz="2000" dirty="0" err="1">
                          <a:effectLst/>
                        </a:rPr>
                        <a:t>bhargab</a:t>
                      </a:r>
                      <a:r>
                        <a:rPr lang="en-GB" sz="2000" dirty="0">
                          <a:effectLst/>
                        </a:rPr>
                        <a:t>]# </a:t>
                      </a:r>
                      <a:r>
                        <a:rPr lang="en-GB" sz="2000" dirty="0" err="1">
                          <a:effectLst/>
                        </a:rPr>
                        <a:t>passwd</a:t>
                      </a:r>
                      <a:r>
                        <a:rPr lang="en-GB" sz="2000" dirty="0">
                          <a:effectLst/>
                        </a:rPr>
                        <a:t> -l </a:t>
                      </a:r>
                      <a:r>
                        <a:rPr lang="en-GB" sz="2000" dirty="0" err="1" smtClean="0">
                          <a:effectLst/>
                        </a:rPr>
                        <a:t>aqeel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2000" dirty="0">
                          <a:effectLst/>
                        </a:rPr>
                        <a:t>Locking password for user </a:t>
                      </a:r>
                      <a:r>
                        <a:rPr lang="en-GB" sz="2000" dirty="0" err="1" smtClean="0">
                          <a:effectLst/>
                        </a:rPr>
                        <a:t>aqeel</a:t>
                      </a:r>
                      <a:r>
                        <a:rPr lang="en-GB" sz="2000" dirty="0" smtClean="0">
                          <a:effectLst/>
                        </a:rPr>
                        <a:t>.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2000" dirty="0" err="1">
                          <a:effectLst/>
                        </a:rPr>
                        <a:t>passwd</a:t>
                      </a:r>
                      <a:r>
                        <a:rPr lang="en-GB" sz="2000" dirty="0">
                          <a:effectLst/>
                        </a:rPr>
                        <a:t>: Success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432164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848708"/>
              </p:ext>
            </p:extLst>
          </p:nvPr>
        </p:nvGraphicFramePr>
        <p:xfrm>
          <a:off x="780622" y="4936266"/>
          <a:ext cx="7124700" cy="1305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24700">
                  <a:extLst>
                    <a:ext uri="{9D8B030D-6E8A-4147-A177-3AD203B41FA5}">
                      <a16:colId xmlns:a16="http://schemas.microsoft.com/office/drawing/2014/main" val="3410372683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2000" dirty="0">
                          <a:effectLst/>
                        </a:rPr>
                        <a:t>[root@localhost </a:t>
                      </a:r>
                      <a:r>
                        <a:rPr lang="en-GB" sz="2000" dirty="0" err="1">
                          <a:effectLst/>
                        </a:rPr>
                        <a:t>bhargab</a:t>
                      </a:r>
                      <a:r>
                        <a:rPr lang="en-GB" sz="2000" dirty="0">
                          <a:effectLst/>
                        </a:rPr>
                        <a:t>]# </a:t>
                      </a:r>
                      <a:r>
                        <a:rPr lang="en-GB" sz="2000" dirty="0" err="1">
                          <a:effectLst/>
                        </a:rPr>
                        <a:t>passwd</a:t>
                      </a:r>
                      <a:r>
                        <a:rPr lang="en-GB" sz="2000" dirty="0">
                          <a:effectLst/>
                        </a:rPr>
                        <a:t> -u </a:t>
                      </a:r>
                      <a:r>
                        <a:rPr lang="en-GB" sz="2000" dirty="0" err="1" smtClean="0">
                          <a:effectLst/>
                        </a:rPr>
                        <a:t>aqeel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2000" dirty="0">
                          <a:effectLst/>
                        </a:rPr>
                        <a:t>Unlocking password for user </a:t>
                      </a:r>
                      <a:r>
                        <a:rPr lang="en-GB" sz="2000" dirty="0" err="1" smtClean="0">
                          <a:effectLst/>
                        </a:rPr>
                        <a:t>aqeel</a:t>
                      </a:r>
                      <a:r>
                        <a:rPr lang="en-GB" sz="2000" dirty="0" smtClean="0">
                          <a:effectLst/>
                        </a:rPr>
                        <a:t>.</a:t>
                      </a:r>
                      <a:endParaRPr lang="en-US" sz="20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2000" dirty="0" err="1">
                          <a:effectLst/>
                        </a:rPr>
                        <a:t>passwd</a:t>
                      </a:r>
                      <a:r>
                        <a:rPr lang="en-GB" sz="2000" dirty="0">
                          <a:effectLst/>
                        </a:rPr>
                        <a:t>: Success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53373793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36657" y="1304286"/>
            <a:ext cx="969310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A super user can lock and unlock a user account. To lock an account,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one needs to invoke </a:t>
            </a:r>
            <a:r>
              <a:rPr kumimoji="0" lang="en-GB" altLang="en-US" sz="2400" b="0" i="1" u="none" strike="noStrike" cap="none" normalizeH="0" baseline="0" dirty="0" err="1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passwd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with the </a:t>
            </a:r>
            <a:r>
              <a:rPr kumimoji="0" lang="en-GB" altLang="en-US" sz="2400" b="0" i="1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-l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option.</a:t>
            </a:r>
            <a:endParaRPr kumimoji="0" lang="en-GB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The </a:t>
            </a:r>
            <a:r>
              <a:rPr kumimoji="0" lang="en-GB" altLang="en-US" sz="2400" b="0" i="1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–u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option with </a:t>
            </a:r>
            <a:r>
              <a:rPr kumimoji="0" lang="en-GB" altLang="en-US" sz="2400" b="0" i="1" u="none" strike="noStrike" cap="none" normalizeH="0" baseline="0" dirty="0" err="1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passwd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unlock an account, as</a:t>
            </a:r>
            <a:b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</a:b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shown below:</a:t>
            </a:r>
            <a:endParaRPr kumimoji="0" lang="en-GB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93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Changing a user name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4028018"/>
              </p:ext>
            </p:extLst>
          </p:nvPr>
        </p:nvGraphicFramePr>
        <p:xfrm>
          <a:off x="241362" y="2607102"/>
          <a:ext cx="7124700" cy="15634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24700">
                  <a:extLst>
                    <a:ext uri="{9D8B030D-6E8A-4147-A177-3AD203B41FA5}">
                      <a16:colId xmlns:a16="http://schemas.microsoft.com/office/drawing/2014/main" val="3612081532"/>
                    </a:ext>
                  </a:extLst>
                </a:gridCol>
              </a:tblGrid>
              <a:tr h="156345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1000" dirty="0">
                          <a:effectLst/>
                        </a:rPr>
                        <a:t>[</a:t>
                      </a:r>
                      <a:r>
                        <a:rPr lang="en-GB" sz="2400" dirty="0" err="1">
                          <a:effectLst/>
                        </a:rPr>
                        <a:t>root@localhost</a:t>
                      </a:r>
                      <a:r>
                        <a:rPr lang="en-GB" sz="2400" dirty="0">
                          <a:effectLst/>
                        </a:rPr>
                        <a:t> </a:t>
                      </a:r>
                      <a:r>
                        <a:rPr lang="en-GB" sz="2400" dirty="0" smtClean="0">
                          <a:effectLst/>
                        </a:rPr>
                        <a:t>]# </a:t>
                      </a:r>
                      <a:r>
                        <a:rPr lang="en-GB" sz="2400" dirty="0" err="1">
                          <a:effectLst/>
                        </a:rPr>
                        <a:t>usermod</a:t>
                      </a:r>
                      <a:r>
                        <a:rPr lang="en-GB" sz="2400" dirty="0">
                          <a:effectLst/>
                        </a:rPr>
                        <a:t> -l </a:t>
                      </a:r>
                      <a:r>
                        <a:rPr lang="en-GB" sz="2400" dirty="0" smtClean="0">
                          <a:effectLst/>
                        </a:rPr>
                        <a:t>“</a:t>
                      </a:r>
                      <a:r>
                        <a:rPr lang="en-GB" sz="2400" dirty="0" err="1" smtClean="0">
                          <a:effectLst/>
                        </a:rPr>
                        <a:t>shan</a:t>
                      </a:r>
                      <a:r>
                        <a:rPr lang="en-GB" sz="2400" dirty="0" smtClean="0">
                          <a:effectLst/>
                        </a:rPr>
                        <a:t>” </a:t>
                      </a:r>
                      <a:r>
                        <a:rPr lang="en-GB" sz="2400" dirty="0" err="1">
                          <a:effectLst/>
                        </a:rPr>
                        <a:t>anirban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0150833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3785" y="1286302"/>
            <a:ext cx="10203434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1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The </a:t>
            </a:r>
            <a:r>
              <a:rPr kumimoji="0" lang="en-GB" altLang="en-US" sz="2400" b="0" i="1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–l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option with the </a:t>
            </a:r>
            <a:r>
              <a:rPr kumimoji="0" lang="en-GB" altLang="en-US" sz="2400" b="0" i="1" u="none" strike="noStrike" cap="none" normalizeH="0" baseline="0" dirty="0" err="1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usermod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command changes the login (user) name,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 as shown below</a:t>
            </a:r>
            <a:r>
              <a:rPr kumimoji="0" lang="en-GB" altLang="en-US" sz="11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:</a:t>
            </a:r>
            <a:endParaRPr kumimoji="0" lang="en-GB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4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Removing a user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7578896"/>
              </p:ext>
            </p:extLst>
          </p:nvPr>
        </p:nvGraphicFramePr>
        <p:xfrm>
          <a:off x="499270" y="2602524"/>
          <a:ext cx="7124700" cy="20866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24700">
                  <a:extLst>
                    <a:ext uri="{9D8B030D-6E8A-4147-A177-3AD203B41FA5}">
                      <a16:colId xmlns:a16="http://schemas.microsoft.com/office/drawing/2014/main" val="8036265"/>
                    </a:ext>
                  </a:extLst>
                </a:gridCol>
              </a:tblGrid>
              <a:tr h="20866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1000" dirty="0">
                          <a:effectLst/>
                        </a:rPr>
                        <a:t>[</a:t>
                      </a:r>
                      <a:r>
                        <a:rPr lang="en-GB" sz="2400" dirty="0">
                          <a:effectLst/>
                        </a:rPr>
                        <a:t>root@localhost </a:t>
                      </a:r>
                      <a:r>
                        <a:rPr lang="en-GB" sz="2400" dirty="0" err="1">
                          <a:effectLst/>
                        </a:rPr>
                        <a:t>bhargab</a:t>
                      </a:r>
                      <a:r>
                        <a:rPr lang="en-GB" sz="2400" dirty="0">
                          <a:effectLst/>
                        </a:rPr>
                        <a:t>]# </a:t>
                      </a:r>
                      <a:r>
                        <a:rPr lang="en-GB" sz="2400" dirty="0" err="1">
                          <a:effectLst/>
                        </a:rPr>
                        <a:t>userdel</a:t>
                      </a:r>
                      <a:r>
                        <a:rPr lang="en-GB" sz="2400" dirty="0">
                          <a:effectLst/>
                        </a:rPr>
                        <a:t> -r </a:t>
                      </a:r>
                      <a:r>
                        <a:rPr lang="en-GB" sz="2400" dirty="0" err="1" smtClean="0">
                          <a:effectLst/>
                        </a:rPr>
                        <a:t>shan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68442832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8585" y="1514902"/>
            <a:ext cx="812658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Combining </a:t>
            </a:r>
            <a:r>
              <a:rPr kumimoji="0" lang="en-GB" altLang="en-US" sz="2400" b="0" i="1" u="none" strike="noStrike" cap="none" normalizeH="0" baseline="0" dirty="0" err="1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userdel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with the </a:t>
            </a:r>
            <a:r>
              <a:rPr kumimoji="0" lang="en-GB" altLang="en-US" sz="2400" b="0" i="1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–r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option drop a user and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home directory associated with that user, as shown below:</a:t>
            </a:r>
            <a:endParaRPr kumimoji="0" lang="en-GB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20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Linux group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59877"/>
            <a:ext cx="8596668" cy="4681485"/>
          </a:xfrm>
        </p:spPr>
        <p:txBody>
          <a:bodyPr>
            <a:noAutofit/>
          </a:bodyPr>
          <a:lstStyle/>
          <a:p>
            <a:r>
              <a:rPr lang="en-GB" sz="2400" dirty="0"/>
              <a:t>Linux group is a mechanism to organise a collection of users. Like the user ID, each group is also associated with a unique ID called the GID (group ID). </a:t>
            </a:r>
            <a:endParaRPr lang="en-GB" sz="2400" dirty="0" smtClean="0"/>
          </a:p>
          <a:p>
            <a:r>
              <a:rPr lang="en-GB" sz="2400" dirty="0" smtClean="0"/>
              <a:t>There </a:t>
            </a:r>
            <a:r>
              <a:rPr lang="en-GB" sz="2400" dirty="0"/>
              <a:t>are two types of groups – a primary group and a supplementary group. Each user is a member of a primary group and of zero or ‘more than zero’ supplementary groups. </a:t>
            </a:r>
            <a:endParaRPr lang="en-GB" sz="2400" dirty="0" smtClean="0"/>
          </a:p>
          <a:p>
            <a:r>
              <a:rPr lang="en-GB" sz="2400" dirty="0" smtClean="0"/>
              <a:t>The </a:t>
            </a:r>
            <a:r>
              <a:rPr lang="en-GB" sz="2400" dirty="0"/>
              <a:t>group information is stored in </a:t>
            </a:r>
            <a:r>
              <a:rPr lang="en-GB" sz="2400" i="1" dirty="0"/>
              <a:t>/</a:t>
            </a:r>
            <a:r>
              <a:rPr lang="en-GB" sz="2400" i="1" dirty="0" err="1"/>
              <a:t>etc</a:t>
            </a:r>
            <a:r>
              <a:rPr lang="en-GB" sz="2400" i="1" dirty="0"/>
              <a:t>/group</a:t>
            </a:r>
            <a:r>
              <a:rPr lang="en-GB" sz="2400" dirty="0"/>
              <a:t> and the respective passwords are stored in the </a:t>
            </a:r>
            <a:r>
              <a:rPr lang="en-GB" sz="2400" i="1" dirty="0"/>
              <a:t>/</a:t>
            </a:r>
            <a:r>
              <a:rPr lang="en-GB" sz="2400" i="1" dirty="0" err="1"/>
              <a:t>etc</a:t>
            </a:r>
            <a:r>
              <a:rPr lang="en-GB" sz="2400" i="1" dirty="0"/>
              <a:t>/</a:t>
            </a:r>
            <a:r>
              <a:rPr lang="en-GB" sz="2400" i="1" dirty="0" err="1"/>
              <a:t>gshadow</a:t>
            </a:r>
            <a:r>
              <a:rPr lang="en-GB" sz="2400" dirty="0"/>
              <a:t> file. </a:t>
            </a:r>
            <a:endParaRPr lang="en-GB" sz="2400" dirty="0" smtClean="0"/>
          </a:p>
          <a:p>
            <a:r>
              <a:rPr lang="en-GB" sz="2400" dirty="0" smtClean="0"/>
              <a:t>Some </a:t>
            </a:r>
            <a:r>
              <a:rPr lang="en-GB" sz="2400" dirty="0"/>
              <a:t>operations such as creating, deleting and modifying on a group are discussed below.</a:t>
            </a:r>
            <a:br>
              <a:rPr lang="en-GB" sz="2400" dirty="0"/>
            </a:b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61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Creating a group with default settings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0480717"/>
              </p:ext>
            </p:extLst>
          </p:nvPr>
        </p:nvGraphicFramePr>
        <p:xfrm>
          <a:off x="410308" y="2907323"/>
          <a:ext cx="7682584" cy="8009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82584">
                  <a:extLst>
                    <a:ext uri="{9D8B030D-6E8A-4147-A177-3AD203B41FA5}">
                      <a16:colId xmlns:a16="http://schemas.microsoft.com/office/drawing/2014/main" val="4226482971"/>
                    </a:ext>
                  </a:extLst>
                </a:gridCol>
              </a:tblGrid>
              <a:tr h="8009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1000" dirty="0">
                          <a:effectLst/>
                        </a:rPr>
                        <a:t>[</a:t>
                      </a:r>
                      <a:r>
                        <a:rPr lang="en-GB" sz="2000" dirty="0">
                          <a:effectLst/>
                        </a:rPr>
                        <a:t>root@localhost </a:t>
                      </a:r>
                      <a:r>
                        <a:rPr lang="en-GB" sz="2000" dirty="0" err="1">
                          <a:effectLst/>
                        </a:rPr>
                        <a:t>bhargab</a:t>
                      </a:r>
                      <a:r>
                        <a:rPr lang="en-GB" sz="2000" dirty="0">
                          <a:effectLst/>
                        </a:rPr>
                        <a:t>]# groupadd employee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22600195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618853"/>
              </p:ext>
            </p:extLst>
          </p:nvPr>
        </p:nvGraphicFramePr>
        <p:xfrm>
          <a:off x="410308" y="3923404"/>
          <a:ext cx="7124700" cy="16428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24700">
                  <a:extLst>
                    <a:ext uri="{9D8B030D-6E8A-4147-A177-3AD203B41FA5}">
                      <a16:colId xmlns:a16="http://schemas.microsoft.com/office/drawing/2014/main" val="23559243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1000" dirty="0">
                          <a:effectLst/>
                        </a:rPr>
                        <a:t>[</a:t>
                      </a:r>
                      <a:r>
                        <a:rPr lang="en-GB" sz="1800" dirty="0">
                          <a:effectLst/>
                        </a:rPr>
                        <a:t>root@localhost </a:t>
                      </a:r>
                      <a:r>
                        <a:rPr lang="en-GB" sz="1800" dirty="0" err="1">
                          <a:effectLst/>
                        </a:rPr>
                        <a:t>bhargab</a:t>
                      </a:r>
                      <a:r>
                        <a:rPr lang="en-GB" sz="1800" dirty="0">
                          <a:effectLst/>
                        </a:rPr>
                        <a:t>]# gpasswd employee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1800" dirty="0">
                          <a:effectLst/>
                        </a:rPr>
                        <a:t>Changing the password for group employee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1800" dirty="0">
                          <a:effectLst/>
                        </a:rPr>
                        <a:t>New Password: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1800" dirty="0">
                          <a:effectLst/>
                        </a:rPr>
                        <a:t>Re-enter new password: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19807924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81354" y="1491880"/>
            <a:ext cx="1166877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To add a new group with default settings, run the </a:t>
            </a:r>
            <a:r>
              <a:rPr kumimoji="0" lang="en-GB" altLang="en-US" sz="2400" b="0" i="1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groupadd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command as a root user,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 as shown below:</a:t>
            </a:r>
            <a:endParaRPr kumimoji="0" lang="en-GB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If you wish to add a password, then type </a:t>
            </a:r>
            <a:r>
              <a:rPr kumimoji="0" lang="en-GB" altLang="en-US" sz="2400" b="0" i="1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gpasswd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with the group name, as follow:</a:t>
            </a:r>
            <a:endParaRPr kumimoji="0" lang="en-GB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181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Creating a group with a specified GID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9788526"/>
              </p:ext>
            </p:extLst>
          </p:nvPr>
        </p:nvGraphicFramePr>
        <p:xfrm>
          <a:off x="961293" y="2895601"/>
          <a:ext cx="7124700" cy="5904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24700">
                  <a:extLst>
                    <a:ext uri="{9D8B030D-6E8A-4147-A177-3AD203B41FA5}">
                      <a16:colId xmlns:a16="http://schemas.microsoft.com/office/drawing/2014/main" val="4286989715"/>
                    </a:ext>
                  </a:extLst>
                </a:gridCol>
              </a:tblGrid>
              <a:tr h="59043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1000" dirty="0">
                          <a:effectLst/>
                        </a:rPr>
                        <a:t>[</a:t>
                      </a:r>
                      <a:r>
                        <a:rPr lang="en-GB" sz="2000" dirty="0">
                          <a:effectLst/>
                        </a:rPr>
                        <a:t>root@localhost </a:t>
                      </a:r>
                      <a:r>
                        <a:rPr lang="en-GB" sz="2000" dirty="0" err="1">
                          <a:effectLst/>
                        </a:rPr>
                        <a:t>bhargab</a:t>
                      </a:r>
                      <a:r>
                        <a:rPr lang="en-GB" sz="2000" dirty="0">
                          <a:effectLst/>
                        </a:rPr>
                        <a:t>]# groupadd -g 1200 manager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48238302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61293" y="1743502"/>
            <a:ext cx="1009237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To explicitly specify the GID of a group, execute the </a:t>
            </a:r>
            <a:r>
              <a:rPr kumimoji="0" lang="en-GB" altLang="en-US" sz="2400" b="0" i="1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groupadd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command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with the </a:t>
            </a:r>
            <a:r>
              <a:rPr kumimoji="0" lang="en-GB" altLang="en-US" sz="2400" b="0" i="1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–g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option, as follow</a:t>
            </a:r>
            <a:r>
              <a:rPr kumimoji="0" lang="en-GB" altLang="en-US" sz="11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:</a:t>
            </a:r>
            <a:endParaRPr kumimoji="0" lang="en-GB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7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Removing group password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8398949"/>
              </p:ext>
            </p:extLst>
          </p:nvPr>
        </p:nvGraphicFramePr>
        <p:xfrm>
          <a:off x="914400" y="2743200"/>
          <a:ext cx="7124700" cy="15947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24700">
                  <a:extLst>
                    <a:ext uri="{9D8B030D-6E8A-4147-A177-3AD203B41FA5}">
                      <a16:colId xmlns:a16="http://schemas.microsoft.com/office/drawing/2014/main" val="3775003016"/>
                    </a:ext>
                  </a:extLst>
                </a:gridCol>
              </a:tblGrid>
              <a:tr h="15947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2000" dirty="0">
                          <a:effectLst/>
                        </a:rPr>
                        <a:t>[root@localhost </a:t>
                      </a:r>
                      <a:r>
                        <a:rPr lang="en-GB" sz="2000" dirty="0" err="1">
                          <a:effectLst/>
                        </a:rPr>
                        <a:t>bhargab</a:t>
                      </a:r>
                      <a:r>
                        <a:rPr lang="en-GB" sz="2000" dirty="0">
                          <a:effectLst/>
                        </a:rPr>
                        <a:t>]# gpasswd -r employee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52622094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14400" y="1708333"/>
            <a:ext cx="1065984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To remove a group password, run </a:t>
            </a:r>
            <a:r>
              <a:rPr kumimoji="0" lang="en-GB" altLang="en-US" sz="2400" b="0" i="1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gpasswd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</a:t>
            </a:r>
            <a:r>
              <a:rPr kumimoji="0" lang="en-GB" altLang="en-US" sz="2400" b="0" i="1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–r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with the relevant group name,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as follow</a:t>
            </a:r>
            <a:r>
              <a:rPr kumimoji="0" lang="en-GB" altLang="en-US" sz="11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:</a:t>
            </a:r>
            <a:endParaRPr kumimoji="0" lang="en-GB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07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Changing the group’s name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7985908"/>
              </p:ext>
            </p:extLst>
          </p:nvPr>
        </p:nvGraphicFramePr>
        <p:xfrm>
          <a:off x="422031" y="2684584"/>
          <a:ext cx="7124700" cy="19991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24700">
                  <a:extLst>
                    <a:ext uri="{9D8B030D-6E8A-4147-A177-3AD203B41FA5}">
                      <a16:colId xmlns:a16="http://schemas.microsoft.com/office/drawing/2014/main" val="3227624307"/>
                    </a:ext>
                  </a:extLst>
                </a:gridCol>
              </a:tblGrid>
              <a:tr h="199915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2000" dirty="0">
                          <a:effectLst/>
                        </a:rPr>
                        <a:t>[root@localhost </a:t>
                      </a:r>
                      <a:r>
                        <a:rPr lang="en-GB" sz="2000" dirty="0" err="1">
                          <a:effectLst/>
                        </a:rPr>
                        <a:t>bhargab</a:t>
                      </a:r>
                      <a:r>
                        <a:rPr lang="en-GB" sz="2000" dirty="0">
                          <a:effectLst/>
                        </a:rPr>
                        <a:t>]# </a:t>
                      </a:r>
                      <a:r>
                        <a:rPr lang="en-GB" sz="2000" dirty="0" err="1">
                          <a:effectLst/>
                        </a:rPr>
                        <a:t>groupmod</a:t>
                      </a:r>
                      <a:r>
                        <a:rPr lang="en-GB" sz="2000" dirty="0">
                          <a:effectLst/>
                        </a:rPr>
                        <a:t> -n </a:t>
                      </a:r>
                      <a:r>
                        <a:rPr lang="en-GB" sz="2000" dirty="0" err="1">
                          <a:effectLst/>
                        </a:rPr>
                        <a:t>hrmanager</a:t>
                      </a:r>
                      <a:r>
                        <a:rPr lang="en-GB" sz="2000" dirty="0">
                          <a:effectLst/>
                        </a:rPr>
                        <a:t> employee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80332331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22031" y="1453347"/>
            <a:ext cx="1027896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8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To change the group’s name, run the </a:t>
            </a:r>
            <a:r>
              <a:rPr kumimoji="0" lang="en-GB" altLang="en-US" sz="2800" b="0" i="1" u="none" strike="noStrike" cap="none" normalizeH="0" baseline="0" dirty="0" err="1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groupmod</a:t>
            </a:r>
            <a:r>
              <a:rPr kumimoji="0" lang="en-GB" altLang="en-US" sz="28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command with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8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the</a:t>
            </a:r>
            <a:r>
              <a:rPr kumimoji="0" lang="en-GB" altLang="en-US" sz="2800" b="0" i="1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-n</a:t>
            </a:r>
            <a:r>
              <a:rPr kumimoji="0" lang="en-GB" altLang="en-US" sz="28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option as a super user, as shown below:</a:t>
            </a:r>
            <a:endParaRPr kumimoji="0" lang="en-GB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4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Changing the group’s GID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5448101"/>
              </p:ext>
            </p:extLst>
          </p:nvPr>
        </p:nvGraphicFramePr>
        <p:xfrm>
          <a:off x="677334" y="2590801"/>
          <a:ext cx="7124700" cy="18819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24700">
                  <a:extLst>
                    <a:ext uri="{9D8B030D-6E8A-4147-A177-3AD203B41FA5}">
                      <a16:colId xmlns:a16="http://schemas.microsoft.com/office/drawing/2014/main" val="382069463"/>
                    </a:ext>
                  </a:extLst>
                </a:gridCol>
              </a:tblGrid>
              <a:tr h="188192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2000" dirty="0">
                          <a:effectLst/>
                        </a:rPr>
                        <a:t>[root@localhost </a:t>
                      </a:r>
                      <a:r>
                        <a:rPr lang="en-GB" sz="2000" dirty="0" err="1">
                          <a:effectLst/>
                        </a:rPr>
                        <a:t>bhargab</a:t>
                      </a:r>
                      <a:r>
                        <a:rPr lang="en-GB" sz="2000" dirty="0">
                          <a:effectLst/>
                        </a:rPr>
                        <a:t>]# </a:t>
                      </a:r>
                      <a:r>
                        <a:rPr lang="en-GB" sz="2000" dirty="0" err="1">
                          <a:effectLst/>
                        </a:rPr>
                        <a:t>groupmod</a:t>
                      </a:r>
                      <a:r>
                        <a:rPr lang="en-GB" sz="2000" dirty="0">
                          <a:effectLst/>
                        </a:rPr>
                        <a:t> -g 1050 manager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42519854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77334" y="1453347"/>
            <a:ext cx="972279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8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To change the GID of a group, run the </a:t>
            </a:r>
            <a:r>
              <a:rPr kumimoji="0" lang="en-GB" altLang="en-US" sz="2800" b="0" i="1" u="none" strike="noStrike" cap="none" normalizeH="0" baseline="0" dirty="0" err="1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groupmod</a:t>
            </a:r>
            <a:r>
              <a:rPr kumimoji="0" lang="en-GB" altLang="en-US" sz="28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command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8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with </a:t>
            </a:r>
            <a:r>
              <a:rPr kumimoji="0" lang="en-GB" altLang="en-US" sz="2800" b="0" i="1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–g</a:t>
            </a:r>
            <a:r>
              <a:rPr kumimoji="0" lang="en-GB" altLang="en-US" sz="28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, as follow:</a:t>
            </a:r>
            <a:endParaRPr kumimoji="0" lang="en-GB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283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Deleting a group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6148744"/>
              </p:ext>
            </p:extLst>
          </p:nvPr>
        </p:nvGraphicFramePr>
        <p:xfrm>
          <a:off x="850611" y="3516924"/>
          <a:ext cx="7124700" cy="9989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24700">
                  <a:extLst>
                    <a:ext uri="{9D8B030D-6E8A-4147-A177-3AD203B41FA5}">
                      <a16:colId xmlns:a16="http://schemas.microsoft.com/office/drawing/2014/main" val="3450029722"/>
                    </a:ext>
                  </a:extLst>
                </a:gridCol>
              </a:tblGrid>
              <a:tr h="9989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GB" sz="1000" dirty="0">
                          <a:effectLst/>
                        </a:rPr>
                        <a:t>[</a:t>
                      </a:r>
                      <a:r>
                        <a:rPr lang="en-GB" sz="2000" dirty="0">
                          <a:effectLst/>
                        </a:rPr>
                        <a:t>root@localhost </a:t>
                      </a:r>
                      <a:r>
                        <a:rPr lang="en-GB" sz="2000" dirty="0" err="1">
                          <a:effectLst/>
                        </a:rPr>
                        <a:t>bhargab</a:t>
                      </a:r>
                      <a:r>
                        <a:rPr lang="en-GB" sz="2000" dirty="0">
                          <a:effectLst/>
                        </a:rPr>
                        <a:t>]# </a:t>
                      </a:r>
                      <a:r>
                        <a:rPr lang="en-GB" sz="2000" dirty="0" err="1">
                          <a:effectLst/>
                        </a:rPr>
                        <a:t>groupdel</a:t>
                      </a:r>
                      <a:r>
                        <a:rPr lang="en-GB" sz="2000" dirty="0">
                          <a:effectLst/>
                        </a:rPr>
                        <a:t> employee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65594264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53349" y="1836697"/>
            <a:ext cx="1160285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Before deleting a primary group, delete the users of that primary group.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To delete a group, run the </a:t>
            </a:r>
            <a:r>
              <a:rPr kumimoji="0" lang="en-GB" altLang="en-US" sz="2400" b="0" i="1" u="none" strike="noStrike" cap="none" normalizeH="0" baseline="0" dirty="0" err="1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groupdel</a:t>
            </a: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 command with the group name,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2400" b="0" i="0" u="none" strike="noStrike" cap="none" normalizeH="0" baseline="0" dirty="0" smtClean="0">
                <a:ln>
                  <a:noFill/>
                </a:ln>
                <a:solidFill>
                  <a:srgbClr val="353232"/>
                </a:solidFill>
                <a:effectLst/>
                <a:latin typeface="Lato" charset="0"/>
                <a:ea typeface="Times New Roman" panose="02020603050405020304" pitchFamily="18" charset="0"/>
              </a:rPr>
              <a:t> as shown below: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US" sz="2400" dirty="0">
              <a:solidFill>
                <a:srgbClr val="353232"/>
              </a:solidFill>
              <a:latin typeface="Lato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2400" b="0" i="0" u="none" strike="noStrike" cap="none" normalizeH="0" baseline="0" dirty="0" smtClean="0">
              <a:ln>
                <a:noFill/>
              </a:ln>
              <a:solidFill>
                <a:srgbClr val="353232"/>
              </a:solidFill>
              <a:effectLst/>
              <a:latin typeface="Lato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US" sz="2400" dirty="0">
              <a:solidFill>
                <a:srgbClr val="353232"/>
              </a:solidFill>
              <a:latin typeface="Lato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2400" b="0" i="0" u="none" strike="noStrike" cap="none" normalizeH="0" baseline="0" dirty="0" smtClean="0">
              <a:ln>
                <a:noFill/>
              </a:ln>
              <a:solidFill>
                <a:srgbClr val="353232"/>
              </a:solidFill>
              <a:effectLst/>
              <a:latin typeface="Lato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US" sz="2400" dirty="0">
              <a:solidFill>
                <a:srgbClr val="353232"/>
              </a:solidFill>
              <a:latin typeface="Lato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2400" b="0" i="0" u="none" strike="noStrike" cap="none" normalizeH="0" baseline="0" dirty="0" smtClean="0">
              <a:ln>
                <a:noFill/>
              </a:ln>
              <a:solidFill>
                <a:srgbClr val="353232"/>
              </a:solidFill>
              <a:effectLst/>
              <a:latin typeface="Lato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52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Control List(ACLs)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Red Hat Enterprise Linux supports 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access control lists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 (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ACLs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) for files and directories which allow permissions for specific users outside of the owner to be 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set.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6948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management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85763" y="2130831"/>
            <a:ext cx="3459223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 list users currently logged on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system, the </a:t>
            </a:r>
            <a:r>
              <a:rPr kumimoji="0" lang="en-GB" altLang="en-US" sz="3200" b="0" i="1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who</a:t>
            </a:r>
            <a:r>
              <a:rPr kumimoji="0" lang="en-GB" altLang="en-US" sz="32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command can be 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To list all existing user accounts including their properties stored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3200" b="0" i="0" u="none" strike="noStrike" cap="none" normalizeH="0" baseline="0" dirty="0" smtClean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in the </a:t>
            </a:r>
            <a:r>
              <a:rPr kumimoji="0" lang="en-GB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user database.</a:t>
            </a:r>
            <a:endParaRPr kumimoji="0" lang="en-GB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371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and Group management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Managing users and groups can be a tedious task, but Red Hat Enterprise Linux provides tools and conventions to make their management easier.</a:t>
            </a:r>
          </a:p>
          <a:p>
            <a:r>
              <a:rPr lang="en-US" sz="3200" dirty="0"/>
              <a:t>The easiest way to manage users and groups is through the graphical application, </a:t>
            </a:r>
            <a:r>
              <a:rPr lang="en-US" sz="3200" b="1" dirty="0"/>
              <a:t>User Manager</a:t>
            </a:r>
            <a:endParaRPr lang="en-US" sz="3200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User and Group Permissions?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01263"/>
            <a:ext cx="8596668" cy="5105224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Linux/Unix operating systems have the ability to multitask in a manner similar to other operating systems. </a:t>
            </a:r>
            <a:endParaRPr lang="en-US" sz="2800" dirty="0" smtClean="0"/>
          </a:p>
          <a:p>
            <a:r>
              <a:rPr lang="en-US" sz="2800" dirty="0" smtClean="0"/>
              <a:t>However</a:t>
            </a:r>
            <a:r>
              <a:rPr lang="en-US" sz="2800" dirty="0"/>
              <a:t>, Linux’s major difference from other operating systems is its ability to have multiple users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 </a:t>
            </a:r>
            <a:r>
              <a:rPr lang="en-US" sz="2800" dirty="0"/>
              <a:t>Linux was designed to allow more than one user to have access to the system at the same time. </a:t>
            </a:r>
            <a:endParaRPr lang="en-US" sz="2800" dirty="0" smtClean="0"/>
          </a:p>
          <a:p>
            <a:r>
              <a:rPr lang="en-US" sz="2800" dirty="0" smtClean="0"/>
              <a:t>In </a:t>
            </a:r>
            <a:r>
              <a:rPr lang="en-US" sz="2800" dirty="0"/>
              <a:t>order for this multiuser design to work properly, there needs to be a method to protect users from each other. This is where permissions come in to play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77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with Users, Groups, and Directories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83323"/>
            <a:ext cx="8596668" cy="4658039"/>
          </a:xfrm>
        </p:spPr>
        <p:txBody>
          <a:bodyPr>
            <a:normAutofit/>
          </a:bodyPr>
          <a:lstStyle/>
          <a:p>
            <a:r>
              <a:rPr lang="en-US" sz="2800" dirty="0"/>
              <a:t>The following sections will go over the commands needed to create, delete, and modify user accounts. </a:t>
            </a:r>
            <a:endParaRPr lang="en-US" sz="2800" dirty="0" smtClean="0"/>
          </a:p>
          <a:p>
            <a:r>
              <a:rPr lang="en-US" sz="2800" dirty="0" smtClean="0"/>
              <a:t>Groups </a:t>
            </a:r>
            <a:r>
              <a:rPr lang="en-US" sz="2800" dirty="0"/>
              <a:t>will be covered, as well as commands for creating and deleting directories. </a:t>
            </a:r>
            <a:endParaRPr lang="en-US" sz="2800" dirty="0" smtClean="0"/>
          </a:p>
          <a:p>
            <a:r>
              <a:rPr lang="en-US" sz="2800" dirty="0" smtClean="0"/>
              <a:t>You </a:t>
            </a:r>
            <a:r>
              <a:rPr lang="en-US" sz="2800" dirty="0"/>
              <a:t>will be provided with the commands and descriptions needed for working with users, groups, and </a:t>
            </a:r>
            <a:r>
              <a:rPr lang="en-US" sz="2800" dirty="0" smtClean="0"/>
              <a:t>directories.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C6E8E-AA1D-44A2-BA04-72992BF5C8D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4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364</TotalTime>
  <Words>816</Words>
  <Application>Microsoft Office PowerPoint</Application>
  <PresentationFormat>Widescreen</PresentationFormat>
  <Paragraphs>132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Arial Unicode MS</vt:lpstr>
      <vt:lpstr>Calibri</vt:lpstr>
      <vt:lpstr>Courier New</vt:lpstr>
      <vt:lpstr>Lato</vt:lpstr>
      <vt:lpstr>Times New Roman</vt:lpstr>
      <vt:lpstr>Trebuchet MS</vt:lpstr>
      <vt:lpstr>Wingdings 3</vt:lpstr>
      <vt:lpstr>Facet</vt:lpstr>
      <vt:lpstr>User  and  Groups Administrator</vt:lpstr>
      <vt:lpstr>Linux</vt:lpstr>
      <vt:lpstr>Linux user</vt:lpstr>
      <vt:lpstr>Creating a user with a default setting:</vt:lpstr>
      <vt:lpstr>PowerPoint Presentation</vt:lpstr>
      <vt:lpstr>PowerPoint Presentation</vt:lpstr>
      <vt:lpstr>Creating a user with non-default home directory</vt:lpstr>
      <vt:lpstr>Adding a user to a primary group and supplementary group</vt:lpstr>
      <vt:lpstr>Locking and unlocking a user</vt:lpstr>
      <vt:lpstr>Changing a user name</vt:lpstr>
      <vt:lpstr>Removing a user</vt:lpstr>
      <vt:lpstr>Linux group</vt:lpstr>
      <vt:lpstr>Creating a group with default settings</vt:lpstr>
      <vt:lpstr>Creating a group with a specified GID</vt:lpstr>
      <vt:lpstr>Removing group password</vt:lpstr>
      <vt:lpstr>Changing the group’s name</vt:lpstr>
      <vt:lpstr>Changing the group’s GID</vt:lpstr>
      <vt:lpstr>Deleting a group</vt:lpstr>
      <vt:lpstr>Access Control List(ACLs)</vt:lpstr>
      <vt:lpstr>User management </vt:lpstr>
      <vt:lpstr>User and Group management tools</vt:lpstr>
      <vt:lpstr>What are User and Group Permissions? </vt:lpstr>
      <vt:lpstr>Working with Users, Groups, and Directories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 and GroupAdministrator</dc:title>
  <dc:creator>Merry Nisar</dc:creator>
  <cp:lastModifiedBy>CGS COMPUTERS</cp:lastModifiedBy>
  <cp:revision>40</cp:revision>
  <dcterms:created xsi:type="dcterms:W3CDTF">2017-09-21T04:00:52Z</dcterms:created>
  <dcterms:modified xsi:type="dcterms:W3CDTF">2026-04-16T08:37:25Z</dcterms:modified>
</cp:coreProperties>
</file>