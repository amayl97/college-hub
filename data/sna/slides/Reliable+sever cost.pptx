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29" autoAdjust="0"/>
    <p:restoredTop sz="94660"/>
  </p:normalViewPr>
  <p:slideViewPr>
    <p:cSldViewPr snapToGrid="0">
      <p:cViewPr varScale="1">
        <p:scale>
          <a:sx n="85" d="100"/>
          <a:sy n="85" d="100"/>
        </p:scale>
        <p:origin x="138" y="78"/>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F7C58661-18A8-4183-A06B-95336CD2DD71}"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350443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spTree>
    <p:extLst>
      <p:ext uri="{BB962C8B-B14F-4D97-AF65-F5344CB8AC3E}">
        <p14:creationId xmlns:p14="http://schemas.microsoft.com/office/powerpoint/2010/main" val="336369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6391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A93F1E1-BA79-4F8B-BE44-8D4E4BA2FAA9}"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58661-18A8-4183-A06B-95336CD2DD71}" type="slidenum">
              <a:rPr lang="en-US" smtClean="0"/>
              <a:t>‹#›</a:t>
            </a:fld>
            <a:endParaRPr lang="en-US"/>
          </a:p>
        </p:txBody>
      </p:sp>
    </p:spTree>
    <p:extLst>
      <p:ext uri="{BB962C8B-B14F-4D97-AF65-F5344CB8AC3E}">
        <p14:creationId xmlns:p14="http://schemas.microsoft.com/office/powerpoint/2010/main" val="4010349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A93F1E1-BA79-4F8B-BE44-8D4E4BA2FAA9}" type="datetimeFigureOut">
              <a:rPr lang="en-US" smtClean="0"/>
              <a:t>3/25/2026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7C58661-18A8-4183-A06B-95336CD2DD71}"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84298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A93F1E1-BA79-4F8B-BE44-8D4E4BA2FAA9}" type="datetimeFigureOut">
              <a:rPr lang="en-US" smtClean="0"/>
              <a:t>3/25/2026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7C58661-18A8-4183-A06B-95336CD2DD7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871965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A93F1E1-BA79-4F8B-BE44-8D4E4BA2FAA9}" type="datetimeFigureOut">
              <a:rPr lang="en-US" smtClean="0"/>
              <a:t>3/25/2026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7C58661-18A8-4183-A06B-95336CD2DD71}" type="slidenum">
              <a:rPr lang="en-US" smtClean="0"/>
              <a:t>‹#›</a:t>
            </a:fld>
            <a:endParaRPr lang="en-US"/>
          </a:p>
        </p:txBody>
      </p:sp>
    </p:spTree>
    <p:extLst>
      <p:ext uri="{BB962C8B-B14F-4D97-AF65-F5344CB8AC3E}">
        <p14:creationId xmlns:p14="http://schemas.microsoft.com/office/powerpoint/2010/main" val="5865556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A93F1E1-BA79-4F8B-BE44-8D4E4BA2FAA9}"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58661-18A8-4183-A06B-95336CD2DD71}"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87059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A93F1E1-BA79-4F8B-BE44-8D4E4BA2FAA9}"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58661-18A8-4183-A06B-95336CD2DD71}" type="slidenum">
              <a:rPr lang="en-US" smtClean="0"/>
              <a:t>‹#›</a:t>
            </a:fld>
            <a:endParaRPr lang="en-US"/>
          </a:p>
        </p:txBody>
      </p:sp>
    </p:spTree>
    <p:extLst>
      <p:ext uri="{BB962C8B-B14F-4D97-AF65-F5344CB8AC3E}">
        <p14:creationId xmlns:p14="http://schemas.microsoft.com/office/powerpoint/2010/main" val="1538594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A93F1E1-BA79-4F8B-BE44-8D4E4BA2FAA9}" type="datetimeFigureOut">
              <a:rPr lang="en-US" smtClean="0"/>
              <a:t>3/25/2026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7C58661-18A8-4183-A06B-95336CD2DD71}" type="slidenum">
              <a:rPr lang="en-US" smtClean="0"/>
              <a:t>‹#›</a:t>
            </a:fld>
            <a:endParaRPr lang="en-US"/>
          </a:p>
        </p:txBody>
      </p:sp>
    </p:spTree>
    <p:extLst>
      <p:ext uri="{BB962C8B-B14F-4D97-AF65-F5344CB8AC3E}">
        <p14:creationId xmlns:p14="http://schemas.microsoft.com/office/powerpoint/2010/main" val="32892630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29384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6285336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spTree>
    <p:extLst>
      <p:ext uri="{BB962C8B-B14F-4D97-AF65-F5344CB8AC3E}">
        <p14:creationId xmlns:p14="http://schemas.microsoft.com/office/powerpoint/2010/main" val="39851626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6332532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543527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20566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A93F1E1-BA79-4F8B-BE44-8D4E4BA2FAA9}" type="datetimeFigureOut">
              <a:rPr lang="en-US" smtClean="0"/>
              <a:t>3/25/2026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7C58661-18A8-4183-A06B-95336CD2DD71}"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973498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0A93F1E1-BA79-4F8B-BE44-8D4E4BA2FAA9}" type="datetimeFigureOut">
              <a:rPr lang="en-US" smtClean="0"/>
              <a:t>3/25/2026</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F7C58661-18A8-4183-A06B-95336CD2DD71}" type="slidenum">
              <a:rPr lang="en-US" smtClean="0"/>
              <a:t>‹#›</a:t>
            </a:fld>
            <a:endParaRPr lang="en-US"/>
          </a:p>
        </p:txBody>
      </p:sp>
    </p:spTree>
    <p:extLst>
      <p:ext uri="{BB962C8B-B14F-4D97-AF65-F5344CB8AC3E}">
        <p14:creationId xmlns:p14="http://schemas.microsoft.com/office/powerpoint/2010/main" val="61054088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sz="4000" b="1" dirty="0" smtClean="0"/>
              <a:t>Server, Reliable product Remote Access</a:t>
            </a:r>
            <a:r>
              <a:rPr lang="en-US" dirty="0" smtClean="0"/>
              <a:t/>
            </a:r>
            <a:br>
              <a:rPr lang="en-US" dirty="0" smtClean="0"/>
            </a:br>
            <a:endParaRPr lang="en-US" dirty="0"/>
          </a:p>
        </p:txBody>
      </p:sp>
      <p:sp>
        <p:nvSpPr>
          <p:cNvPr id="3" name="Subtitle 2"/>
          <p:cNvSpPr>
            <a:spLocks noGrp="1"/>
          </p:cNvSpPr>
          <p:nvPr>
            <p:ph type="subTitle" idx="1"/>
          </p:nvPr>
        </p:nvSpPr>
        <p:spPr/>
        <p:txBody>
          <a:bodyPr/>
          <a:lstStyle/>
          <a:p>
            <a:r>
              <a:rPr lang="en-US" dirty="0" smtClean="0"/>
              <a:t>System and network Administrator</a:t>
            </a:r>
            <a:endParaRPr lang="en-US" dirty="0"/>
          </a:p>
        </p:txBody>
      </p:sp>
    </p:spTree>
    <p:extLst>
      <p:ext uri="{BB962C8B-B14F-4D97-AF65-F5344CB8AC3E}">
        <p14:creationId xmlns:p14="http://schemas.microsoft.com/office/powerpoint/2010/main" val="260792919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53156"/>
            <a:ext cx="10515600" cy="417688"/>
          </a:xfrm>
        </p:spPr>
        <p:txBody>
          <a:bodyPr>
            <a:normAutofit fontScale="90000"/>
          </a:bodyPr>
          <a:lstStyle/>
          <a:p>
            <a:r>
              <a:rPr lang="en-US" b="1" dirty="0"/>
              <a:t>What is a Server?</a:t>
            </a:r>
            <a:r>
              <a:rPr lang="en-US" dirty="0" smtClean="0"/>
              <a:t> </a:t>
            </a:r>
            <a:br>
              <a:rPr lang="en-US" dirty="0" smtClean="0"/>
            </a:br>
            <a:endParaRPr lang="en-US" dirty="0"/>
          </a:p>
        </p:txBody>
      </p:sp>
      <p:sp>
        <p:nvSpPr>
          <p:cNvPr id="3" name="Content Placeholder 2"/>
          <p:cNvSpPr>
            <a:spLocks noGrp="1"/>
          </p:cNvSpPr>
          <p:nvPr>
            <p:ph idx="1"/>
          </p:nvPr>
        </p:nvSpPr>
        <p:spPr>
          <a:xfrm>
            <a:off x="598311" y="824088"/>
            <a:ext cx="11040533" cy="5779911"/>
          </a:xfrm>
        </p:spPr>
        <p:txBody>
          <a:bodyPr/>
          <a:lstStyle/>
          <a:p>
            <a:r>
              <a:rPr lang="en-US" dirty="0"/>
              <a:t>A server is a computer program that provides a service to another computer programs (and its user). </a:t>
            </a:r>
            <a:endParaRPr lang="en-US" dirty="0" smtClean="0"/>
          </a:p>
          <a:p>
            <a:r>
              <a:rPr lang="en-US" dirty="0" smtClean="0"/>
              <a:t>In </a:t>
            </a:r>
            <a:r>
              <a:rPr lang="en-US" dirty="0"/>
              <a:t>a data center, the physical computer that a server program runs in is also frequently referred to as a server</a:t>
            </a:r>
            <a:r>
              <a:rPr lang="en-US" dirty="0" smtClean="0"/>
              <a:t>.</a:t>
            </a:r>
          </a:p>
          <a:p>
            <a:r>
              <a:rPr lang="en-US" dirty="0" smtClean="0"/>
              <a:t> </a:t>
            </a:r>
            <a:r>
              <a:rPr lang="en-US" dirty="0"/>
              <a:t>That machine may be a dedicated server or it may be used for other purposes as well.</a:t>
            </a:r>
            <a:r>
              <a:rPr lang="en-US" dirty="0" smtClean="0"/>
              <a:t> </a:t>
            </a:r>
          </a:p>
          <a:p>
            <a:r>
              <a:rPr lang="en-US" dirty="0"/>
              <a:t>In the client/server programming model, a server program awaits and fulfills requests from client programs, which may be running in the same or other computers.</a:t>
            </a:r>
            <a:r>
              <a:rPr lang="en-US" dirty="0" smtClean="0"/>
              <a:t>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241706479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5719"/>
          </a:xfrm>
        </p:spPr>
        <p:txBody>
          <a:bodyPr>
            <a:normAutofit fontScale="90000"/>
          </a:bodyPr>
          <a:lstStyle/>
          <a:p>
            <a:r>
              <a:rPr lang="en-US" b="1" dirty="0"/>
              <a:t>Types of servers</a:t>
            </a:r>
            <a:r>
              <a:rPr lang="en-US" dirty="0" smtClean="0"/>
              <a:t> </a:t>
            </a:r>
            <a:endParaRPr lang="en-US" dirty="0"/>
          </a:p>
        </p:txBody>
      </p:sp>
      <p:sp>
        <p:nvSpPr>
          <p:cNvPr id="3" name="Content Placeholder 2"/>
          <p:cNvSpPr>
            <a:spLocks noGrp="1"/>
          </p:cNvSpPr>
          <p:nvPr>
            <p:ph idx="1"/>
          </p:nvPr>
        </p:nvSpPr>
        <p:spPr>
          <a:xfrm>
            <a:off x="462844" y="970844"/>
            <a:ext cx="11266312" cy="5565423"/>
          </a:xfrm>
        </p:spPr>
        <p:txBody>
          <a:bodyPr>
            <a:normAutofit fontScale="92500"/>
          </a:bodyPr>
          <a:lstStyle/>
          <a:p>
            <a:r>
              <a:rPr lang="en-US" dirty="0"/>
              <a:t>Servers are often categorized in terms of their purpose. A Web server, for example, is a computer program that serves requested HTML pages or files. </a:t>
            </a:r>
            <a:endParaRPr lang="en-US" dirty="0" smtClean="0"/>
          </a:p>
          <a:p>
            <a:r>
              <a:rPr lang="en-US" dirty="0" smtClean="0"/>
              <a:t>The </a:t>
            </a:r>
            <a:r>
              <a:rPr lang="en-US" dirty="0"/>
              <a:t>program that is requesting web content is called a client</a:t>
            </a:r>
            <a:r>
              <a:rPr lang="en-US" dirty="0" smtClean="0"/>
              <a:t>.</a:t>
            </a:r>
          </a:p>
          <a:p>
            <a:r>
              <a:rPr lang="en-US" dirty="0" smtClean="0"/>
              <a:t> </a:t>
            </a:r>
            <a:r>
              <a:rPr lang="en-US" dirty="0"/>
              <a:t>For example, a Web browser is a client that requests HTML files from Web servers</a:t>
            </a:r>
            <a:r>
              <a:rPr lang="en-US" dirty="0" smtClean="0"/>
              <a:t> </a:t>
            </a:r>
            <a:br>
              <a:rPr lang="en-US" dirty="0" smtClean="0"/>
            </a:br>
            <a:r>
              <a:rPr lang="en-US" dirty="0"/>
              <a:t>An </a:t>
            </a:r>
            <a:r>
              <a:rPr lang="en-US" b="1" dirty="0"/>
              <a:t>application server </a:t>
            </a:r>
            <a:r>
              <a:rPr lang="en-US" dirty="0"/>
              <a:t>is a program in a computer in a distributed network that provides the</a:t>
            </a:r>
          </a:p>
          <a:p>
            <a:r>
              <a:rPr lang="en-US" dirty="0"/>
              <a:t>business logic for an application program.</a:t>
            </a:r>
          </a:p>
          <a:p>
            <a:r>
              <a:rPr lang="en-US" dirty="0"/>
              <a:t> A </a:t>
            </a:r>
            <a:r>
              <a:rPr lang="en-US" b="1" dirty="0"/>
              <a:t>proxy server </a:t>
            </a:r>
            <a:r>
              <a:rPr lang="en-US" dirty="0"/>
              <a:t>is software that acts as an intermediary between an endpoint device, such as a</a:t>
            </a:r>
          </a:p>
          <a:p>
            <a:r>
              <a:rPr lang="en-US" dirty="0"/>
              <a:t>computer, and another server from which a user or client is requesting a service.</a:t>
            </a:r>
          </a:p>
          <a:p>
            <a:r>
              <a:rPr lang="en-US" dirty="0"/>
              <a:t> A </a:t>
            </a:r>
            <a:r>
              <a:rPr lang="en-US" b="1" dirty="0"/>
              <a:t>mail server </a:t>
            </a:r>
            <a:r>
              <a:rPr lang="en-US" dirty="0"/>
              <a:t>is an application that receives incoming e-mail from local users (people within the</a:t>
            </a:r>
          </a:p>
          <a:p>
            <a:r>
              <a:rPr lang="en-US" dirty="0"/>
              <a:t>same domain) and remote senders and forwards outgoing e-mail for delivery.</a:t>
            </a:r>
            <a:r>
              <a:rPr lang="en-US" dirty="0" smtClean="0"/>
              <a:t> </a:t>
            </a:r>
            <a:br>
              <a:rPr lang="en-US" dirty="0" smtClean="0"/>
            </a:br>
            <a:endParaRPr lang="en-US" dirty="0"/>
          </a:p>
        </p:txBody>
      </p:sp>
    </p:spTree>
    <p:extLst>
      <p:ext uri="{BB962C8B-B14F-4D97-AF65-F5344CB8AC3E}">
        <p14:creationId xmlns:p14="http://schemas.microsoft.com/office/powerpoint/2010/main" val="8622184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470253"/>
          </a:xfrm>
        </p:spPr>
        <p:txBody>
          <a:bodyPr>
            <a:normAutofit fontScale="90000"/>
          </a:bodyPr>
          <a:lstStyle/>
          <a:p>
            <a:endParaRPr lang="en-US" dirty="0"/>
          </a:p>
        </p:txBody>
      </p:sp>
      <p:sp>
        <p:nvSpPr>
          <p:cNvPr id="3" name="Content Placeholder 2"/>
          <p:cNvSpPr>
            <a:spLocks noGrp="1"/>
          </p:cNvSpPr>
          <p:nvPr>
            <p:ph idx="1"/>
          </p:nvPr>
        </p:nvSpPr>
        <p:spPr>
          <a:xfrm>
            <a:off x="838200" y="1083733"/>
            <a:ext cx="10515600" cy="5093230"/>
          </a:xfrm>
        </p:spPr>
        <p:txBody>
          <a:bodyPr>
            <a:normAutofit/>
          </a:bodyPr>
          <a:lstStyle/>
          <a:p>
            <a:r>
              <a:rPr lang="en-US" dirty="0"/>
              <a:t>A </a:t>
            </a:r>
            <a:r>
              <a:rPr lang="en-US" b="1" dirty="0"/>
              <a:t>virtual server </a:t>
            </a:r>
            <a:r>
              <a:rPr lang="en-US" dirty="0"/>
              <a:t>is a program running on a shared server that is configured in such a way that </a:t>
            </a:r>
            <a:r>
              <a:rPr lang="en-US" dirty="0" smtClean="0"/>
              <a:t>it seems </a:t>
            </a:r>
            <a:r>
              <a:rPr lang="en-US" dirty="0"/>
              <a:t>to each user that they have complete control of a server</a:t>
            </a:r>
            <a:r>
              <a:rPr lang="en-US" dirty="0" smtClean="0"/>
              <a:t>..</a:t>
            </a:r>
            <a:endParaRPr lang="en-US" dirty="0"/>
          </a:p>
          <a:p>
            <a:r>
              <a:rPr lang="en-US" dirty="0"/>
              <a:t> A </a:t>
            </a:r>
            <a:r>
              <a:rPr lang="en-US" b="1" dirty="0"/>
              <a:t>file server </a:t>
            </a:r>
            <a:r>
              <a:rPr lang="en-US" dirty="0"/>
              <a:t>is a computer responsible for the central storage and management of data files </a:t>
            </a:r>
            <a:r>
              <a:rPr lang="en-US" dirty="0" smtClean="0"/>
              <a:t>so that </a:t>
            </a:r>
            <a:r>
              <a:rPr lang="en-US" dirty="0"/>
              <a:t>other computers on the same network can access them.</a:t>
            </a:r>
          </a:p>
          <a:p>
            <a:r>
              <a:rPr lang="en-US" dirty="0"/>
              <a:t> A </a:t>
            </a:r>
            <a:r>
              <a:rPr lang="en-US" b="1" dirty="0"/>
              <a:t>policy server </a:t>
            </a:r>
            <a:r>
              <a:rPr lang="en-US" dirty="0"/>
              <a:t>is a security component of a policy-based network that provides </a:t>
            </a:r>
            <a:r>
              <a:rPr lang="en-US" dirty="0" smtClean="0"/>
              <a:t>authorization services </a:t>
            </a:r>
            <a:r>
              <a:rPr lang="en-US" dirty="0"/>
              <a:t>and facilitates tracking and control of files</a:t>
            </a:r>
            <a:r>
              <a:rPr lang="en-US" dirty="0" smtClean="0"/>
              <a:t> </a:t>
            </a:r>
            <a:br>
              <a:rPr lang="en-US" dirty="0" smtClean="0"/>
            </a:br>
            <a:endParaRPr lang="en-US" dirty="0"/>
          </a:p>
        </p:txBody>
      </p:sp>
    </p:spTree>
    <p:extLst>
      <p:ext uri="{BB962C8B-B14F-4D97-AF65-F5344CB8AC3E}">
        <p14:creationId xmlns:p14="http://schemas.microsoft.com/office/powerpoint/2010/main" val="22943825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583142"/>
          </a:xfrm>
        </p:spPr>
        <p:txBody>
          <a:bodyPr>
            <a:normAutofit fontScale="90000"/>
          </a:bodyPr>
          <a:lstStyle/>
          <a:p>
            <a:r>
              <a:rPr lang="en-US" b="1" dirty="0"/>
              <a:t>Choosing the right server</a:t>
            </a:r>
            <a:r>
              <a:rPr lang="en-US" dirty="0" smtClean="0"/>
              <a:t> </a:t>
            </a:r>
            <a:endParaRPr lang="en-US" dirty="0"/>
          </a:p>
        </p:txBody>
      </p:sp>
      <p:sp>
        <p:nvSpPr>
          <p:cNvPr id="3" name="Content Placeholder 2"/>
          <p:cNvSpPr>
            <a:spLocks noGrp="1"/>
          </p:cNvSpPr>
          <p:nvPr>
            <p:ph idx="1"/>
          </p:nvPr>
        </p:nvSpPr>
        <p:spPr>
          <a:xfrm>
            <a:off x="485422" y="1467556"/>
            <a:ext cx="10868378" cy="5159022"/>
          </a:xfrm>
        </p:spPr>
        <p:txBody>
          <a:bodyPr/>
          <a:lstStyle/>
          <a:p>
            <a:r>
              <a:rPr lang="en-US" dirty="0"/>
              <a:t>When choosing a server, it is important to evaluate the importance of certain features based on the use cases. </a:t>
            </a:r>
            <a:endParaRPr lang="en-US" dirty="0" smtClean="0"/>
          </a:p>
          <a:p>
            <a:r>
              <a:rPr lang="en-US" dirty="0" smtClean="0"/>
              <a:t>Security </a:t>
            </a:r>
            <a:r>
              <a:rPr lang="en-US" dirty="0"/>
              <a:t>capabilities are also important and there will probably be a number of protection</a:t>
            </a:r>
            <a:r>
              <a:rPr lang="en-US" dirty="0" smtClean="0"/>
              <a:t>,</a:t>
            </a:r>
          </a:p>
          <a:p>
            <a:r>
              <a:rPr lang="en-US" dirty="0" smtClean="0"/>
              <a:t> </a:t>
            </a:r>
            <a:r>
              <a:rPr lang="en-US" dirty="0"/>
              <a:t>detection and recovery features to </a:t>
            </a:r>
            <a:r>
              <a:rPr lang="en-US" dirty="0" smtClean="0"/>
              <a:t>consider</a:t>
            </a:r>
          </a:p>
          <a:p>
            <a:r>
              <a:rPr lang="en-US" dirty="0" smtClean="0"/>
              <a:t> </a:t>
            </a:r>
            <a:r>
              <a:rPr lang="en-US" dirty="0"/>
              <a:t>including native data encryption to protect data in flight and data at </a:t>
            </a:r>
            <a:r>
              <a:rPr lang="en-US" dirty="0" smtClean="0"/>
              <a:t>rest</a:t>
            </a:r>
          </a:p>
          <a:p>
            <a:r>
              <a:rPr lang="en-US" dirty="0" smtClean="0"/>
              <a:t>as </a:t>
            </a:r>
            <a:r>
              <a:rPr lang="en-US" dirty="0"/>
              <a:t>well as persistent event logging to provide an indelible record of all activity.</a:t>
            </a:r>
            <a:r>
              <a:rPr lang="en-US" dirty="0" smtClean="0"/>
              <a:t> </a:t>
            </a:r>
            <a:br>
              <a:rPr lang="en-US" dirty="0" smtClean="0"/>
            </a:br>
            <a:endParaRPr lang="en-US" dirty="0"/>
          </a:p>
        </p:txBody>
      </p:sp>
    </p:spTree>
    <p:extLst>
      <p:ext uri="{BB962C8B-B14F-4D97-AF65-F5344CB8AC3E}">
        <p14:creationId xmlns:p14="http://schemas.microsoft.com/office/powerpoint/2010/main" val="2901792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771525"/>
            <a:ext cx="10515600" cy="346075"/>
          </a:xfrm>
        </p:spPr>
        <p:txBody>
          <a:bodyPr>
            <a:normAutofit fontScale="90000"/>
          </a:bodyPr>
          <a:lstStyle/>
          <a:p>
            <a:r>
              <a:rPr lang="en-US" b="1" dirty="0"/>
              <a:t>Choose Vendors Known for Reliable Products:</a:t>
            </a:r>
            <a:r>
              <a:rPr lang="en-US" dirty="0" smtClean="0"/>
              <a:t> </a:t>
            </a:r>
            <a:br>
              <a:rPr lang="en-US" dirty="0" smtClean="0"/>
            </a:br>
            <a:endParaRPr lang="en-US" dirty="0"/>
          </a:p>
        </p:txBody>
      </p:sp>
      <p:sp>
        <p:nvSpPr>
          <p:cNvPr id="3" name="Content Placeholder 2"/>
          <p:cNvSpPr>
            <a:spLocks noGrp="1"/>
          </p:cNvSpPr>
          <p:nvPr>
            <p:ph idx="1"/>
          </p:nvPr>
        </p:nvSpPr>
        <p:spPr>
          <a:xfrm>
            <a:off x="838200" y="1309511"/>
            <a:ext cx="10515600" cy="4867452"/>
          </a:xfrm>
        </p:spPr>
        <p:txBody>
          <a:bodyPr/>
          <a:lstStyle/>
          <a:p>
            <a:r>
              <a:rPr lang="en-US" dirty="0"/>
              <a:t>It is important to pick vendors that are known for reliability</a:t>
            </a:r>
            <a:r>
              <a:rPr lang="en-US" dirty="0" smtClean="0"/>
              <a:t>.</a:t>
            </a:r>
          </a:p>
          <a:p>
            <a:r>
              <a:rPr lang="en-US" dirty="0" smtClean="0"/>
              <a:t> </a:t>
            </a:r>
            <a:r>
              <a:rPr lang="en-US" dirty="0"/>
              <a:t>Some vendors have years of experience designing servers. </a:t>
            </a:r>
            <a:endParaRPr lang="en-US" dirty="0" smtClean="0"/>
          </a:p>
          <a:p>
            <a:r>
              <a:rPr lang="en-US" dirty="0" smtClean="0"/>
              <a:t>Vendors </a:t>
            </a:r>
            <a:r>
              <a:rPr lang="en-US" dirty="0"/>
              <a:t>with little or no server experience do not offer maintenance service except for exchanging hosts that arrive dead. </a:t>
            </a:r>
            <a:endParaRPr lang="en-US" dirty="0" smtClean="0"/>
          </a:p>
          <a:p>
            <a:r>
              <a:rPr lang="en-US" dirty="0" smtClean="0"/>
              <a:t>It </a:t>
            </a:r>
            <a:r>
              <a:rPr lang="en-US" dirty="0"/>
              <a:t>can be useful to talk with other SAs to find out which vendors they use and which ones they avoid</a:t>
            </a:r>
            <a:r>
              <a:rPr lang="en-US" dirty="0" smtClean="0"/>
              <a:t> </a:t>
            </a:r>
            <a:br>
              <a:rPr lang="en-US" dirty="0" smtClean="0"/>
            </a:br>
            <a:endParaRPr lang="en-US" dirty="0"/>
          </a:p>
        </p:txBody>
      </p:sp>
    </p:spTree>
    <p:extLst>
      <p:ext uri="{BB962C8B-B14F-4D97-AF65-F5344CB8AC3E}">
        <p14:creationId xmlns:p14="http://schemas.microsoft.com/office/powerpoint/2010/main" val="292676687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55675"/>
          </a:xfrm>
        </p:spPr>
        <p:txBody>
          <a:bodyPr/>
          <a:lstStyle/>
          <a:p>
            <a:r>
              <a:rPr lang="en-US" b="1" dirty="0"/>
              <a:t>Understand the Cost of Server Hardware:</a:t>
            </a:r>
            <a:r>
              <a:rPr lang="en-US" dirty="0" smtClean="0"/>
              <a:t> </a:t>
            </a:r>
            <a:endParaRPr lang="en-US" dirty="0"/>
          </a:p>
        </p:txBody>
      </p:sp>
      <p:sp>
        <p:nvSpPr>
          <p:cNvPr id="3" name="Content Placeholder 2"/>
          <p:cNvSpPr>
            <a:spLocks noGrp="1"/>
          </p:cNvSpPr>
          <p:nvPr>
            <p:ph idx="1"/>
          </p:nvPr>
        </p:nvSpPr>
        <p:spPr>
          <a:xfrm>
            <a:off x="838200" y="1320800"/>
            <a:ext cx="10515600" cy="4856163"/>
          </a:xfrm>
        </p:spPr>
        <p:txBody>
          <a:bodyPr>
            <a:normAutofit fontScale="92500" lnSpcReduction="20000"/>
          </a:bodyPr>
          <a:lstStyle/>
          <a:p>
            <a:r>
              <a:rPr lang="en-US" dirty="0"/>
              <a:t>When researching for a cost of a new server, most of us will try to figure out the hardware costs involved in buying a new server</a:t>
            </a:r>
            <a:r>
              <a:rPr lang="en-US" dirty="0" smtClean="0"/>
              <a:t>.</a:t>
            </a:r>
          </a:p>
          <a:p>
            <a:r>
              <a:rPr lang="en-US" dirty="0" smtClean="0"/>
              <a:t> </a:t>
            </a:r>
            <a:r>
              <a:rPr lang="en-US" dirty="0"/>
              <a:t>But in most cases, the said cost only represents a small part of the total amount </a:t>
            </a:r>
            <a:r>
              <a:rPr lang="en-US" dirty="0" smtClean="0"/>
              <a:t>one needs to spend. </a:t>
            </a:r>
          </a:p>
          <a:p>
            <a:r>
              <a:rPr lang="en-US" dirty="0" smtClean="0"/>
              <a:t>That’s because, a server needs to have a server operating system and applications to </a:t>
            </a:r>
            <a:r>
              <a:rPr lang="en-US" dirty="0"/>
              <a:t>work on under the supervision of a server admin. </a:t>
            </a:r>
            <a:endParaRPr lang="en-US" dirty="0" smtClean="0"/>
          </a:p>
          <a:p>
            <a:r>
              <a:rPr lang="en-US" dirty="0" smtClean="0"/>
              <a:t>Hence</a:t>
            </a:r>
            <a:r>
              <a:rPr lang="en-US" dirty="0"/>
              <a:t>, the three main components which make to a </a:t>
            </a:r>
            <a:r>
              <a:rPr lang="en-US" dirty="0" smtClean="0"/>
              <a:t>server’s</a:t>
            </a:r>
            <a:r>
              <a:rPr lang="en-US" dirty="0"/>
              <a:t> </a:t>
            </a:r>
            <a:r>
              <a:rPr lang="en-US" dirty="0" smtClean="0"/>
              <a:t>overall cost. </a:t>
            </a:r>
          </a:p>
          <a:p>
            <a:pPr>
              <a:buFont typeface="Wingdings" panose="05000000000000000000" pitchFamily="2" charset="2"/>
              <a:buChar char="v"/>
            </a:pPr>
            <a:r>
              <a:rPr lang="en-US" dirty="0"/>
              <a:t>Server </a:t>
            </a:r>
            <a:r>
              <a:rPr lang="en-US" dirty="0" smtClean="0"/>
              <a:t>Hard</a:t>
            </a:r>
          </a:p>
          <a:p>
            <a:pPr>
              <a:buFont typeface="Wingdings" panose="05000000000000000000" pitchFamily="2" charset="2"/>
              <a:buChar char="v"/>
            </a:pPr>
            <a:r>
              <a:rPr lang="en-US" dirty="0" smtClean="0"/>
              <a:t>Cost of server operating system and application </a:t>
            </a:r>
          </a:p>
          <a:p>
            <a:pPr>
              <a:buFont typeface="Wingdings" panose="05000000000000000000" pitchFamily="2" charset="2"/>
              <a:buChar char="v"/>
            </a:pPr>
            <a:r>
              <a:rPr lang="en-US" dirty="0" smtClean="0"/>
              <a:t>Server admin cost ware </a:t>
            </a:r>
            <a:br>
              <a:rPr lang="en-US" dirty="0" smtClean="0"/>
            </a:br>
            <a:r>
              <a:rPr lang="en-US" dirty="0" smtClean="0"/>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36372317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66233"/>
          </a:xfrm>
        </p:spPr>
        <p:txBody>
          <a:bodyPr>
            <a:normAutofit fontScale="90000"/>
          </a:bodyPr>
          <a:lstStyle/>
          <a:p>
            <a:r>
              <a:rPr lang="en-US" dirty="0" smtClean="0"/>
              <a:t>Server Hardware</a:t>
            </a:r>
            <a:endParaRPr lang="en-US" dirty="0"/>
          </a:p>
        </p:txBody>
      </p:sp>
      <p:sp>
        <p:nvSpPr>
          <p:cNvPr id="3" name="Content Placeholder 2"/>
          <p:cNvSpPr>
            <a:spLocks noGrp="1"/>
          </p:cNvSpPr>
          <p:nvPr>
            <p:ph idx="1"/>
          </p:nvPr>
        </p:nvSpPr>
        <p:spPr>
          <a:xfrm>
            <a:off x="838200" y="1031358"/>
            <a:ext cx="10515600" cy="5145605"/>
          </a:xfrm>
        </p:spPr>
        <p:txBody>
          <a:bodyPr>
            <a:normAutofit/>
          </a:bodyPr>
          <a:lstStyle/>
          <a:p>
            <a:r>
              <a:rPr lang="en-US" dirty="0" smtClean="0"/>
              <a:t>Servers </a:t>
            </a:r>
            <a:r>
              <a:rPr lang="en-US" dirty="0"/>
              <a:t>need to perform as per the business requirements and as the numbers of users grow; the computing resources should also grow on a parallel note. </a:t>
            </a:r>
            <a:endParaRPr lang="en-US" dirty="0" smtClean="0"/>
          </a:p>
          <a:p>
            <a:r>
              <a:rPr lang="en-US" dirty="0" smtClean="0"/>
              <a:t>As </a:t>
            </a:r>
            <a:r>
              <a:rPr lang="en-US" dirty="0"/>
              <a:t>servers are more expensive than their desktop counterparts, those whose budget is tight can find a low cost server option that handle may if not all of the tasks your business will likely need from a server</a:t>
            </a:r>
            <a:r>
              <a:rPr lang="en-US" dirty="0" smtClean="0"/>
              <a:t>.</a:t>
            </a:r>
          </a:p>
          <a:p>
            <a:r>
              <a:rPr lang="en-US" dirty="0" smtClean="0"/>
              <a:t> </a:t>
            </a:r>
            <a:r>
              <a:rPr lang="en-US" dirty="0"/>
              <a:t>On the other hand, if the need is for high end computing resources like data intensive web and database serving, video storage and sharing and enterprise grade messaging and conferencing then the server needs to have a multiple processors or at least processors with maximum number of cores</a:t>
            </a:r>
            <a:r>
              <a:rPr lang="en-US" dirty="0" smtClean="0"/>
              <a:t> </a:t>
            </a:r>
            <a:br>
              <a:rPr lang="en-US" dirty="0" smtClean="0"/>
            </a:br>
            <a:endParaRPr lang="en-US" dirty="0"/>
          </a:p>
        </p:txBody>
      </p:sp>
    </p:spTree>
    <p:extLst>
      <p:ext uri="{BB962C8B-B14F-4D97-AF65-F5344CB8AC3E}">
        <p14:creationId xmlns:p14="http://schemas.microsoft.com/office/powerpoint/2010/main" val="419435606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05685"/>
          </a:xfrm>
        </p:spPr>
        <p:txBody>
          <a:bodyPr>
            <a:normAutofit fontScale="90000"/>
          </a:bodyPr>
          <a:lstStyle/>
          <a:p>
            <a:r>
              <a:rPr lang="en-US" dirty="0" smtClean="0"/>
              <a:t>Cost of server operating system and application-</a:t>
            </a:r>
            <a:endParaRPr lang="en-US" dirty="0"/>
          </a:p>
        </p:txBody>
      </p:sp>
      <p:sp>
        <p:nvSpPr>
          <p:cNvPr id="3" name="Content Placeholder 2"/>
          <p:cNvSpPr>
            <a:spLocks noGrp="1"/>
          </p:cNvSpPr>
          <p:nvPr>
            <p:ph idx="1"/>
          </p:nvPr>
        </p:nvSpPr>
        <p:spPr>
          <a:xfrm>
            <a:off x="433137" y="1239254"/>
            <a:ext cx="11213431" cy="5474368"/>
          </a:xfrm>
        </p:spPr>
        <p:txBody>
          <a:bodyPr/>
          <a:lstStyle/>
          <a:p>
            <a:r>
              <a:rPr lang="en-US" dirty="0" smtClean="0"/>
              <a:t>Generally</a:t>
            </a:r>
            <a:r>
              <a:rPr lang="en-US" dirty="0"/>
              <a:t>, servers we purchase do not come along with the operating system. So, when selecting a server operating </a:t>
            </a:r>
            <a:r>
              <a:rPr lang="en-US" dirty="0" smtClean="0"/>
              <a:t>system </a:t>
            </a:r>
          </a:p>
          <a:p>
            <a:r>
              <a:rPr lang="en-US" dirty="0" smtClean="0"/>
              <a:t>high </a:t>
            </a:r>
            <a:r>
              <a:rPr lang="en-US" dirty="0"/>
              <a:t>end server OSes like Windows Server 2008 R2 will start at about $1,000 for up to five users and $4K for enterprise edition which includes 25 client access </a:t>
            </a:r>
            <a:r>
              <a:rPr lang="en-US" dirty="0" smtClean="0"/>
              <a:t>licenses.</a:t>
            </a:r>
          </a:p>
          <a:p>
            <a:r>
              <a:rPr lang="en-US" dirty="0"/>
              <a:t>Also to those who are purchasing the server OS, they also need to have budget for software applications to perform tasks</a:t>
            </a:r>
            <a:r>
              <a:rPr lang="en-US" dirty="0" smtClean="0"/>
              <a:t>.</a:t>
            </a:r>
          </a:p>
          <a:p>
            <a:r>
              <a:rPr lang="en-US" dirty="0" smtClean="0"/>
              <a:t> </a:t>
            </a:r>
            <a:r>
              <a:rPr lang="en-US" dirty="0"/>
              <a:t>For instance, if the server needs to handle emails server, then it needs to have a Microsoft exchange server application starting at an $800 </a:t>
            </a:r>
            <a:r>
              <a:rPr lang="en-US" dirty="0" smtClean="0"/>
              <a:t/>
            </a:r>
            <a:br>
              <a:rPr lang="en-US" dirty="0" smtClean="0"/>
            </a:br>
            <a:r>
              <a:rPr lang="en-US" dirty="0" smtClean="0"/>
              <a:t> </a:t>
            </a:r>
            <a:br>
              <a:rPr lang="en-US" dirty="0" smtClean="0"/>
            </a:br>
            <a:endParaRPr lang="en-US" dirty="0"/>
          </a:p>
        </p:txBody>
      </p:sp>
    </p:spTree>
    <p:extLst>
      <p:ext uri="{BB962C8B-B14F-4D97-AF65-F5344CB8AC3E}">
        <p14:creationId xmlns:p14="http://schemas.microsoft.com/office/powerpoint/2010/main" val="381447685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633496"/>
          </a:xfrm>
        </p:spPr>
        <p:txBody>
          <a:bodyPr>
            <a:normAutofit fontScale="90000"/>
          </a:bodyPr>
          <a:lstStyle/>
          <a:p>
            <a:r>
              <a:rPr lang="en-US" dirty="0"/>
              <a:t>Server admin cost</a:t>
            </a:r>
            <a:r>
              <a:rPr lang="en-US" dirty="0" smtClean="0"/>
              <a:t> </a:t>
            </a:r>
            <a:endParaRPr lang="en-US" dirty="0"/>
          </a:p>
        </p:txBody>
      </p:sp>
      <p:sp>
        <p:nvSpPr>
          <p:cNvPr id="3" name="Content Placeholder 2"/>
          <p:cNvSpPr>
            <a:spLocks noGrp="1"/>
          </p:cNvSpPr>
          <p:nvPr>
            <p:ph idx="1"/>
          </p:nvPr>
        </p:nvSpPr>
        <p:spPr>
          <a:xfrm>
            <a:off x="312821" y="1130968"/>
            <a:ext cx="11634537" cy="5486400"/>
          </a:xfrm>
        </p:spPr>
        <p:txBody>
          <a:bodyPr/>
          <a:lstStyle/>
          <a:p>
            <a:r>
              <a:rPr lang="en-US" dirty="0"/>
              <a:t>In most cases, server hardware and software costs represent only a small part of the total cost of ownership. </a:t>
            </a:r>
            <a:endParaRPr lang="en-US" dirty="0" smtClean="0"/>
          </a:p>
          <a:p>
            <a:r>
              <a:rPr lang="en-US" dirty="0" smtClean="0"/>
              <a:t>In </a:t>
            </a:r>
            <a:r>
              <a:rPr lang="en-US" dirty="0"/>
              <a:t>fact, the hardware and software costs typically account for only 15 to 25 percent of the overall costs associated with installing, maintaining, upgrading and supporting a dedicated server.</a:t>
            </a:r>
            <a:r>
              <a:rPr lang="en-US" dirty="0" smtClean="0"/>
              <a:t> </a:t>
            </a:r>
          </a:p>
          <a:p>
            <a:r>
              <a:rPr lang="en-US" dirty="0" smtClean="0"/>
              <a:t>As a </a:t>
            </a:r>
            <a:r>
              <a:rPr lang="en-US" dirty="0" err="1" smtClean="0"/>
              <a:t>result,when</a:t>
            </a:r>
            <a:r>
              <a:rPr lang="en-US" dirty="0" smtClean="0"/>
              <a:t> budgeting for a server, it’s necessary </a:t>
            </a:r>
            <a:r>
              <a:rPr lang="en-US" dirty="0"/>
              <a:t>to create a solid plan for the costs associated with configuring and administering the server </a:t>
            </a:r>
            <a:r>
              <a:rPr lang="en-US"/>
              <a:t>– </a:t>
            </a:r>
            <a:r>
              <a:rPr lang="en-US" smtClean="0"/>
              <a:t>costs.</a:t>
            </a:r>
          </a:p>
          <a:p>
            <a:r>
              <a:rPr lang="en-US" smtClean="0"/>
              <a:t> </a:t>
            </a:r>
            <a:r>
              <a:rPr lang="en-US" dirty="0"/>
              <a:t>that include initial configuration and ongoing support fees, workforce costs for day-to-day administration, reserve funds for replacing hardware as warranties expire, software update fees and more</a:t>
            </a:r>
            <a:r>
              <a:rPr lang="en-US" dirty="0" smtClean="0"/>
              <a:t>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1574713745"/>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97631"/>
          </a:xfrm>
        </p:spPr>
        <p:txBody>
          <a:bodyPr>
            <a:normAutofit fontScale="90000"/>
          </a:bodyPr>
          <a:lstStyle/>
          <a:p>
            <a:r>
              <a:rPr lang="en-US" b="1" dirty="0"/>
              <a:t>Consider Maintenance Contracts and Spare Parts</a:t>
            </a:r>
            <a:r>
              <a:rPr lang="en-US" dirty="0"/>
              <a:t> </a:t>
            </a:r>
          </a:p>
        </p:txBody>
      </p:sp>
      <p:sp>
        <p:nvSpPr>
          <p:cNvPr id="3" name="Content Placeholder 2"/>
          <p:cNvSpPr>
            <a:spLocks noGrp="1"/>
          </p:cNvSpPr>
          <p:nvPr>
            <p:ph idx="1"/>
          </p:nvPr>
        </p:nvSpPr>
        <p:spPr>
          <a:xfrm>
            <a:off x="838200" y="1286933"/>
            <a:ext cx="10515600" cy="4890030"/>
          </a:xfrm>
        </p:spPr>
        <p:txBody>
          <a:bodyPr/>
          <a:lstStyle/>
          <a:p>
            <a:r>
              <a:rPr lang="en-US" dirty="0"/>
              <a:t>When purchasing a server, consider how repairs will be handled. </a:t>
            </a:r>
            <a:endParaRPr lang="en-US" dirty="0" smtClean="0"/>
          </a:p>
          <a:p>
            <a:r>
              <a:rPr lang="en-US" dirty="0" smtClean="0"/>
              <a:t>All </a:t>
            </a:r>
            <a:r>
              <a:rPr lang="en-US" dirty="0"/>
              <a:t>machines eventually break</a:t>
            </a:r>
            <a:r>
              <a:rPr lang="en-US" dirty="0" smtClean="0"/>
              <a:t>.</a:t>
            </a:r>
          </a:p>
          <a:p>
            <a:r>
              <a:rPr lang="en-US" dirty="0" smtClean="0"/>
              <a:t> </a:t>
            </a:r>
            <a:r>
              <a:rPr lang="en-US" dirty="0"/>
              <a:t>Vendors tend to have a variety of maintenance contract options. </a:t>
            </a:r>
            <a:endParaRPr lang="en-US" dirty="0" smtClean="0"/>
          </a:p>
          <a:p>
            <a:r>
              <a:rPr lang="en-US" dirty="0" smtClean="0"/>
              <a:t>For </a:t>
            </a:r>
            <a:r>
              <a:rPr lang="en-US" dirty="0"/>
              <a:t>example, one form of maintenance contract provides on-site service with a 4-hour response time, a 12-hour response time, or next-day </a:t>
            </a:r>
            <a:r>
              <a:rPr lang="en-US" dirty="0" smtClean="0"/>
              <a:t>options.</a:t>
            </a:r>
            <a:r>
              <a:rPr lang="en-US" dirty="0"/>
              <a:t/>
            </a:r>
            <a:br>
              <a:rPr lang="en-US" dirty="0"/>
            </a:br>
            <a:endParaRPr lang="en-US" dirty="0"/>
          </a:p>
        </p:txBody>
      </p:sp>
    </p:spTree>
    <p:extLst>
      <p:ext uri="{BB962C8B-B14F-4D97-AF65-F5344CB8AC3E}">
        <p14:creationId xmlns:p14="http://schemas.microsoft.com/office/powerpoint/2010/main" val="17270842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Following are some reasonable scenarios for picking appropriate maintenance contracts </a:t>
            </a:r>
          </a:p>
        </p:txBody>
      </p:sp>
      <p:sp>
        <p:nvSpPr>
          <p:cNvPr id="3" name="Content Placeholder 2"/>
          <p:cNvSpPr>
            <a:spLocks noGrp="1"/>
          </p:cNvSpPr>
          <p:nvPr>
            <p:ph idx="1"/>
          </p:nvPr>
        </p:nvSpPr>
        <p:spPr/>
        <p:txBody>
          <a:bodyPr>
            <a:normAutofit fontScale="77500" lnSpcReduction="20000"/>
          </a:bodyPr>
          <a:lstStyle/>
          <a:p>
            <a:r>
              <a:rPr lang="en-US" b="1" dirty="0"/>
              <a:t>Non-critical server</a:t>
            </a:r>
            <a:r>
              <a:rPr lang="en-US" i="1" dirty="0"/>
              <a:t>. </a:t>
            </a:r>
            <a:r>
              <a:rPr lang="en-US" dirty="0"/>
              <a:t>Some hosts are not critical, such as a CPU server that is one of many</a:t>
            </a:r>
            <a:r>
              <a:rPr lang="en-US" dirty="0" smtClean="0"/>
              <a:t>.</a:t>
            </a:r>
          </a:p>
          <a:p>
            <a:r>
              <a:rPr lang="en-US" dirty="0" smtClean="0"/>
              <a:t> </a:t>
            </a:r>
            <a:r>
              <a:rPr lang="en-US" dirty="0"/>
              <a:t>In </a:t>
            </a:r>
            <a:r>
              <a:rPr lang="en-US" dirty="0" smtClean="0"/>
              <a:t>that situation</a:t>
            </a:r>
            <a:r>
              <a:rPr lang="en-US" dirty="0"/>
              <a:t>, a maintenance contract with next-day or 2-day response time is reasonable</a:t>
            </a:r>
          </a:p>
          <a:p>
            <a:r>
              <a:rPr lang="en-US" dirty="0"/>
              <a:t> </a:t>
            </a:r>
            <a:r>
              <a:rPr lang="en-US" b="1" dirty="0"/>
              <a:t>Large groups of similar servers</a:t>
            </a:r>
            <a:r>
              <a:rPr lang="en-US" i="1" dirty="0"/>
              <a:t>. </a:t>
            </a:r>
            <a:r>
              <a:rPr lang="en-US" dirty="0"/>
              <a:t>Sometimes, a site has many of the same type of machine, </a:t>
            </a:r>
            <a:r>
              <a:rPr lang="en-US" dirty="0" smtClean="0"/>
              <a:t>possibly offering </a:t>
            </a:r>
            <a:r>
              <a:rPr lang="en-US" dirty="0"/>
              <a:t>different kinds of services. </a:t>
            </a:r>
            <a:endParaRPr lang="en-US" dirty="0" smtClean="0"/>
          </a:p>
          <a:p>
            <a:r>
              <a:rPr lang="en-US" dirty="0" smtClean="0"/>
              <a:t>In </a:t>
            </a:r>
            <a:r>
              <a:rPr lang="en-US" dirty="0"/>
              <a:t>this case, it may be reasonable to purchase a spares kit </a:t>
            </a:r>
            <a:r>
              <a:rPr lang="en-US" dirty="0" smtClean="0"/>
              <a:t>so that </a:t>
            </a:r>
            <a:r>
              <a:rPr lang="en-US" dirty="0"/>
              <a:t>repairs can be done by local staff.</a:t>
            </a:r>
          </a:p>
          <a:p>
            <a:r>
              <a:rPr lang="en-US" dirty="0"/>
              <a:t> </a:t>
            </a:r>
            <a:r>
              <a:rPr lang="en-US" b="1" dirty="0"/>
              <a:t>Controlled introduction. </a:t>
            </a:r>
            <a:r>
              <a:rPr lang="en-US" dirty="0"/>
              <a:t>Technology improves over time, and sites eventually need to upgrade </a:t>
            </a:r>
            <a:r>
              <a:rPr lang="en-US" dirty="0" smtClean="0"/>
              <a:t>to newer </a:t>
            </a:r>
            <a:r>
              <a:rPr lang="en-US" dirty="0"/>
              <a:t>models, which may be out of scope for the spares kit. </a:t>
            </a:r>
            <a:endParaRPr lang="en-US" dirty="0" smtClean="0"/>
          </a:p>
          <a:p>
            <a:r>
              <a:rPr lang="en-US" dirty="0" smtClean="0"/>
              <a:t>In </a:t>
            </a:r>
            <a:r>
              <a:rPr lang="en-US" dirty="0"/>
              <a:t>this case, At the end of the </a:t>
            </a:r>
            <a:r>
              <a:rPr lang="en-US" dirty="0" smtClean="0"/>
              <a:t>period you </a:t>
            </a:r>
            <a:r>
              <a:rPr lang="en-US" dirty="0"/>
              <a:t>might approve a new model and purchase the appropriate spares kit </a:t>
            </a:r>
            <a:r>
              <a:rPr lang="en-US" dirty="0" smtClean="0"/>
              <a:t>.</a:t>
            </a:r>
            <a:r>
              <a:rPr lang="en-US" dirty="0"/>
              <a:t/>
            </a:r>
            <a:br>
              <a:rPr lang="en-US" dirty="0"/>
            </a:br>
            <a:endParaRPr lang="en-US" dirty="0"/>
          </a:p>
        </p:txBody>
      </p:sp>
    </p:spTree>
    <p:extLst>
      <p:ext uri="{BB962C8B-B14F-4D97-AF65-F5344CB8AC3E}">
        <p14:creationId xmlns:p14="http://schemas.microsoft.com/office/powerpoint/2010/main" val="15964980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356"/>
            <a:ext cx="10515600" cy="835377"/>
          </a:xfrm>
        </p:spPr>
        <p:txBody>
          <a:bodyPr>
            <a:normAutofit/>
          </a:bodyPr>
          <a:lstStyle/>
          <a:p>
            <a:endParaRPr lang="en-US" dirty="0"/>
          </a:p>
        </p:txBody>
      </p:sp>
      <p:sp>
        <p:nvSpPr>
          <p:cNvPr id="3" name="Content Placeholder 2"/>
          <p:cNvSpPr>
            <a:spLocks noGrp="1"/>
          </p:cNvSpPr>
          <p:nvPr>
            <p:ph idx="1"/>
          </p:nvPr>
        </p:nvSpPr>
        <p:spPr>
          <a:xfrm>
            <a:off x="838200" y="1275644"/>
            <a:ext cx="10515600" cy="4901319"/>
          </a:xfrm>
        </p:spPr>
        <p:txBody>
          <a:bodyPr>
            <a:normAutofit/>
          </a:bodyPr>
          <a:lstStyle/>
          <a:p>
            <a:r>
              <a:rPr lang="en-US" b="1" dirty="0"/>
              <a:t>Critical host. </a:t>
            </a:r>
            <a:r>
              <a:rPr lang="en-US" dirty="0"/>
              <a:t>It may be reasonable to stock spares for parts that commonly fail and otherwise </a:t>
            </a:r>
            <a:r>
              <a:rPr lang="en-US" dirty="0" smtClean="0"/>
              <a:t>pay for </a:t>
            </a:r>
            <a:r>
              <a:rPr lang="en-US" dirty="0"/>
              <a:t>a maintenance contract with same-day response</a:t>
            </a:r>
            <a:r>
              <a:rPr lang="en-US" dirty="0" smtClean="0"/>
              <a:t>.</a:t>
            </a:r>
          </a:p>
          <a:p>
            <a:r>
              <a:rPr lang="en-US" dirty="0" smtClean="0"/>
              <a:t> </a:t>
            </a:r>
            <a:r>
              <a:rPr lang="en-US" dirty="0"/>
              <a:t>Hard drives and power supplies </a:t>
            </a:r>
            <a:r>
              <a:rPr lang="en-US" dirty="0" smtClean="0"/>
              <a:t>commonly fail </a:t>
            </a:r>
            <a:r>
              <a:rPr lang="en-US" dirty="0"/>
              <a:t>and are often interchangeable among a number of products.</a:t>
            </a:r>
          </a:p>
          <a:p>
            <a:r>
              <a:rPr lang="en-US" dirty="0" smtClean="0"/>
              <a:t> </a:t>
            </a:r>
            <a:r>
              <a:rPr lang="en-US" b="1" dirty="0"/>
              <a:t>Large variety of models from same vendor. </a:t>
            </a:r>
            <a:r>
              <a:rPr lang="en-US" dirty="0"/>
              <a:t>A very large site may adopt a maintenance </a:t>
            </a:r>
            <a:r>
              <a:rPr lang="en-US" dirty="0" smtClean="0"/>
              <a:t>contract that </a:t>
            </a:r>
            <a:r>
              <a:rPr lang="en-US" dirty="0"/>
              <a:t>includes having an on-site technician. </a:t>
            </a:r>
            <a:endParaRPr lang="en-US" dirty="0" smtClean="0"/>
          </a:p>
          <a:p>
            <a:r>
              <a:rPr lang="en-US" dirty="0" smtClean="0"/>
              <a:t>This </a:t>
            </a:r>
            <a:r>
              <a:rPr lang="en-US" dirty="0"/>
              <a:t>option is usually justified only at a site that has </a:t>
            </a:r>
            <a:r>
              <a:rPr lang="en-US" dirty="0" smtClean="0"/>
              <a:t>an extremely </a:t>
            </a:r>
            <a:r>
              <a:rPr lang="en-US" dirty="0"/>
              <a:t>large numberofservers,orsiteswherethatvendor’sserversplayakeenrole related </a:t>
            </a:r>
            <a:r>
              <a:rPr lang="en-US" dirty="0" smtClean="0"/>
              <a:t>to revenue</a:t>
            </a:r>
            <a:r>
              <a:rPr lang="en-US" dirty="0"/>
              <a:t>. </a:t>
            </a:r>
            <a:br>
              <a:rPr lang="en-US" dirty="0"/>
            </a:br>
            <a:endParaRPr lang="en-US" dirty="0"/>
          </a:p>
        </p:txBody>
      </p:sp>
    </p:spTree>
    <p:extLst>
      <p:ext uri="{BB962C8B-B14F-4D97-AF65-F5344CB8AC3E}">
        <p14:creationId xmlns:p14="http://schemas.microsoft.com/office/powerpoint/2010/main" val="4002935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605719"/>
          </a:xfrm>
        </p:spPr>
        <p:txBody>
          <a:bodyPr>
            <a:normAutofit fontScale="90000"/>
          </a:bodyPr>
          <a:lstStyle/>
          <a:p>
            <a:endParaRPr lang="en-US" dirty="0"/>
          </a:p>
        </p:txBody>
      </p:sp>
      <p:sp>
        <p:nvSpPr>
          <p:cNvPr id="3" name="Content Placeholder 2"/>
          <p:cNvSpPr>
            <a:spLocks noGrp="1"/>
          </p:cNvSpPr>
          <p:nvPr>
            <p:ph idx="1"/>
          </p:nvPr>
        </p:nvSpPr>
        <p:spPr>
          <a:xfrm>
            <a:off x="838200" y="970844"/>
            <a:ext cx="10515600" cy="5206119"/>
          </a:xfrm>
        </p:spPr>
        <p:txBody>
          <a:bodyPr>
            <a:normAutofit/>
          </a:bodyPr>
          <a:lstStyle/>
          <a:p>
            <a:r>
              <a:rPr lang="en-US" b="1" dirty="0"/>
              <a:t>Highly critical host. </a:t>
            </a:r>
            <a:r>
              <a:rPr lang="en-US" dirty="0"/>
              <a:t>Some vendors offer a maintenance contract that provides an </a:t>
            </a:r>
            <a:r>
              <a:rPr lang="en-US" dirty="0" smtClean="0"/>
              <a:t>on-site technician </a:t>
            </a:r>
            <a:r>
              <a:rPr lang="en-US" dirty="0"/>
              <a:t>and a duplicate machine ready to be swapped into place. </a:t>
            </a:r>
            <a:endParaRPr lang="en-US" dirty="0" smtClean="0"/>
          </a:p>
          <a:p>
            <a:r>
              <a:rPr lang="en-US" dirty="0" smtClean="0"/>
              <a:t>This </a:t>
            </a:r>
            <a:r>
              <a:rPr lang="en-US" dirty="0"/>
              <a:t>is often as expensive </a:t>
            </a:r>
            <a:r>
              <a:rPr lang="en-US" dirty="0" smtClean="0"/>
              <a:t>as paying </a:t>
            </a:r>
            <a:r>
              <a:rPr lang="en-US" dirty="0"/>
              <a:t>for a redundant server but may make sense for some companies that are not </a:t>
            </a:r>
            <a:r>
              <a:rPr lang="en-US" dirty="0" smtClean="0"/>
              <a:t>highly technical</a:t>
            </a:r>
            <a:r>
              <a:rPr lang="en-US" dirty="0"/>
              <a:t>.</a:t>
            </a:r>
          </a:p>
          <a:p>
            <a:r>
              <a:rPr lang="en-US" dirty="0"/>
              <a:t>There is a trade-off between stocking spares and having a service contract. Stocking your own spares may be too expensive for a small site.</a:t>
            </a:r>
          </a:p>
          <a:p>
            <a:r>
              <a:rPr lang="en-US" dirty="0"/>
              <a:t>It is also good practice to review the service contract, at least annually if not quarterly, to ensure that new servers are added and retired servers are deleted. </a:t>
            </a:r>
            <a:br>
              <a:rPr lang="en-US" dirty="0"/>
            </a:br>
            <a:endParaRPr lang="en-US" dirty="0"/>
          </a:p>
        </p:txBody>
      </p:sp>
    </p:spTree>
    <p:extLst>
      <p:ext uri="{BB962C8B-B14F-4D97-AF65-F5344CB8AC3E}">
        <p14:creationId xmlns:p14="http://schemas.microsoft.com/office/powerpoint/2010/main" val="237943820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07319"/>
          </a:xfrm>
        </p:spPr>
        <p:txBody>
          <a:bodyPr>
            <a:normAutofit fontScale="90000"/>
          </a:bodyPr>
          <a:lstStyle/>
          <a:p>
            <a:endParaRPr lang="en-US" dirty="0"/>
          </a:p>
        </p:txBody>
      </p:sp>
      <p:sp>
        <p:nvSpPr>
          <p:cNvPr id="3" name="Content Placeholder 2"/>
          <p:cNvSpPr>
            <a:spLocks noGrp="1"/>
          </p:cNvSpPr>
          <p:nvPr>
            <p:ph idx="1"/>
          </p:nvPr>
        </p:nvSpPr>
        <p:spPr>
          <a:xfrm>
            <a:off x="838200" y="1174044"/>
            <a:ext cx="10515600" cy="5002919"/>
          </a:xfrm>
        </p:spPr>
        <p:txBody>
          <a:bodyPr>
            <a:normAutofit fontScale="92500" lnSpcReduction="20000"/>
          </a:bodyPr>
          <a:lstStyle/>
          <a:p>
            <a:r>
              <a:rPr lang="en-US" dirty="0"/>
              <a:t>There are three easy ways to prevent hosts from being left out of </a:t>
            </a:r>
            <a:r>
              <a:rPr lang="en-US" dirty="0" smtClean="0"/>
              <a:t>the contract</a:t>
            </a:r>
            <a:r>
              <a:rPr lang="en-US" dirty="0"/>
              <a:t>.</a:t>
            </a:r>
          </a:p>
          <a:p>
            <a:r>
              <a:rPr lang="en-US" dirty="0" smtClean="0"/>
              <a:t> </a:t>
            </a:r>
            <a:r>
              <a:rPr lang="en-US" dirty="0"/>
              <a:t>The first is to have a good inventory system and use it to cross-reference the service contract.</a:t>
            </a:r>
          </a:p>
          <a:p>
            <a:r>
              <a:rPr lang="en-US" dirty="0" smtClean="0"/>
              <a:t>The </a:t>
            </a:r>
            <a:r>
              <a:rPr lang="en-US" dirty="0"/>
              <a:t>second is to have the person responsible for processing purchases also add new machines </a:t>
            </a:r>
            <a:r>
              <a:rPr lang="en-US" dirty="0" smtClean="0"/>
              <a:t>to the </a:t>
            </a:r>
            <a:r>
              <a:rPr lang="en-US" dirty="0"/>
              <a:t>contract. </a:t>
            </a:r>
            <a:endParaRPr lang="en-US" dirty="0" smtClean="0"/>
          </a:p>
          <a:p>
            <a:r>
              <a:rPr lang="en-US" dirty="0" smtClean="0"/>
              <a:t>This </a:t>
            </a:r>
            <a:r>
              <a:rPr lang="en-US" dirty="0"/>
              <a:t>person should know whom to contact to determine the appropriate service</a:t>
            </a:r>
          </a:p>
          <a:p>
            <a:r>
              <a:rPr lang="en-US" dirty="0"/>
              <a:t>level.</a:t>
            </a:r>
          </a:p>
          <a:p>
            <a:r>
              <a:rPr lang="en-US" dirty="0" smtClean="0"/>
              <a:t> </a:t>
            </a:r>
            <a:r>
              <a:rPr lang="en-US" dirty="0"/>
              <a:t>Third, you should fix a common problem caused by warranties contact to determine </a:t>
            </a:r>
            <a:r>
              <a:rPr lang="en-US" dirty="0" smtClean="0"/>
              <a:t>the appropriate </a:t>
            </a:r>
            <a:r>
              <a:rPr lang="en-US" dirty="0"/>
              <a:t>service level.</a:t>
            </a:r>
          </a:p>
          <a:p>
            <a:r>
              <a:rPr lang="en-US" dirty="0"/>
              <a:t>When a server has hardware problems and replacement parts are needed, some vendors require the old, broken part to be returned to them. </a:t>
            </a:r>
            <a:endParaRPr lang="en-US" dirty="0" smtClean="0"/>
          </a:p>
          <a:p>
            <a:r>
              <a:rPr lang="en-US" dirty="0" smtClean="0"/>
              <a:t>This </a:t>
            </a:r>
            <a:r>
              <a:rPr lang="en-US" dirty="0"/>
              <a:t>makes sense if the replacement is being done at no charge as part of a warranty or service contract. </a:t>
            </a:r>
            <a:br>
              <a:rPr lang="en-US" dirty="0"/>
            </a:br>
            <a:endParaRPr lang="en-US" dirty="0"/>
          </a:p>
        </p:txBody>
      </p:sp>
    </p:spTree>
    <p:extLst>
      <p:ext uri="{BB962C8B-B14F-4D97-AF65-F5344CB8AC3E}">
        <p14:creationId xmlns:p14="http://schemas.microsoft.com/office/powerpoint/2010/main" val="357574717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966964"/>
          </a:xfrm>
        </p:spPr>
        <p:txBody>
          <a:bodyPr/>
          <a:lstStyle/>
          <a:p>
            <a:r>
              <a:rPr lang="en-US" b="1" dirty="0"/>
              <a:t>Maintaining Data Integrity:</a:t>
            </a:r>
            <a:r>
              <a:rPr lang="en-US" dirty="0"/>
              <a:t> </a:t>
            </a:r>
          </a:p>
        </p:txBody>
      </p:sp>
      <p:sp>
        <p:nvSpPr>
          <p:cNvPr id="3" name="Content Placeholder 2"/>
          <p:cNvSpPr>
            <a:spLocks noGrp="1"/>
          </p:cNvSpPr>
          <p:nvPr>
            <p:ph idx="1"/>
          </p:nvPr>
        </p:nvSpPr>
        <p:spPr>
          <a:xfrm>
            <a:off x="838200" y="1456266"/>
            <a:ext cx="10515600" cy="5023555"/>
          </a:xfrm>
        </p:spPr>
        <p:txBody>
          <a:bodyPr/>
          <a:lstStyle/>
          <a:p>
            <a:r>
              <a:rPr lang="en-US" dirty="0"/>
              <a:t>Servers have critical data and unique configurations that must be protected.</a:t>
            </a:r>
          </a:p>
          <a:p>
            <a:r>
              <a:rPr lang="en-US" dirty="0"/>
              <a:t>Data integrity refers to the reliability and trustworthiness of data throughout its lifecycle. It can describe the state of your data</a:t>
            </a:r>
            <a:r>
              <a:rPr lang="en-US" dirty="0" smtClean="0"/>
              <a:t>—</a:t>
            </a:r>
          </a:p>
          <a:p>
            <a:r>
              <a:rPr lang="en-US" dirty="0" smtClean="0"/>
              <a:t>e.g. </a:t>
            </a:r>
            <a:r>
              <a:rPr lang="en-US" dirty="0"/>
              <a:t>valid or invalid </a:t>
            </a:r>
            <a:endParaRPr lang="en-US" dirty="0" smtClean="0"/>
          </a:p>
          <a:p>
            <a:r>
              <a:rPr lang="en-US" dirty="0"/>
              <a:t>the process of ensuring and preserving the validity and accuracy of data. </a:t>
            </a:r>
            <a:endParaRPr lang="en-US" dirty="0" smtClean="0"/>
          </a:p>
          <a:p>
            <a:r>
              <a:rPr lang="en-US" dirty="0" smtClean="0"/>
              <a:t>Error </a:t>
            </a:r>
            <a:r>
              <a:rPr lang="en-US" dirty="0"/>
              <a:t>checking and validation, for example, are common methods for ensuring data integrity as part of a process. </a:t>
            </a:r>
            <a:br>
              <a:rPr lang="en-US" dirty="0"/>
            </a:br>
            <a:r>
              <a:rPr lang="en-US" dirty="0"/>
              <a:t/>
            </a:r>
            <a:br>
              <a:rPr lang="en-US" dirty="0"/>
            </a:br>
            <a:endParaRPr lang="en-US" dirty="0"/>
          </a:p>
        </p:txBody>
      </p:sp>
    </p:spTree>
    <p:extLst>
      <p:ext uri="{BB962C8B-B14F-4D97-AF65-F5344CB8AC3E}">
        <p14:creationId xmlns:p14="http://schemas.microsoft.com/office/powerpoint/2010/main" val="2241513415"/>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5053"/>
          </a:xfrm>
        </p:spPr>
        <p:txBody>
          <a:bodyPr>
            <a:normAutofit/>
          </a:bodyPr>
          <a:lstStyle/>
          <a:p>
            <a:r>
              <a:rPr lang="en-US" b="1" dirty="0"/>
              <a:t>Maintaining Data Integrity:</a:t>
            </a:r>
            <a:r>
              <a:rPr lang="en-US" dirty="0"/>
              <a:t> </a:t>
            </a:r>
          </a:p>
        </p:txBody>
      </p:sp>
      <p:sp>
        <p:nvSpPr>
          <p:cNvPr id="3" name="Content Placeholder 2"/>
          <p:cNvSpPr>
            <a:spLocks noGrp="1"/>
          </p:cNvSpPr>
          <p:nvPr>
            <p:ph idx="1"/>
          </p:nvPr>
        </p:nvSpPr>
        <p:spPr>
          <a:xfrm>
            <a:off x="462843" y="1309512"/>
            <a:ext cx="11209867" cy="5271910"/>
          </a:xfrm>
        </p:spPr>
        <p:txBody>
          <a:bodyPr>
            <a:normAutofit lnSpcReduction="10000"/>
          </a:bodyPr>
          <a:lstStyle/>
          <a:p>
            <a:r>
              <a:rPr lang="en-US" dirty="0"/>
              <a:t>People will always store some data on their local machines, software will be installed locally, and OSs will store some configuration data locally.</a:t>
            </a:r>
          </a:p>
          <a:p>
            <a:r>
              <a:rPr lang="en-US" dirty="0"/>
              <a:t>Data integrity can be compromised through human error or, worse yet, through malicious acts. </a:t>
            </a:r>
            <a:endParaRPr lang="en-US" dirty="0" smtClean="0"/>
          </a:p>
          <a:p>
            <a:r>
              <a:rPr lang="en-US" dirty="0" smtClean="0"/>
              <a:t>Data that’s accidentally altered during the transfer from one device to another, for example, can be </a:t>
            </a:r>
            <a:r>
              <a:rPr lang="en-US" dirty="0"/>
              <a:t>compromised, or even destroyed by hackers </a:t>
            </a:r>
            <a:br>
              <a:rPr lang="en-US" dirty="0"/>
            </a:br>
            <a:r>
              <a:rPr lang="en-US" dirty="0"/>
              <a:t>Common threats that can alter the state of data integrity include:</a:t>
            </a:r>
          </a:p>
          <a:p>
            <a:r>
              <a:rPr lang="en-US" dirty="0"/>
              <a:t> Human error</a:t>
            </a:r>
          </a:p>
          <a:p>
            <a:r>
              <a:rPr lang="en-US" dirty="0"/>
              <a:t> Unintended transfer errors</a:t>
            </a:r>
          </a:p>
          <a:p>
            <a:r>
              <a:rPr lang="en-US" dirty="0"/>
              <a:t> Misconfigurations and security </a:t>
            </a:r>
            <a:r>
              <a:rPr lang="en-US" dirty="0" smtClean="0"/>
              <a:t>errors</a:t>
            </a:r>
            <a:r>
              <a:rPr lang="en-US" dirty="0"/>
              <a:t/>
            </a:r>
            <a:br>
              <a:rPr lang="en-US" dirty="0"/>
            </a:br>
            <a:r>
              <a:rPr lang="en-US" dirty="0"/>
              <a:t>Malware, insider threats, and cyber </a:t>
            </a:r>
            <a:r>
              <a:rPr lang="en-US" dirty="0" smtClean="0"/>
              <a:t>attacks</a:t>
            </a:r>
          </a:p>
          <a:p>
            <a:r>
              <a:rPr lang="en-US" dirty="0" smtClean="0"/>
              <a:t>  </a:t>
            </a:r>
            <a:r>
              <a:rPr lang="en-US" dirty="0"/>
              <a:t>Compromised hardware </a:t>
            </a:r>
            <a:br>
              <a:rPr lang="en-US" dirty="0"/>
            </a:br>
            <a:endParaRPr lang="en-US" dirty="0"/>
          </a:p>
        </p:txBody>
      </p:sp>
    </p:spTree>
    <p:extLst>
      <p:ext uri="{BB962C8B-B14F-4D97-AF65-F5344CB8AC3E}">
        <p14:creationId xmlns:p14="http://schemas.microsoft.com/office/powerpoint/2010/main" val="22122144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Put Servers in the Data Center:</a:t>
            </a:r>
            <a:r>
              <a:rPr lang="en-US" sz="4000" dirty="0"/>
              <a:t> </a:t>
            </a:r>
          </a:p>
        </p:txBody>
      </p:sp>
      <p:sp>
        <p:nvSpPr>
          <p:cNvPr id="3" name="Content Placeholder 2"/>
          <p:cNvSpPr>
            <a:spLocks noGrp="1"/>
          </p:cNvSpPr>
          <p:nvPr>
            <p:ph idx="1"/>
          </p:nvPr>
        </p:nvSpPr>
        <p:spPr/>
        <p:txBody>
          <a:bodyPr>
            <a:normAutofit fontScale="92500" lnSpcReduction="20000"/>
          </a:bodyPr>
          <a:lstStyle/>
          <a:p>
            <a:r>
              <a:rPr lang="en-US" dirty="0"/>
              <a:t>Data centers are physical or virtual infrastructure used by enterprises to house</a:t>
            </a:r>
          </a:p>
          <a:p>
            <a:r>
              <a:rPr lang="en-US" dirty="0"/>
              <a:t>computer, server and networking systems and components for the company's information technology (IT) </a:t>
            </a:r>
            <a:r>
              <a:rPr lang="en-US" dirty="0" smtClean="0"/>
              <a:t>needs</a:t>
            </a:r>
          </a:p>
          <a:p>
            <a:r>
              <a:rPr lang="en-US" dirty="0" smtClean="0"/>
              <a:t> </a:t>
            </a:r>
            <a:r>
              <a:rPr lang="en-US" dirty="0"/>
              <a:t>which typically involve storing, processing and serving large amounts of </a:t>
            </a:r>
            <a:r>
              <a:rPr lang="en-US" dirty="0" smtClean="0"/>
              <a:t>mission critical </a:t>
            </a:r>
            <a:r>
              <a:rPr lang="en-US" dirty="0"/>
              <a:t>data to clients in a client/server architecture. </a:t>
            </a:r>
            <a:endParaRPr lang="en-US" dirty="0" smtClean="0"/>
          </a:p>
          <a:p>
            <a:r>
              <a:rPr lang="en-US" dirty="0"/>
              <a:t>A data center often requires extensive redundant or backup power supply systems, cooling systems, redundant networking connections and policy-based security systems for running the enterprise's </a:t>
            </a:r>
            <a:r>
              <a:rPr lang="en-US" dirty="0" smtClean="0"/>
              <a:t>core applications</a:t>
            </a:r>
            <a:r>
              <a:rPr lang="en-US" dirty="0"/>
              <a:t>. </a:t>
            </a:r>
            <a:br>
              <a:rPr lang="en-US" dirty="0"/>
            </a:br>
            <a:r>
              <a:rPr lang="en-US" dirty="0"/>
              <a:t/>
            </a:r>
            <a:br>
              <a:rPr lang="en-US" dirty="0"/>
            </a:br>
            <a:endParaRPr lang="en-US" dirty="0"/>
          </a:p>
        </p:txBody>
      </p:sp>
    </p:spTree>
    <p:extLst>
      <p:ext uri="{BB962C8B-B14F-4D97-AF65-F5344CB8AC3E}">
        <p14:creationId xmlns:p14="http://schemas.microsoft.com/office/powerpoint/2010/main" val="315571152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587022"/>
            <a:ext cx="10515600" cy="508000"/>
          </a:xfrm>
        </p:spPr>
        <p:txBody>
          <a:bodyPr>
            <a:normAutofit fontScale="90000"/>
          </a:bodyPr>
          <a:lstStyle/>
          <a:p>
            <a:r>
              <a:rPr lang="en-US" b="1" dirty="0"/>
              <a:t>Provide Remote Console Access:</a:t>
            </a:r>
            <a:r>
              <a:rPr lang="en-US" dirty="0"/>
              <a:t> </a:t>
            </a:r>
            <a:br>
              <a:rPr lang="en-US" dirty="0"/>
            </a:br>
            <a:endParaRPr lang="en-US" dirty="0"/>
          </a:p>
        </p:txBody>
      </p:sp>
      <p:sp>
        <p:nvSpPr>
          <p:cNvPr id="3" name="Content Placeholder 2"/>
          <p:cNvSpPr>
            <a:spLocks noGrp="1"/>
          </p:cNvSpPr>
          <p:nvPr>
            <p:ph idx="1"/>
          </p:nvPr>
        </p:nvSpPr>
        <p:spPr>
          <a:xfrm>
            <a:off x="838200" y="1095022"/>
            <a:ext cx="10515600" cy="5081941"/>
          </a:xfrm>
        </p:spPr>
        <p:txBody>
          <a:bodyPr/>
          <a:lstStyle/>
          <a:p>
            <a:r>
              <a:rPr lang="en-US" dirty="0"/>
              <a:t>Remote access to consoles provides cost savings and improves safety factors for SAs.</a:t>
            </a:r>
          </a:p>
          <a:p>
            <a:r>
              <a:rPr lang="en-US" dirty="0"/>
              <a:t>When purchasing a server, you should expect remote console access. If the vendor is not responsive to this need, you should look elsewhere for equipment. </a:t>
            </a:r>
            <a:br>
              <a:rPr lang="en-US" dirty="0"/>
            </a:br>
            <a:r>
              <a:rPr lang="en-US" dirty="0"/>
              <a:t>Network management software programs such as Open view or Solar Winds allow administrators to access network devices remotely. </a:t>
            </a:r>
            <a:endParaRPr lang="en-US" dirty="0" smtClean="0"/>
          </a:p>
          <a:p>
            <a:r>
              <a:rPr lang="en-US" dirty="0" smtClean="0"/>
              <a:t>These </a:t>
            </a:r>
            <a:r>
              <a:rPr lang="en-US" dirty="0"/>
              <a:t>tools are designed to operate across a wide range of equipment—such as PCs, printers, servers, switches, routers and wireless access points—from many different </a:t>
            </a:r>
            <a:r>
              <a:rPr lang="en-US" dirty="0" smtClean="0"/>
              <a:t>vendors. </a:t>
            </a:r>
            <a:r>
              <a:rPr lang="en-US" dirty="0"/>
              <a:t/>
            </a:r>
            <a:br>
              <a:rPr lang="en-US" dirty="0"/>
            </a:br>
            <a:endParaRPr lang="en-US" dirty="0"/>
          </a:p>
        </p:txBody>
      </p:sp>
    </p:spTree>
    <p:extLst>
      <p:ext uri="{BB962C8B-B14F-4D97-AF65-F5344CB8AC3E}">
        <p14:creationId xmlns:p14="http://schemas.microsoft.com/office/powerpoint/2010/main" val="68018484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normAutofit fontScale="77500" lnSpcReduction="20000"/>
          </a:bodyPr>
          <a:lstStyle/>
          <a:p>
            <a:r>
              <a:rPr lang="en-US" dirty="0"/>
              <a:t>Console servers give system administrators access to a failed device through an out-of-band connection (OOB). </a:t>
            </a:r>
            <a:endParaRPr lang="en-US" dirty="0" smtClean="0"/>
          </a:p>
          <a:p>
            <a:r>
              <a:rPr lang="en-US" dirty="0" smtClean="0"/>
              <a:t>OOB </a:t>
            </a:r>
            <a:r>
              <a:rPr lang="en-US" dirty="0"/>
              <a:t>availability allows you to access your network devices even if your network is down, via the interne </a:t>
            </a:r>
            <a:endParaRPr lang="en-US" dirty="0" smtClean="0"/>
          </a:p>
          <a:p>
            <a:r>
              <a:rPr lang="en-US" dirty="0"/>
              <a:t>Console servers are a good solution for large distributed enterprises with multiple branches — </a:t>
            </a:r>
            <a:endParaRPr lang="en-US" dirty="0" smtClean="0"/>
          </a:p>
          <a:p>
            <a:r>
              <a:rPr lang="en-US" dirty="0" smtClean="0"/>
              <a:t>such </a:t>
            </a:r>
            <a:r>
              <a:rPr lang="en-US" dirty="0"/>
              <a:t>as banks, insurance companies, hospitals, utilities, military divisions and school systems </a:t>
            </a:r>
            <a:r>
              <a:rPr lang="en-US" dirty="0" smtClean="0"/>
              <a:t>—</a:t>
            </a:r>
          </a:p>
          <a:p>
            <a:r>
              <a:rPr lang="en-US" dirty="0" smtClean="0"/>
              <a:t> </a:t>
            </a:r>
            <a:r>
              <a:rPr lang="en-US" dirty="0"/>
              <a:t>that do not have servers and IT staff on-site. </a:t>
            </a:r>
            <a:br>
              <a:rPr lang="en-US" dirty="0"/>
            </a:br>
            <a:r>
              <a:rPr lang="en-US" dirty="0"/>
              <a:t/>
            </a:r>
            <a:br>
              <a:rPr lang="en-US" dirty="0"/>
            </a:br>
            <a:endParaRPr lang="en-US" dirty="0"/>
          </a:p>
        </p:txBody>
      </p:sp>
    </p:spTree>
    <p:extLst>
      <p:ext uri="{BB962C8B-B14F-4D97-AF65-F5344CB8AC3E}">
        <p14:creationId xmlns:p14="http://schemas.microsoft.com/office/powerpoint/2010/main" val="4143030599"/>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endParaRPr lang="en-US" dirty="0"/>
          </a:p>
        </p:txBody>
      </p:sp>
      <p:sp>
        <p:nvSpPr>
          <p:cNvPr id="3" name="Content Placeholder 2"/>
          <p:cNvSpPr>
            <a:spLocks noGrp="1"/>
          </p:cNvSpPr>
          <p:nvPr>
            <p:ph idx="1"/>
          </p:nvPr>
        </p:nvSpPr>
        <p:spPr/>
        <p:txBody>
          <a:bodyPr/>
          <a:lstStyle/>
          <a:p>
            <a:r>
              <a:rPr lang="en-US" dirty="0"/>
              <a:t>Console servers can save you time and money by ensuring high availability of your IT systems and safeguarding your business continuity. </a:t>
            </a:r>
            <a:endParaRPr lang="en-US" dirty="0" smtClean="0"/>
          </a:p>
          <a:p>
            <a:r>
              <a:rPr lang="en-US" dirty="0" smtClean="0"/>
              <a:t>Remote </a:t>
            </a:r>
            <a:r>
              <a:rPr lang="en-US" dirty="0"/>
              <a:t>management and troubleshooting provide for quick disaster recovery after power outages, and they eliminate the need to send personnel on-site in response to issues</a:t>
            </a:r>
            <a:r>
              <a:rPr lang="en-US" dirty="0" smtClean="0"/>
              <a:t>—</a:t>
            </a:r>
          </a:p>
          <a:p>
            <a:r>
              <a:rPr lang="en-US" dirty="0" smtClean="0"/>
              <a:t>saving </a:t>
            </a:r>
            <a:r>
              <a:rPr lang="en-US" dirty="0"/>
              <a:t>you additional costs in time and travel. </a:t>
            </a:r>
            <a:br>
              <a:rPr lang="en-US" dirty="0"/>
            </a:br>
            <a:endParaRPr lang="en-US" dirty="0"/>
          </a:p>
        </p:txBody>
      </p:sp>
    </p:spTree>
    <p:extLst>
      <p:ext uri="{BB962C8B-B14F-4D97-AF65-F5344CB8AC3E}">
        <p14:creationId xmlns:p14="http://schemas.microsoft.com/office/powerpoint/2010/main" val="2995855739"/>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659</TotalTime>
  <Words>1819</Words>
  <Application>Microsoft Office PowerPoint</Application>
  <PresentationFormat>Widescreen</PresentationFormat>
  <Paragraphs>113</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Garamond</vt:lpstr>
      <vt:lpstr>Wingdings</vt:lpstr>
      <vt:lpstr>Organic</vt:lpstr>
      <vt:lpstr>Server, Reliable product Remote Access </vt:lpstr>
      <vt:lpstr>What is a Server?  </vt:lpstr>
      <vt:lpstr>Types of servers </vt:lpstr>
      <vt:lpstr>PowerPoint Presentation</vt:lpstr>
      <vt:lpstr>Choosing the right server </vt:lpstr>
      <vt:lpstr>Choose Vendors Known for Reliable Products:  </vt:lpstr>
      <vt:lpstr>Understand the Cost of Server Hardware: </vt:lpstr>
      <vt:lpstr>Server Hardware</vt:lpstr>
      <vt:lpstr>Cost of server operating system and application-</vt:lpstr>
      <vt:lpstr>Server admin cost </vt:lpstr>
      <vt:lpstr>Consider Maintenance Contracts and Spare Parts </vt:lpstr>
      <vt:lpstr>Following are some reasonable scenarios for picking appropriate maintenance contracts </vt:lpstr>
      <vt:lpstr>PowerPoint Presentation</vt:lpstr>
      <vt:lpstr>PowerPoint Presentation</vt:lpstr>
      <vt:lpstr>PowerPoint Presentation</vt:lpstr>
      <vt:lpstr>Maintaining Data Integrity: </vt:lpstr>
      <vt:lpstr>Maintaining Data Integrity: </vt:lpstr>
      <vt:lpstr>Put Servers in the Data Center: </vt:lpstr>
      <vt:lpstr>Provide Remote Console Access:  </vt:lpstr>
      <vt:lpstr>.</vt:lpstr>
      <vt:lpst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 Environment (Microsoft and Linux)</dc:title>
  <dc:creator>Windows User</dc:creator>
  <cp:lastModifiedBy>CGS COMPUTERS</cp:lastModifiedBy>
  <cp:revision>15</cp:revision>
  <dcterms:created xsi:type="dcterms:W3CDTF">2024-06-02T17:26:43Z</dcterms:created>
  <dcterms:modified xsi:type="dcterms:W3CDTF">2026-03-25T09:53:25Z</dcterms:modified>
</cp:coreProperties>
</file>