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5" d="100"/>
          <a:sy n="85" d="100"/>
        </p:scale>
        <p:origin x="1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AF0AE5-7F43-4D2F-B894-FA88E389804E}"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3200547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AF0AE5-7F43-4D2F-B894-FA88E389804E}"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3479963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3AF0AE5-7F43-4D2F-B894-FA88E389804E}"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758799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AF0AE5-7F43-4D2F-B894-FA88E389804E}"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1586439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3AF0AE5-7F43-4D2F-B894-FA88E389804E}" type="datetimeFigureOut">
              <a:rPr lang="en-US" smtClean="0"/>
              <a:t>3/26/2025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2598774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AF0AE5-7F43-4D2F-B894-FA88E389804E}" type="datetimeFigureOut">
              <a:rPr lang="en-US" smtClean="0"/>
              <a:t>3/26/2025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2425233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AF0AE5-7F43-4D2F-B894-FA88E389804E}" type="datetimeFigureOut">
              <a:rPr lang="en-US" smtClean="0"/>
              <a:t>3/26/2025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262006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AF0AE5-7F43-4D2F-B894-FA88E389804E}"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2657626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3AF0AE5-7F43-4D2F-B894-FA88E389804E}" type="datetimeFigureOut">
              <a:rPr lang="en-US" smtClean="0"/>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141408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AF0AE5-7F43-4D2F-B894-FA88E389804E}"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186213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AF0AE5-7F43-4D2F-B894-FA88E389804E}"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B6A4E-E709-4E92-928A-E125DD49FA2B}" type="slidenum">
              <a:rPr lang="en-US" smtClean="0"/>
              <a:t>‹#›</a:t>
            </a:fld>
            <a:endParaRPr lang="en-US"/>
          </a:p>
        </p:txBody>
      </p:sp>
    </p:spTree>
    <p:extLst>
      <p:ext uri="{BB962C8B-B14F-4D97-AF65-F5344CB8AC3E}">
        <p14:creationId xmlns:p14="http://schemas.microsoft.com/office/powerpoint/2010/main" val="1241912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F0AE5-7F43-4D2F-B894-FA88E389804E}" type="datetimeFigureOut">
              <a:rPr lang="en-US" smtClean="0"/>
              <a:t>3/26/2025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6B6A4E-E709-4E92-928A-E125DD49FA2B}" type="slidenum">
              <a:rPr lang="en-US" smtClean="0"/>
              <a:t>‹#›</a:t>
            </a:fld>
            <a:endParaRPr lang="en-US"/>
          </a:p>
        </p:txBody>
      </p:sp>
    </p:spTree>
    <p:extLst>
      <p:ext uri="{BB962C8B-B14F-4D97-AF65-F5344CB8AC3E}">
        <p14:creationId xmlns:p14="http://schemas.microsoft.com/office/powerpoint/2010/main" val="141863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Comparative Analysis of most </a:t>
            </a:r>
            <a:r>
              <a:rPr lang="en-US" b="1" dirty="0" smtClean="0"/>
              <a:t>Demanded </a:t>
            </a:r>
            <a:r>
              <a:rPr lang="en-US" b="1" dirty="0"/>
              <a:t>OS</a:t>
            </a:r>
            <a:r>
              <a:rPr lang="en-US" dirty="0" smtClean="0"/>
              <a:t> </a:t>
            </a:r>
            <a:br>
              <a:rPr lang="en-US" dirty="0" smtClean="0"/>
            </a:br>
            <a:endParaRPr lang="en-US" dirty="0"/>
          </a:p>
        </p:txBody>
      </p:sp>
      <p:sp>
        <p:nvSpPr>
          <p:cNvPr id="3" name="Subtitle 2"/>
          <p:cNvSpPr>
            <a:spLocks noGrp="1"/>
          </p:cNvSpPr>
          <p:nvPr>
            <p:ph type="subTitle" idx="1"/>
          </p:nvPr>
        </p:nvSpPr>
        <p:spPr/>
        <p:txBody>
          <a:bodyPr/>
          <a:lstStyle/>
          <a:p>
            <a:r>
              <a:rPr lang="en-US" dirty="0" smtClean="0"/>
              <a:t>System and network Admin</a:t>
            </a:r>
            <a:endParaRPr lang="en-US" dirty="0"/>
          </a:p>
        </p:txBody>
      </p:sp>
    </p:spTree>
    <p:extLst>
      <p:ext uri="{BB962C8B-B14F-4D97-AF65-F5344CB8AC3E}">
        <p14:creationId xmlns:p14="http://schemas.microsoft.com/office/powerpoint/2010/main" val="31129296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8919"/>
          </a:xfrm>
        </p:spPr>
        <p:txBody>
          <a:bodyPr>
            <a:normAutofit fontScale="90000"/>
          </a:bodyPr>
          <a:lstStyle/>
          <a:p>
            <a:r>
              <a:rPr lang="en-US" b="1" dirty="0"/>
              <a:t>What is the operating system?</a:t>
            </a:r>
            <a:r>
              <a:rPr lang="en-US" dirty="0" smtClean="0"/>
              <a:t> </a:t>
            </a:r>
            <a:br>
              <a:rPr lang="en-US" dirty="0" smtClean="0"/>
            </a:br>
            <a:endParaRPr lang="en-US" dirty="0"/>
          </a:p>
        </p:txBody>
      </p:sp>
      <p:sp>
        <p:nvSpPr>
          <p:cNvPr id="3" name="Content Placeholder 2"/>
          <p:cNvSpPr>
            <a:spLocks noGrp="1"/>
          </p:cNvSpPr>
          <p:nvPr>
            <p:ph idx="1"/>
          </p:nvPr>
        </p:nvSpPr>
        <p:spPr>
          <a:xfrm>
            <a:off x="838200" y="959556"/>
            <a:ext cx="10515600" cy="5217407"/>
          </a:xfrm>
        </p:spPr>
        <p:txBody>
          <a:bodyPr/>
          <a:lstStyle/>
          <a:p>
            <a:r>
              <a:rPr lang="en-US" dirty="0"/>
              <a:t>A program that controls the execution of application programs and provide An interface between user and hardware. Makes the computer more convenient to use and manages the resources of the computer. It Acts like a real world Government.</a:t>
            </a:r>
          </a:p>
          <a:p>
            <a:r>
              <a:rPr lang="en-US" dirty="0"/>
              <a:t>The operating system manages a computer's hardware resources, including:</a:t>
            </a:r>
          </a:p>
          <a:p>
            <a:r>
              <a:rPr lang="en-US" dirty="0"/>
              <a:t> Input devices such as a keyboard and mouse</a:t>
            </a:r>
          </a:p>
          <a:p>
            <a:r>
              <a:rPr lang="en-US" dirty="0"/>
              <a:t> Output devices such as display monitors, printers and scanners</a:t>
            </a:r>
          </a:p>
          <a:p>
            <a:r>
              <a:rPr lang="en-US" dirty="0"/>
              <a:t> Network devices such as modems, routers and network connections</a:t>
            </a:r>
          </a:p>
          <a:p>
            <a:r>
              <a:rPr lang="en-US" dirty="0"/>
              <a:t> Storage devices such as internal and external drives</a:t>
            </a:r>
            <a:r>
              <a:rPr lang="en-US" dirty="0" smtClean="0"/>
              <a:t> </a:t>
            </a:r>
            <a:br>
              <a:rPr lang="en-US" dirty="0" smtClean="0"/>
            </a:br>
            <a:endParaRPr lang="en-US" dirty="0"/>
          </a:p>
        </p:txBody>
      </p:sp>
    </p:spTree>
    <p:extLst>
      <p:ext uri="{BB962C8B-B14F-4D97-AF65-F5344CB8AC3E}">
        <p14:creationId xmlns:p14="http://schemas.microsoft.com/office/powerpoint/2010/main" val="18197891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8608"/>
          </a:xfrm>
        </p:spPr>
        <p:txBody>
          <a:bodyPr/>
          <a:lstStyle/>
          <a:p>
            <a:r>
              <a:rPr lang="en-US" b="1" dirty="0"/>
              <a:t>operating system </a:t>
            </a:r>
            <a:r>
              <a:rPr lang="en-US" dirty="0"/>
              <a:t>and </a:t>
            </a:r>
            <a:r>
              <a:rPr lang="en-US" b="1" dirty="0"/>
              <a:t>networking</a:t>
            </a:r>
            <a:r>
              <a:rPr lang="en-US" dirty="0" smtClean="0"/>
              <a:t> </a:t>
            </a:r>
            <a:endParaRPr lang="en-US" dirty="0"/>
          </a:p>
        </p:txBody>
      </p:sp>
      <p:sp>
        <p:nvSpPr>
          <p:cNvPr id="3" name="Content Placeholder 2"/>
          <p:cNvSpPr>
            <a:spLocks noGrp="1"/>
          </p:cNvSpPr>
          <p:nvPr>
            <p:ph idx="1"/>
          </p:nvPr>
        </p:nvSpPr>
        <p:spPr>
          <a:xfrm>
            <a:off x="838200" y="1083734"/>
            <a:ext cx="10515600" cy="5093229"/>
          </a:xfrm>
        </p:spPr>
        <p:txBody>
          <a:bodyPr/>
          <a:lstStyle/>
          <a:p>
            <a:r>
              <a:rPr lang="en-US" dirty="0"/>
              <a:t>An operating system oriented to computer networking, to allow shared file and printer access</a:t>
            </a:r>
          </a:p>
          <a:p>
            <a:r>
              <a:rPr lang="en-US" dirty="0"/>
              <a:t>among multiple computers in a network, to enable the sharing of data, users, groups, security, applications, and other networking functions, typically over a local area network (LAN), or private network.</a:t>
            </a:r>
          </a:p>
          <a:p>
            <a:r>
              <a:rPr lang="en-US" dirty="0"/>
              <a:t> </a:t>
            </a:r>
            <a:r>
              <a:rPr lang="en-US" b="1" dirty="0"/>
              <a:t>most demanded OS:</a:t>
            </a:r>
          </a:p>
          <a:p>
            <a:r>
              <a:rPr lang="en-US" dirty="0"/>
              <a:t>Today, many different versions of Windows, </a:t>
            </a:r>
            <a:r>
              <a:rPr lang="en-US" dirty="0" err="1"/>
              <a:t>macOS</a:t>
            </a:r>
            <a:r>
              <a:rPr lang="en-US" dirty="0"/>
              <a:t>, Linux, and mobile operating systems are available. The three most common operating systems for personal computers are </a:t>
            </a:r>
            <a:r>
              <a:rPr lang="en-US" b="1" dirty="0"/>
              <a:t>Microsoft Windows</a:t>
            </a:r>
            <a:r>
              <a:rPr lang="en-US" dirty="0"/>
              <a:t>, </a:t>
            </a:r>
            <a:r>
              <a:rPr lang="en-US" b="1" dirty="0"/>
              <a:t>Mac OS X</a:t>
            </a:r>
            <a:r>
              <a:rPr lang="en-US" dirty="0"/>
              <a:t>, </a:t>
            </a:r>
            <a:r>
              <a:rPr lang="en-US" b="1" dirty="0"/>
              <a:t>DOS </a:t>
            </a:r>
            <a:r>
              <a:rPr lang="en-US" dirty="0"/>
              <a:t>and </a:t>
            </a:r>
            <a:r>
              <a:rPr lang="en-US" b="1" dirty="0"/>
              <a:t>Linux</a:t>
            </a:r>
            <a:r>
              <a:rPr lang="en-US" dirty="0"/>
              <a:t>.</a:t>
            </a:r>
            <a:r>
              <a:rPr lang="en-US" dirty="0" smtClean="0"/>
              <a:t> </a:t>
            </a:r>
            <a:br>
              <a:rPr lang="en-US" dirty="0" smtClean="0"/>
            </a:br>
            <a:endParaRPr lang="en-US" dirty="0"/>
          </a:p>
        </p:txBody>
      </p:sp>
    </p:spTree>
    <p:extLst>
      <p:ext uri="{BB962C8B-B14F-4D97-AF65-F5344CB8AC3E}">
        <p14:creationId xmlns:p14="http://schemas.microsoft.com/office/powerpoint/2010/main" val="29247633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5067"/>
            <a:ext cx="10515600" cy="169333"/>
          </a:xfrm>
        </p:spPr>
        <p:txBody>
          <a:bodyPr>
            <a:normAutofit fontScale="90000"/>
          </a:bodyPr>
          <a:lstStyle/>
          <a:p>
            <a:r>
              <a:rPr lang="en-US" b="1" dirty="0"/>
              <a:t>Microsoft Windows:</a:t>
            </a:r>
            <a:r>
              <a:rPr lang="en-US" dirty="0" smtClean="0"/>
              <a:t> </a:t>
            </a:r>
            <a:br>
              <a:rPr lang="en-US" dirty="0" smtClean="0"/>
            </a:br>
            <a:endParaRPr lang="en-US" dirty="0"/>
          </a:p>
        </p:txBody>
      </p:sp>
      <p:sp>
        <p:nvSpPr>
          <p:cNvPr id="3" name="Content Placeholder 2"/>
          <p:cNvSpPr>
            <a:spLocks noGrp="1"/>
          </p:cNvSpPr>
          <p:nvPr>
            <p:ph idx="1"/>
          </p:nvPr>
        </p:nvSpPr>
        <p:spPr>
          <a:xfrm>
            <a:off x="838200" y="1128889"/>
            <a:ext cx="10515600" cy="5048074"/>
          </a:xfrm>
        </p:spPr>
        <p:txBody>
          <a:bodyPr/>
          <a:lstStyle/>
          <a:p>
            <a:r>
              <a:rPr lang="en-US" dirty="0"/>
              <a:t>Microsoft Windows. Operating system designed and produced by Microsoft Corporation. Similar to other</a:t>
            </a:r>
          </a:p>
          <a:p>
            <a:r>
              <a:rPr lang="en-US" dirty="0"/>
              <a:t>operating systems, Windows makes a computer system user-friendly by providing a graphical display and organizing information so that it can be easily accessed.</a:t>
            </a:r>
          </a:p>
          <a:p>
            <a:r>
              <a:rPr lang="en-US" dirty="0"/>
              <a:t>Microsoft Windows is a group of OSs manufactured by Microsoft. Windows is available in 32 and 64-bit versions and offers a graphical user interface (GUI), multitasking functionalities, virtual memory management capabilities, and support for several peripheral devices.</a:t>
            </a:r>
            <a:r>
              <a:rPr lang="en-US" dirty="0" smtClean="0"/>
              <a:t> </a:t>
            </a:r>
            <a:br>
              <a:rPr lang="en-US" dirty="0" smtClean="0"/>
            </a:br>
            <a:endParaRPr lang="en-US" dirty="0"/>
          </a:p>
        </p:txBody>
      </p:sp>
    </p:spTree>
    <p:extLst>
      <p:ext uri="{BB962C8B-B14F-4D97-AF65-F5344CB8AC3E}">
        <p14:creationId xmlns:p14="http://schemas.microsoft.com/office/powerpoint/2010/main" val="3357732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b="1" dirty="0"/>
              <a:t>Advantages of using Windows:</a:t>
            </a:r>
            <a:r>
              <a:rPr lang="en-US" dirty="0" smtClean="0"/>
              <a:t> </a:t>
            </a:r>
            <a:endParaRPr lang="en-US" dirty="0"/>
          </a:p>
        </p:txBody>
      </p:sp>
      <p:sp>
        <p:nvSpPr>
          <p:cNvPr id="3" name="Content Placeholder 2"/>
          <p:cNvSpPr>
            <a:spLocks noGrp="1"/>
          </p:cNvSpPr>
          <p:nvPr>
            <p:ph idx="1"/>
          </p:nvPr>
        </p:nvSpPr>
        <p:spPr>
          <a:xfrm>
            <a:off x="838200" y="1320800"/>
            <a:ext cx="10515600" cy="5192889"/>
          </a:xfrm>
        </p:spPr>
        <p:txBody>
          <a:bodyPr>
            <a:normAutofit fontScale="62500" lnSpcReduction="20000"/>
          </a:bodyPr>
          <a:lstStyle/>
          <a:p>
            <a:r>
              <a:rPr lang="en-US" sz="3200" b="1" dirty="0"/>
              <a:t>Ease of use. </a:t>
            </a:r>
            <a:r>
              <a:rPr lang="en-US" sz="3200" dirty="0"/>
              <a:t>Users familiar with earlier versions of Windows will probably also find the more</a:t>
            </a:r>
          </a:p>
          <a:p>
            <a:r>
              <a:rPr lang="en-US" sz="3200" dirty="0"/>
              <a:t>modern ones easy to work with</a:t>
            </a:r>
            <a:r>
              <a:rPr lang="en-US" sz="3200" dirty="0" smtClean="0"/>
              <a:t>.</a:t>
            </a:r>
          </a:p>
          <a:p>
            <a:endParaRPr lang="en-US" sz="3200" dirty="0"/>
          </a:p>
          <a:p>
            <a:r>
              <a:rPr lang="en-US" sz="3200" dirty="0"/>
              <a:t> </a:t>
            </a:r>
            <a:r>
              <a:rPr lang="en-US" sz="3200" b="1" dirty="0"/>
              <a:t>Available software: </a:t>
            </a:r>
            <a:r>
              <a:rPr lang="en-US" sz="3200" dirty="0"/>
              <a:t>There is a huge selection of software available for Windows. This is both due</a:t>
            </a:r>
          </a:p>
          <a:p>
            <a:r>
              <a:rPr lang="en-US" sz="3200" dirty="0"/>
              <a:t>to and the reason for Microsoft's dominance of the world market for PC computer operating</a:t>
            </a:r>
          </a:p>
          <a:p>
            <a:r>
              <a:rPr lang="en-US" sz="3200" dirty="0"/>
              <a:t>systems and office software.</a:t>
            </a:r>
          </a:p>
          <a:p>
            <a:r>
              <a:rPr lang="en-US" sz="3200" dirty="0"/>
              <a:t> </a:t>
            </a:r>
            <a:r>
              <a:rPr lang="en-US" sz="3200" b="1" dirty="0"/>
              <a:t>Backwards compatibility: </a:t>
            </a:r>
            <a:r>
              <a:rPr lang="en-US" sz="3200" dirty="0"/>
              <a:t>If you're currently using an older version of Windows and need</a:t>
            </a:r>
          </a:p>
          <a:p>
            <a:r>
              <a:rPr lang="en-US" sz="3200" dirty="0"/>
              <a:t>something more up to date, but you use of some older programs, those programs will also work</a:t>
            </a:r>
          </a:p>
          <a:p>
            <a:r>
              <a:rPr lang="en-US" sz="3200" dirty="0"/>
              <a:t>with a newer version of Windows.</a:t>
            </a:r>
          </a:p>
          <a:p>
            <a:r>
              <a:rPr lang="en-US" sz="3200" dirty="0"/>
              <a:t> </a:t>
            </a:r>
            <a:r>
              <a:rPr lang="en-US" sz="3200" b="1" dirty="0"/>
              <a:t>Support for new hardware: </a:t>
            </a:r>
            <a:r>
              <a:rPr lang="en-US" sz="3200" dirty="0"/>
              <a:t>if you buy some random new piece of computer hardware, you'll find</a:t>
            </a:r>
          </a:p>
          <a:p>
            <a:r>
              <a:rPr lang="en-US" sz="3200" dirty="0"/>
              <a:t>that it will probably work with the latest version of Windows.</a:t>
            </a:r>
          </a:p>
          <a:p>
            <a:r>
              <a:rPr lang="en-US" sz="3200" dirty="0"/>
              <a:t> </a:t>
            </a:r>
            <a:r>
              <a:rPr lang="en-US" sz="3200" b="1" dirty="0"/>
              <a:t>Plug &amp; Play: </a:t>
            </a:r>
            <a:r>
              <a:rPr lang="en-US" sz="3200" dirty="0"/>
              <a:t>Windows still has an edge over the competition in the area of Plug &amp; Play support for</a:t>
            </a:r>
          </a:p>
          <a:p>
            <a:r>
              <a:rPr lang="en-US" sz="3200" dirty="0"/>
              <a:t>PC hardware. As long as the right drivers are installed.</a:t>
            </a:r>
            <a:r>
              <a:rPr lang="en-US" sz="3200" dirty="0" smtClean="0"/>
              <a:t> </a:t>
            </a:r>
            <a:r>
              <a:rPr lang="en-US" dirty="0" smtClean="0"/>
              <a:t/>
            </a:r>
            <a:br>
              <a:rPr lang="en-US" dirty="0" smtClean="0"/>
            </a:br>
            <a:endParaRPr lang="en-US" dirty="0"/>
          </a:p>
        </p:txBody>
      </p:sp>
    </p:spTree>
    <p:extLst>
      <p:ext uri="{BB962C8B-B14F-4D97-AF65-F5344CB8AC3E}">
        <p14:creationId xmlns:p14="http://schemas.microsoft.com/office/powerpoint/2010/main" val="11956901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r>
              <a:rPr lang="en-US" b="1"/>
              <a:t>Disadvantages of using Windows:</a:t>
            </a:r>
            <a:r>
              <a:rPr lang="en-US" smtClean="0"/>
              <a:t> </a:t>
            </a:r>
            <a:endParaRPr lang="en-US"/>
          </a:p>
        </p:txBody>
      </p:sp>
      <p:sp>
        <p:nvSpPr>
          <p:cNvPr id="3" name="Content Placeholder 2"/>
          <p:cNvSpPr>
            <a:spLocks noGrp="1"/>
          </p:cNvSpPr>
          <p:nvPr>
            <p:ph idx="1"/>
          </p:nvPr>
        </p:nvSpPr>
        <p:spPr>
          <a:xfrm>
            <a:off x="838200" y="1862667"/>
            <a:ext cx="10515600" cy="4314296"/>
          </a:xfrm>
        </p:spPr>
        <p:txBody>
          <a:bodyPr>
            <a:normAutofit fontScale="77500" lnSpcReduction="20000"/>
          </a:bodyPr>
          <a:lstStyle/>
          <a:p>
            <a:r>
              <a:rPr lang="en-US" b="1" dirty="0"/>
              <a:t>High resource requirements: </a:t>
            </a:r>
            <a:r>
              <a:rPr lang="en-US" dirty="0"/>
              <a:t>Microsoft requires its customers to invest the most in their</a:t>
            </a:r>
          </a:p>
          <a:p>
            <a:r>
              <a:rPr lang="en-US" dirty="0"/>
              <a:t>computer hardware: a faster processor (the CPU), more internal memory and a larger hard disk.</a:t>
            </a:r>
          </a:p>
          <a:p>
            <a:r>
              <a:rPr lang="en-US" dirty="0"/>
              <a:t>Microsoft has always maintained that this is due to all the extra functionality that they've added,</a:t>
            </a:r>
          </a:p>
          <a:p>
            <a:r>
              <a:rPr lang="en-US" dirty="0"/>
              <a:t>as demanded by their customers.</a:t>
            </a:r>
          </a:p>
          <a:p>
            <a:r>
              <a:rPr lang="en-US" dirty="0"/>
              <a:t> </a:t>
            </a:r>
            <a:r>
              <a:rPr lang="en-US" b="1" dirty="0"/>
              <a:t>Poor security: </a:t>
            </a:r>
            <a:r>
              <a:rPr lang="en-US" dirty="0"/>
              <a:t>Compared to other operating systems, Microsoft security is weak. According to</a:t>
            </a:r>
          </a:p>
          <a:p>
            <a:r>
              <a:rPr lang="en-US" dirty="0"/>
              <a:t>their own developers, their products "just aren't engineered </a:t>
            </a:r>
            <a:r>
              <a:rPr lang="en-US" dirty="0" smtClean="0"/>
              <a:t>for security." </a:t>
            </a:r>
          </a:p>
          <a:p>
            <a:r>
              <a:rPr lang="en-US" b="1" dirty="0"/>
              <a:t>Virus susceptibility: </a:t>
            </a:r>
            <a:r>
              <a:rPr lang="en-US" dirty="0"/>
              <a:t>nearly all computer viruses target Windows computers and regularly </a:t>
            </a:r>
            <a:endParaRPr lang="en-US" dirty="0" smtClean="0"/>
          </a:p>
          <a:p>
            <a:r>
              <a:rPr lang="en-US" dirty="0" smtClean="0"/>
              <a:t>wreak newsworthy </a:t>
            </a:r>
            <a:r>
              <a:rPr lang="en-US" dirty="0"/>
              <a:t>havoc. You have no choice but to keep investing in anti-virus software for all of </a:t>
            </a:r>
            <a:r>
              <a:rPr lang="en-US" dirty="0" smtClean="0"/>
              <a:t>their Windows </a:t>
            </a:r>
            <a:r>
              <a:rPr lang="en-US" dirty="0"/>
              <a:t>computers</a:t>
            </a:r>
            <a:r>
              <a:rPr lang="en-US" dirty="0" smtClean="0"/>
              <a:t>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5693405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3525"/>
            <a:ext cx="10515600" cy="45719"/>
          </a:xfrm>
        </p:spPr>
        <p:txBody>
          <a:bodyPr>
            <a:normAutofit fontScale="90000"/>
          </a:bodyPr>
          <a:lstStyle/>
          <a:p>
            <a:r>
              <a:rPr lang="en-US" b="1" dirty="0">
                <a:solidFill>
                  <a:srgbClr val="000000"/>
                </a:solidFill>
                <a:latin typeface="FEFD5085D6E"/>
              </a:rPr>
              <a:t>Key Features of windows</a:t>
            </a:r>
            <a:r>
              <a:rPr lang="en-US" dirty="0"/>
              <a:t> </a:t>
            </a:r>
            <a:br>
              <a:rPr lang="en-US" dirty="0"/>
            </a:br>
            <a:endParaRPr lang="en-US" dirty="0"/>
          </a:p>
        </p:txBody>
      </p:sp>
      <p:sp>
        <p:nvSpPr>
          <p:cNvPr id="3" name="Content Placeholder 2"/>
          <p:cNvSpPr>
            <a:spLocks noGrp="1"/>
          </p:cNvSpPr>
          <p:nvPr>
            <p:ph idx="1"/>
          </p:nvPr>
        </p:nvSpPr>
        <p:spPr>
          <a:xfrm>
            <a:off x="838200" y="959556"/>
            <a:ext cx="10515600" cy="5655733"/>
          </a:xfrm>
        </p:spPr>
        <p:txBody>
          <a:bodyPr>
            <a:normAutofit fontScale="70000" lnSpcReduction="20000"/>
          </a:bodyPr>
          <a:lstStyle/>
          <a:p>
            <a:r>
              <a:rPr lang="en-US" b="1" dirty="0"/>
              <a:t>Speed: </a:t>
            </a:r>
            <a:r>
              <a:rPr lang="en-US" dirty="0"/>
              <a:t>Windows brings a more responsive and sprightly feel and Microsoft has spent a lot of time</a:t>
            </a:r>
          </a:p>
          <a:p>
            <a:r>
              <a:rPr lang="en-US" dirty="0"/>
              <a:t>and effort getting the Start Menu response just right</a:t>
            </a:r>
            <a:r>
              <a:rPr lang="en-US" dirty="0" smtClean="0"/>
              <a:t>.</a:t>
            </a:r>
          </a:p>
          <a:p>
            <a:r>
              <a:rPr lang="en-US" dirty="0" smtClean="0"/>
              <a:t> </a:t>
            </a:r>
            <a:r>
              <a:rPr lang="en-US" dirty="0"/>
              <a:t>Microsoft has also </a:t>
            </a:r>
            <a:r>
              <a:rPr lang="en-US" dirty="0" smtClean="0"/>
              <a:t>recognized </a:t>
            </a:r>
            <a:r>
              <a:rPr lang="en-US" dirty="0"/>
              <a:t>the need for</a:t>
            </a:r>
          </a:p>
          <a:p>
            <a:r>
              <a:rPr lang="en-US" dirty="0"/>
              <a:t>improved desktop responsiveness, which gives the impression that the computer is responding to</a:t>
            </a:r>
          </a:p>
          <a:p>
            <a:r>
              <a:rPr lang="en-US" dirty="0"/>
              <a:t>the user and that they are in control</a:t>
            </a:r>
          </a:p>
          <a:p>
            <a:r>
              <a:rPr lang="en-US" dirty="0"/>
              <a:t> </a:t>
            </a:r>
            <a:r>
              <a:rPr lang="en-US" b="1" dirty="0"/>
              <a:t>Compatibility: </a:t>
            </a:r>
            <a:r>
              <a:rPr lang="en-US" dirty="0"/>
              <a:t>Compatibility allows a program written for earlier versions of Windows to </a:t>
            </a:r>
            <a:endParaRPr lang="en-US" dirty="0" smtClean="0"/>
          </a:p>
          <a:p>
            <a:r>
              <a:rPr lang="en-US" dirty="0" smtClean="0"/>
              <a:t>Possibly run </a:t>
            </a:r>
            <a:r>
              <a:rPr lang="en-US" dirty="0"/>
              <a:t>in new update Windows.</a:t>
            </a:r>
          </a:p>
          <a:p>
            <a:r>
              <a:rPr lang="en-US" dirty="0"/>
              <a:t> </a:t>
            </a:r>
            <a:r>
              <a:rPr lang="en-US" b="1" dirty="0"/>
              <a:t>Lower hardware requirements: </a:t>
            </a:r>
            <a:r>
              <a:rPr lang="en-US" dirty="0"/>
              <a:t>Ensure that the computer on which you are installing</a:t>
            </a:r>
          </a:p>
          <a:p>
            <a:r>
              <a:rPr lang="en-US" dirty="0"/>
              <a:t>the Microsoft Window Inventory meets the minimal CPU, and memory requirements for the</a:t>
            </a:r>
          </a:p>
          <a:p>
            <a:r>
              <a:rPr lang="en-US" dirty="0"/>
              <a:t>server and database elements.</a:t>
            </a:r>
          </a:p>
          <a:p>
            <a:r>
              <a:rPr lang="en-US" dirty="0"/>
              <a:t> </a:t>
            </a:r>
            <a:r>
              <a:rPr lang="en-US" b="1" dirty="0"/>
              <a:t>Search and organization: </a:t>
            </a:r>
            <a:r>
              <a:rPr lang="en-US" dirty="0"/>
              <a:t>One of the best things about Windows is the improved search tool,</a:t>
            </a:r>
          </a:p>
          <a:p>
            <a:r>
              <a:rPr lang="en-US" dirty="0"/>
              <a:t>which now be able to find what you need quickly and easily. </a:t>
            </a:r>
            <a:endParaRPr lang="en-US" dirty="0" smtClean="0"/>
          </a:p>
          <a:p>
            <a:r>
              <a:rPr lang="en-US" dirty="0" smtClean="0"/>
              <a:t>Windows </a:t>
            </a:r>
            <a:r>
              <a:rPr lang="en-US" dirty="0"/>
              <a:t>Search is a desktop search</a:t>
            </a:r>
          </a:p>
          <a:p>
            <a:r>
              <a:rPr lang="en-US" dirty="0"/>
              <a:t>platform that has instant search capabilities for most common file types and data types, and </a:t>
            </a:r>
            <a:endParaRPr lang="en-US" dirty="0" smtClean="0"/>
          </a:p>
          <a:p>
            <a:r>
              <a:rPr lang="en-US" dirty="0" smtClean="0"/>
              <a:t>Third party </a:t>
            </a:r>
            <a:r>
              <a:rPr lang="en-US" dirty="0"/>
              <a:t>developers can extend these capabilities to new file types and data types. </a:t>
            </a:r>
            <a:br>
              <a:rPr lang="en-US" dirty="0"/>
            </a:br>
            <a:endParaRPr lang="en-US" dirty="0"/>
          </a:p>
        </p:txBody>
      </p:sp>
    </p:spTree>
    <p:extLst>
      <p:ext uri="{BB962C8B-B14F-4D97-AF65-F5344CB8AC3E}">
        <p14:creationId xmlns:p14="http://schemas.microsoft.com/office/powerpoint/2010/main" val="22125059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5097"/>
          </a:xfrm>
        </p:spPr>
        <p:txBody>
          <a:bodyPr>
            <a:normAutofit fontScale="90000"/>
          </a:bodyPr>
          <a:lstStyle/>
          <a:p>
            <a:endParaRPr lang="en-US" dirty="0"/>
          </a:p>
        </p:txBody>
      </p:sp>
      <p:sp>
        <p:nvSpPr>
          <p:cNvPr id="3" name="Content Placeholder 2"/>
          <p:cNvSpPr>
            <a:spLocks noGrp="1"/>
          </p:cNvSpPr>
          <p:nvPr>
            <p:ph idx="1"/>
          </p:nvPr>
        </p:nvSpPr>
        <p:spPr>
          <a:xfrm>
            <a:off x="838200" y="880533"/>
            <a:ext cx="10515600" cy="5296430"/>
          </a:xfrm>
        </p:spPr>
        <p:txBody>
          <a:bodyPr>
            <a:normAutofit fontScale="92500" lnSpcReduction="20000"/>
          </a:bodyPr>
          <a:lstStyle/>
          <a:p>
            <a:r>
              <a:rPr lang="en-US" b="1" dirty="0"/>
              <a:t>Support for connectivity for portable media</a:t>
            </a:r>
            <a:r>
              <a:rPr lang="en-US" dirty="0"/>
              <a:t>: </a:t>
            </a:r>
            <a:endParaRPr lang="en-US" dirty="0" smtClean="0"/>
          </a:p>
          <a:p>
            <a:r>
              <a:rPr lang="en-US" dirty="0" smtClean="0"/>
              <a:t>windows </a:t>
            </a:r>
            <a:r>
              <a:rPr lang="en-US" dirty="0"/>
              <a:t>supports connectivity for different </a:t>
            </a:r>
            <a:r>
              <a:rPr lang="en-US" dirty="0" smtClean="0"/>
              <a:t>media, including </a:t>
            </a:r>
            <a:r>
              <a:rPr lang="en-US" dirty="0"/>
              <a:t>USB drives, </a:t>
            </a:r>
            <a:endParaRPr lang="en-US" dirty="0" smtClean="0"/>
          </a:p>
          <a:p>
            <a:r>
              <a:rPr lang="en-US" dirty="0" smtClean="0"/>
              <a:t>CD/DVD</a:t>
            </a:r>
            <a:r>
              <a:rPr lang="en-US" dirty="0"/>
              <a:t>, </a:t>
            </a:r>
            <a:r>
              <a:rPr lang="en-US" dirty="0" smtClean="0"/>
              <a:t>Syncing, Bluetooth </a:t>
            </a:r>
            <a:r>
              <a:rPr lang="en-US" dirty="0"/>
              <a:t>and Wi-Fi.</a:t>
            </a:r>
          </a:p>
          <a:p>
            <a:r>
              <a:rPr lang="en-US" dirty="0"/>
              <a:t> </a:t>
            </a:r>
            <a:r>
              <a:rPr lang="en-US" b="1" dirty="0"/>
              <a:t>Security: </a:t>
            </a:r>
            <a:r>
              <a:rPr lang="en-US" dirty="0"/>
              <a:t>it has an administrative user that can make changes to the computer</a:t>
            </a:r>
            <a:r>
              <a:rPr lang="en-US" dirty="0" smtClean="0"/>
              <a:t>.</a:t>
            </a:r>
          </a:p>
          <a:p>
            <a:r>
              <a:rPr lang="en-US" dirty="0" smtClean="0"/>
              <a:t> </a:t>
            </a:r>
            <a:r>
              <a:rPr lang="en-US" dirty="0"/>
              <a:t>You need </a:t>
            </a:r>
            <a:r>
              <a:rPr lang="en-US" dirty="0" smtClean="0"/>
              <a:t>the administrator’s password</a:t>
            </a:r>
            <a:r>
              <a:rPr lang="en-US" dirty="0"/>
              <a:t> </a:t>
            </a:r>
            <a:r>
              <a:rPr lang="en-US" dirty="0" smtClean="0"/>
              <a:t>to</a:t>
            </a:r>
            <a:r>
              <a:rPr lang="en-US" dirty="0"/>
              <a:t> </a:t>
            </a:r>
            <a:r>
              <a:rPr lang="en-US" dirty="0" smtClean="0"/>
              <a:t>protect </a:t>
            </a:r>
            <a:r>
              <a:rPr lang="en-US" dirty="0"/>
              <a:t>your computer form another user.</a:t>
            </a:r>
          </a:p>
          <a:p>
            <a:r>
              <a:rPr lang="en-US" dirty="0"/>
              <a:t> </a:t>
            </a:r>
            <a:r>
              <a:rPr lang="en-US" b="1" dirty="0"/>
              <a:t>Stability: </a:t>
            </a:r>
            <a:r>
              <a:rPr lang="en-US" dirty="0"/>
              <a:t>Window is relatively stable than other type of OS.</a:t>
            </a:r>
          </a:p>
          <a:p>
            <a:r>
              <a:rPr lang="en-US" dirty="0"/>
              <a:t> </a:t>
            </a:r>
            <a:r>
              <a:rPr lang="en-US" b="1" dirty="0"/>
              <a:t>Reliability</a:t>
            </a:r>
            <a:r>
              <a:rPr lang="en-US" dirty="0"/>
              <a:t>: Windows is not that reliable, with it crashing/needing to be restarted all of the time.</a:t>
            </a:r>
          </a:p>
          <a:p>
            <a:r>
              <a:rPr lang="en-US" dirty="0"/>
              <a:t> </a:t>
            </a:r>
            <a:r>
              <a:rPr lang="en-US" b="1" dirty="0"/>
              <a:t>Associated </a:t>
            </a:r>
            <a:r>
              <a:rPr lang="en-US" b="1" dirty="0" smtClean="0"/>
              <a:t>Utilities: </a:t>
            </a:r>
            <a:r>
              <a:rPr lang="en-US" dirty="0"/>
              <a:t>windows is the most popular OS, so it has much wider range of utilities.</a:t>
            </a:r>
          </a:p>
          <a:p>
            <a:r>
              <a:rPr lang="en-US" dirty="0"/>
              <a:t/>
            </a:r>
            <a:br>
              <a:rPr lang="en-US" dirty="0"/>
            </a:br>
            <a:endParaRPr lang="en-US" dirty="0"/>
          </a:p>
        </p:txBody>
      </p:sp>
    </p:spTree>
    <p:extLst>
      <p:ext uri="{BB962C8B-B14F-4D97-AF65-F5344CB8AC3E}">
        <p14:creationId xmlns:p14="http://schemas.microsoft.com/office/powerpoint/2010/main" val="32084829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Pros. &amp; Cons:</a:t>
            </a:r>
            <a:r>
              <a:rPr lang="en-US" dirty="0"/>
              <a:t>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Since Microsoft is more popular, the Hardware products are aimed at the biggest market – Windows, such that the product would be sold and used widely</a:t>
            </a:r>
            <a:r>
              <a:rPr lang="en-US" dirty="0" smtClean="0"/>
              <a:t>.</a:t>
            </a:r>
          </a:p>
          <a:p>
            <a:r>
              <a:rPr lang="en-US" dirty="0" smtClean="0"/>
              <a:t> </a:t>
            </a:r>
            <a:r>
              <a:rPr lang="en-US" dirty="0"/>
              <a:t>There are much more various applications available for Microsoft since the </a:t>
            </a:r>
            <a:r>
              <a:rPr lang="en-US" dirty="0" smtClean="0"/>
              <a:t>population of Window’s</a:t>
            </a:r>
            <a:r>
              <a:rPr lang="en-US" dirty="0"/>
              <a:t> </a:t>
            </a:r>
            <a:r>
              <a:rPr lang="en-US" dirty="0" smtClean="0"/>
              <a:t>users</a:t>
            </a:r>
            <a:r>
              <a:rPr lang="en-US" dirty="0"/>
              <a:t> </a:t>
            </a:r>
            <a:r>
              <a:rPr lang="en-US" dirty="0" smtClean="0"/>
              <a:t>is</a:t>
            </a:r>
            <a:r>
              <a:rPr lang="en-US" dirty="0"/>
              <a:t> </a:t>
            </a:r>
            <a:r>
              <a:rPr lang="en-US" dirty="0" smtClean="0"/>
              <a:t>greater</a:t>
            </a:r>
            <a:r>
              <a:rPr lang="en-US" dirty="0"/>
              <a:t> </a:t>
            </a:r>
            <a:r>
              <a:rPr lang="en-US" dirty="0" smtClean="0"/>
              <a:t>than</a:t>
            </a:r>
            <a:r>
              <a:rPr lang="en-US" dirty="0"/>
              <a:t/>
            </a:r>
            <a:br>
              <a:rPr lang="en-US" dirty="0"/>
            </a:br>
            <a:r>
              <a:rPr lang="en-US" dirty="0"/>
              <a:t>Linux’s Windows has its own share of problems – </a:t>
            </a:r>
            <a:endParaRPr lang="en-US" dirty="0" smtClean="0"/>
          </a:p>
          <a:p>
            <a:r>
              <a:rPr lang="en-US" dirty="0" smtClean="0"/>
              <a:t>the </a:t>
            </a:r>
            <a:r>
              <a:rPr lang="en-US" dirty="0"/>
              <a:t>fact that some software is not compliant for different versions of windows (i.e. Windows 95/98) and many times the GUI concept is overused such that command arguments cannot be passed to the program (NTFS is not Backward Compatible) </a:t>
            </a:r>
            <a:br>
              <a:rPr lang="en-US" dirty="0"/>
            </a:br>
            <a:endParaRPr lang="en-US" dirty="0"/>
          </a:p>
        </p:txBody>
      </p:sp>
    </p:spTree>
    <p:extLst>
      <p:ext uri="{BB962C8B-B14F-4D97-AF65-F5344CB8AC3E}">
        <p14:creationId xmlns:p14="http://schemas.microsoft.com/office/powerpoint/2010/main" val="26649923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6044"/>
            <a:ext cx="10515600" cy="1024644"/>
          </a:xfrm>
        </p:spPr>
        <p:txBody>
          <a:bodyPr>
            <a:normAutofit fontScale="90000"/>
          </a:bodyPr>
          <a:lstStyle/>
          <a:p>
            <a:r>
              <a:rPr lang="en-US" b="1" dirty="0">
                <a:solidFill>
                  <a:srgbClr val="000000"/>
                </a:solidFill>
                <a:latin typeface="FEFD5085D73"/>
              </a:rPr>
              <a:t>Mac OS:</a:t>
            </a:r>
            <a:r>
              <a:rPr lang="en-US" dirty="0"/>
              <a:t> </a:t>
            </a:r>
            <a:br>
              <a:rPr lang="en-US" dirty="0"/>
            </a:br>
            <a:endParaRPr lang="en-US" dirty="0"/>
          </a:p>
        </p:txBody>
      </p:sp>
      <p:sp>
        <p:nvSpPr>
          <p:cNvPr id="3" name="Content Placeholder 2"/>
          <p:cNvSpPr>
            <a:spLocks noGrp="1"/>
          </p:cNvSpPr>
          <p:nvPr>
            <p:ph idx="1"/>
          </p:nvPr>
        </p:nvSpPr>
        <p:spPr>
          <a:xfrm>
            <a:off x="838200" y="1377244"/>
            <a:ext cx="10515600" cy="4799719"/>
          </a:xfrm>
        </p:spPr>
        <p:txBody>
          <a:bodyPr>
            <a:normAutofit fontScale="92500" lnSpcReduction="10000"/>
          </a:bodyPr>
          <a:lstStyle/>
          <a:p>
            <a:r>
              <a:rPr lang="en-US" dirty="0"/>
              <a:t>Mac OS is a series of graphical user interface-based operating </a:t>
            </a:r>
            <a:r>
              <a:rPr lang="en-US" dirty="0" smtClean="0"/>
              <a:t>systems</a:t>
            </a:r>
          </a:p>
          <a:p>
            <a:r>
              <a:rPr lang="en-US" dirty="0" smtClean="0"/>
              <a:t> </a:t>
            </a:r>
            <a:r>
              <a:rPr lang="en-US" dirty="0"/>
              <a:t>developed by Apple </a:t>
            </a:r>
            <a:r>
              <a:rPr lang="en-US" dirty="0" smtClean="0"/>
              <a:t>Inc. for </a:t>
            </a:r>
            <a:r>
              <a:rPr lang="en-US" dirty="0"/>
              <a:t>their Macintosh line of computer systems </a:t>
            </a:r>
            <a:r>
              <a:rPr lang="en-US" dirty="0" smtClean="0"/>
              <a:t>.</a:t>
            </a:r>
          </a:p>
          <a:p>
            <a:r>
              <a:rPr lang="en-US" dirty="0" smtClean="0"/>
              <a:t>Mac </a:t>
            </a:r>
            <a:r>
              <a:rPr lang="en-US" dirty="0"/>
              <a:t>OS was designed only to run on Apple Computers. In 1984, Apple introduced the Macintosh PC with the Macintosh Operating System. </a:t>
            </a:r>
            <a:endParaRPr lang="en-US" dirty="0" smtClean="0"/>
          </a:p>
          <a:p>
            <a:r>
              <a:rPr lang="en-US" dirty="0" smtClean="0"/>
              <a:t>The first</a:t>
            </a:r>
            <a:r>
              <a:rPr lang="en-US" dirty="0"/>
              <a:t> </a:t>
            </a:r>
            <a:r>
              <a:rPr lang="en-US" dirty="0" smtClean="0"/>
              <a:t>Mac</a:t>
            </a:r>
            <a:r>
              <a:rPr lang="en-US" dirty="0"/>
              <a:t> </a:t>
            </a:r>
            <a:r>
              <a:rPr lang="en-US" dirty="0" smtClean="0"/>
              <a:t>was</a:t>
            </a:r>
            <a:r>
              <a:rPr lang="en-US" dirty="0"/>
              <a:t> </a:t>
            </a:r>
            <a:r>
              <a:rPr lang="en-US" dirty="0" smtClean="0"/>
              <a:t>introduced</a:t>
            </a:r>
            <a:r>
              <a:rPr lang="en-US" dirty="0"/>
              <a:t> </a:t>
            </a:r>
            <a:r>
              <a:rPr lang="en-US" dirty="0" smtClean="0"/>
              <a:t>by</a:t>
            </a:r>
            <a:r>
              <a:rPr lang="en-US" dirty="0"/>
              <a:t> </a:t>
            </a:r>
            <a:r>
              <a:rPr lang="en-US" dirty="0" smtClean="0"/>
              <a:t>Apple’s</a:t>
            </a:r>
            <a:r>
              <a:rPr lang="en-US" dirty="0"/>
              <a:t> </a:t>
            </a:r>
            <a:r>
              <a:rPr lang="en-US" dirty="0" smtClean="0"/>
              <a:t>then-chairman </a:t>
            </a:r>
            <a:r>
              <a:rPr lang="en-US" dirty="0"/>
              <a:t>Steve Jobs was the first successful personal computer to feature a mouse and a Graphical User Interface (GUI). </a:t>
            </a:r>
            <a:endParaRPr lang="en-US" dirty="0" smtClean="0"/>
          </a:p>
          <a:p>
            <a:r>
              <a:rPr lang="en-US" dirty="0"/>
              <a:t>The Mac OS could be easily distinguished from other Operating systems because it was the only OS with a full GUI. </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8535944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using Mac OS:</a:t>
            </a:r>
            <a:r>
              <a:rPr lang="en-US" dirty="0"/>
              <a:t> </a:t>
            </a:r>
          </a:p>
        </p:txBody>
      </p:sp>
      <p:sp>
        <p:nvSpPr>
          <p:cNvPr id="3" name="Content Placeholder 2"/>
          <p:cNvSpPr>
            <a:spLocks noGrp="1"/>
          </p:cNvSpPr>
          <p:nvPr>
            <p:ph idx="1"/>
          </p:nvPr>
        </p:nvSpPr>
        <p:spPr/>
        <p:txBody>
          <a:bodyPr>
            <a:normAutofit fontScale="92500" lnSpcReduction="10000"/>
          </a:bodyPr>
          <a:lstStyle/>
          <a:p>
            <a:r>
              <a:rPr lang="en-US" dirty="0"/>
              <a:t>Easy to Use The Mac OS is much easier to ease than any other operating system</a:t>
            </a:r>
          </a:p>
          <a:p>
            <a:r>
              <a:rPr lang="en-US" dirty="0"/>
              <a:t> Integration With Apple and Other Products Mac OS will automatically recognize and work with any</a:t>
            </a:r>
          </a:p>
          <a:p>
            <a:r>
              <a:rPr lang="en-US" dirty="0"/>
              <a:t>other Apple product, such as iPhone, Cinema Display, Airport, and iPad</a:t>
            </a:r>
          </a:p>
          <a:p>
            <a:r>
              <a:rPr lang="en-US" dirty="0"/>
              <a:t> Mac OS can run Windows at the same time Mac OS runs on Intel chips</a:t>
            </a:r>
          </a:p>
          <a:p>
            <a:r>
              <a:rPr lang="en-US" dirty="0"/>
              <a:t> Mac OS is incredibly stable. Apple controls production from start to finish, so every part of a Mac</a:t>
            </a:r>
          </a:p>
          <a:p>
            <a:r>
              <a:rPr lang="en-US" dirty="0"/>
              <a:t>is designed and tested to work together.</a:t>
            </a:r>
          </a:p>
          <a:p>
            <a:r>
              <a:rPr lang="en-US" dirty="0"/>
              <a:t> DesignIt’sengineeredtotakefulladvantageofwhatthehardwareiscapableof. </a:t>
            </a:r>
            <a:br>
              <a:rPr lang="en-US" dirty="0"/>
            </a:br>
            <a:endParaRPr lang="en-US" dirty="0"/>
          </a:p>
        </p:txBody>
      </p:sp>
    </p:spTree>
    <p:extLst>
      <p:ext uri="{BB962C8B-B14F-4D97-AF65-F5344CB8AC3E}">
        <p14:creationId xmlns:p14="http://schemas.microsoft.com/office/powerpoint/2010/main" val="15925048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using Mac OS:</a:t>
            </a:r>
            <a:r>
              <a:rPr lang="en-US" dirty="0"/>
              <a:t> </a:t>
            </a:r>
          </a:p>
        </p:txBody>
      </p:sp>
      <p:sp>
        <p:nvSpPr>
          <p:cNvPr id="3" name="Content Placeholder 2"/>
          <p:cNvSpPr>
            <a:spLocks noGrp="1"/>
          </p:cNvSpPr>
          <p:nvPr>
            <p:ph idx="1"/>
          </p:nvPr>
        </p:nvSpPr>
        <p:spPr/>
        <p:txBody>
          <a:bodyPr>
            <a:normAutofit/>
          </a:bodyPr>
          <a:lstStyle/>
          <a:p>
            <a:r>
              <a:rPr lang="en-US" dirty="0"/>
              <a:t>Gaming If you're a computer gamer, Mac OS isn't going to do it for you</a:t>
            </a:r>
          </a:p>
          <a:p>
            <a:r>
              <a:rPr lang="en-US" dirty="0"/>
              <a:t> Price All that flashy secure reliable power comes at a price. </a:t>
            </a:r>
            <a:endParaRPr lang="en-US" dirty="0" smtClean="0"/>
          </a:p>
          <a:p>
            <a:r>
              <a:rPr lang="en-US" dirty="0" smtClean="0"/>
              <a:t>Macs </a:t>
            </a:r>
            <a:r>
              <a:rPr lang="en-US" dirty="0"/>
              <a:t>cost more than machines </a:t>
            </a:r>
            <a:r>
              <a:rPr lang="en-US" dirty="0" smtClean="0"/>
              <a:t>that run </a:t>
            </a:r>
            <a:r>
              <a:rPr lang="en-US" dirty="0"/>
              <a:t>other operating systems</a:t>
            </a:r>
            <a:r>
              <a:rPr lang="en-US" dirty="0" smtClean="0"/>
              <a:t>.</a:t>
            </a:r>
          </a:p>
          <a:p>
            <a:r>
              <a:rPr lang="en-US" dirty="0" smtClean="0"/>
              <a:t> </a:t>
            </a:r>
            <a:r>
              <a:rPr lang="en-US" dirty="0"/>
              <a:t>The result is you're paying a premium to have what is often </a:t>
            </a:r>
            <a:r>
              <a:rPr lang="en-US" dirty="0" smtClean="0"/>
              <a:t>the highest-end </a:t>
            </a:r>
            <a:r>
              <a:rPr lang="en-US" dirty="0"/>
              <a:t>hardware on the market.</a:t>
            </a:r>
          </a:p>
          <a:p>
            <a:r>
              <a:rPr lang="en-US" dirty="0"/>
              <a:t> Fewer Software Options Not all applications are yet available for Mac. </a:t>
            </a:r>
            <a:br>
              <a:rPr lang="en-US" dirty="0"/>
            </a:br>
            <a:endParaRPr lang="en-US" dirty="0"/>
          </a:p>
        </p:txBody>
      </p:sp>
    </p:spTree>
    <p:extLst>
      <p:ext uri="{BB962C8B-B14F-4D97-AF65-F5344CB8AC3E}">
        <p14:creationId xmlns:p14="http://schemas.microsoft.com/office/powerpoint/2010/main" val="4443260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Linux:</a:t>
            </a:r>
            <a:r>
              <a:rPr lang="en-US" dirty="0"/>
              <a:t> </a:t>
            </a:r>
          </a:p>
        </p:txBody>
      </p:sp>
      <p:sp>
        <p:nvSpPr>
          <p:cNvPr id="3" name="Content Placeholder 2"/>
          <p:cNvSpPr>
            <a:spLocks noGrp="1"/>
          </p:cNvSpPr>
          <p:nvPr>
            <p:ph idx="1"/>
          </p:nvPr>
        </p:nvSpPr>
        <p:spPr/>
        <p:txBody>
          <a:bodyPr/>
          <a:lstStyle/>
          <a:p>
            <a:r>
              <a:rPr lang="en-US" dirty="0"/>
              <a:t>Linux was originally built by Linus Torvalds at the University of Helsinki </a:t>
            </a:r>
            <a:r>
              <a:rPr lang="en-US" dirty="0" err="1"/>
              <a:t>inLinux</a:t>
            </a:r>
            <a:r>
              <a:rPr lang="en-US" dirty="0"/>
              <a:t> is a </a:t>
            </a:r>
            <a:r>
              <a:rPr lang="en-US" dirty="0" err="1"/>
              <a:t>Kernal</a:t>
            </a:r>
            <a:r>
              <a:rPr lang="en-US" dirty="0"/>
              <a:t>-based, fully memory-protected, multitasking operating system .</a:t>
            </a:r>
          </a:p>
          <a:p>
            <a:r>
              <a:rPr lang="en-US" dirty="0"/>
              <a:t>The </a:t>
            </a:r>
            <a:r>
              <a:rPr lang="en-US" b="1" dirty="0"/>
              <a:t>Linux </a:t>
            </a:r>
            <a:r>
              <a:rPr lang="en-US" dirty="0"/>
              <a:t>open source operating </a:t>
            </a:r>
            <a:r>
              <a:rPr lang="en-US" b="1" dirty="0"/>
              <a:t>system</a:t>
            </a:r>
            <a:r>
              <a:rPr lang="en-US" dirty="0"/>
              <a:t>, or </a:t>
            </a:r>
            <a:r>
              <a:rPr lang="en-US" b="1" dirty="0"/>
              <a:t>Linux OS</a:t>
            </a:r>
            <a:r>
              <a:rPr lang="en-US" dirty="0"/>
              <a:t>, is a freely distributable, cross-platform operating </a:t>
            </a:r>
            <a:r>
              <a:rPr lang="en-US" b="1" dirty="0"/>
              <a:t>system </a:t>
            </a:r>
            <a:r>
              <a:rPr lang="en-US" dirty="0"/>
              <a:t>based on Unix that can be installed on PCs, laptops, netbooks, mobile and tablet devices, video game consoles, servers, supercomputers and more. </a:t>
            </a:r>
            <a:br>
              <a:rPr lang="en-US" dirty="0"/>
            </a:br>
            <a:endParaRPr lang="en-US" dirty="0"/>
          </a:p>
        </p:txBody>
      </p:sp>
    </p:spTree>
    <p:extLst>
      <p:ext uri="{BB962C8B-B14F-4D97-AF65-F5344CB8AC3E}">
        <p14:creationId xmlns:p14="http://schemas.microsoft.com/office/powerpoint/2010/main" val="25105328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Features of Linux:</a:t>
            </a:r>
            <a:r>
              <a:rPr lang="en-US" dirty="0"/>
              <a:t> </a:t>
            </a:r>
          </a:p>
        </p:txBody>
      </p:sp>
      <p:sp>
        <p:nvSpPr>
          <p:cNvPr id="3" name="Content Placeholder 2"/>
          <p:cNvSpPr>
            <a:spLocks noGrp="1"/>
          </p:cNvSpPr>
          <p:nvPr>
            <p:ph idx="1"/>
          </p:nvPr>
        </p:nvSpPr>
        <p:spPr/>
        <p:txBody>
          <a:bodyPr>
            <a:normAutofit fontScale="77500" lnSpcReduction="20000"/>
          </a:bodyPr>
          <a:lstStyle/>
          <a:p>
            <a:r>
              <a:rPr lang="en-US" b="1" dirty="0"/>
              <a:t>Low cost: </a:t>
            </a:r>
            <a:r>
              <a:rPr lang="en-US" dirty="0"/>
              <a:t>Youdon’tneedtospendtimeandmoneytoobtainlicensessinceLinuxandmuchofits software come with the GNU General Public License.</a:t>
            </a:r>
          </a:p>
          <a:p>
            <a:r>
              <a:rPr lang="en-US" b="1" dirty="0"/>
              <a:t>Ability to customize: </a:t>
            </a:r>
            <a:r>
              <a:rPr lang="en-US" dirty="0"/>
              <a:t>You can rewrite the code for Linux so that you can customize it further. </a:t>
            </a:r>
            <a:r>
              <a:rPr lang="en-US" b="1" dirty="0"/>
              <a:t>Support for connectivity for portable media</a:t>
            </a:r>
            <a:r>
              <a:rPr lang="en-US" dirty="0"/>
              <a:t>: Linux does not have as wide a range of support for connectivity but you can download a software </a:t>
            </a:r>
            <a:r>
              <a:rPr lang="en-US" dirty="0" err="1"/>
              <a:t>dit</a:t>
            </a:r>
            <a:r>
              <a:rPr lang="en-US" dirty="0"/>
              <a:t> to improve its connectivity.</a:t>
            </a:r>
          </a:p>
          <a:p>
            <a:r>
              <a:rPr lang="en-US" b="1" dirty="0"/>
              <a:t>Security: </a:t>
            </a:r>
            <a:r>
              <a:rPr lang="en-US" dirty="0"/>
              <a:t>Linuxisoneofthemostsecureoperatingsystems.“Walls”andflexiblefileaccesspermission systems prevent access by unwanted visitors or viruses.</a:t>
            </a:r>
          </a:p>
          <a:p>
            <a:r>
              <a:rPr lang="en-US" b="1" dirty="0"/>
              <a:t>Stability: </a:t>
            </a:r>
            <a:r>
              <a:rPr lang="en-US" dirty="0"/>
              <a:t>Linux operating systems are stable because you can rewrite the codes for it.</a:t>
            </a:r>
          </a:p>
          <a:p>
            <a:r>
              <a:rPr lang="en-US" b="1" dirty="0"/>
              <a:t>Reliability</a:t>
            </a:r>
            <a:r>
              <a:rPr lang="en-US" dirty="0"/>
              <a:t>: Linux is very reliable and is known for being run for months or even years without needing to be rebooted </a:t>
            </a:r>
            <a:br>
              <a:rPr lang="en-US" dirty="0"/>
            </a:br>
            <a:endParaRPr lang="en-US" dirty="0"/>
          </a:p>
        </p:txBody>
      </p:sp>
    </p:spTree>
    <p:extLst>
      <p:ext uri="{BB962C8B-B14F-4D97-AF65-F5344CB8AC3E}">
        <p14:creationId xmlns:p14="http://schemas.microsoft.com/office/powerpoint/2010/main" val="12302579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t>Ease of management: </a:t>
            </a:r>
            <a:r>
              <a:rPr lang="en-US" dirty="0"/>
              <a:t>Later versions of Linux have greatly improved in their ease of management side, but because it is open source you have to know how to write programming language to alter things. </a:t>
            </a:r>
            <a:r>
              <a:rPr lang="en-US" b="1" dirty="0"/>
              <a:t>Associated utilities: </a:t>
            </a:r>
            <a:r>
              <a:rPr lang="en-US" dirty="0"/>
              <a:t>Linux has a wide range of utilities available to download.</a:t>
            </a:r>
          </a:p>
          <a:p>
            <a:r>
              <a:rPr lang="en-US" b="1" dirty="0"/>
              <a:t>Cost</a:t>
            </a:r>
            <a:r>
              <a:rPr lang="en-US" dirty="0"/>
              <a:t>: Linux is free to download, so it does not cost you anything.</a:t>
            </a:r>
          </a:p>
          <a:p>
            <a:r>
              <a:rPr lang="en-US" b="1" dirty="0"/>
              <a:t>Support for the User: </a:t>
            </a:r>
            <a:r>
              <a:rPr lang="en-US" dirty="0"/>
              <a:t>Linux has books available for help and also online forums.</a:t>
            </a:r>
          </a:p>
          <a:p>
            <a:r>
              <a:rPr lang="en-US" b="1" dirty="0"/>
              <a:t>Performance: </a:t>
            </a:r>
            <a:r>
              <a:rPr lang="en-US" dirty="0"/>
              <a:t>Linux provides persistent high performance on workstations and on networks. It can handle unusually large numbers of users simultaneously, and can make old computers sufficiently responsive to be useful again.</a:t>
            </a:r>
          </a:p>
          <a:p>
            <a:r>
              <a:rPr lang="en-US" b="1" dirty="0"/>
              <a:t>Network friendliness: </a:t>
            </a:r>
            <a:r>
              <a:rPr lang="en-US" dirty="0"/>
              <a:t>Linux was developed by a group of programmers over the Internet and has therefore strong support for network functionality;</a:t>
            </a:r>
          </a:p>
          <a:p>
            <a:r>
              <a:rPr lang="en-US" dirty="0"/>
              <a:t>Linux can be used for high performance server applications, desktop applications, and embedded systems. You can save disk space by only installing the components needed for a particular use. </a:t>
            </a:r>
            <a:br>
              <a:rPr lang="en-US" dirty="0"/>
            </a:br>
            <a:endParaRPr lang="en-US" dirty="0"/>
          </a:p>
        </p:txBody>
      </p:sp>
    </p:spTree>
    <p:extLst>
      <p:ext uri="{BB962C8B-B14F-4D97-AF65-F5344CB8AC3E}">
        <p14:creationId xmlns:p14="http://schemas.microsoft.com/office/powerpoint/2010/main" val="11186607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using Linux:</a:t>
            </a:r>
            <a:r>
              <a:rPr lang="en-US" dirty="0"/>
              <a:t> </a:t>
            </a:r>
          </a:p>
        </p:txBody>
      </p:sp>
      <p:sp>
        <p:nvSpPr>
          <p:cNvPr id="3" name="Content Placeholder 2"/>
          <p:cNvSpPr>
            <a:spLocks noGrp="1"/>
          </p:cNvSpPr>
          <p:nvPr>
            <p:ph idx="1"/>
          </p:nvPr>
        </p:nvSpPr>
        <p:spPr/>
        <p:txBody>
          <a:bodyPr>
            <a:normAutofit fontScale="70000" lnSpcReduction="20000"/>
          </a:bodyPr>
          <a:lstStyle/>
          <a:p>
            <a:r>
              <a:rPr lang="en-US" dirty="0"/>
              <a:t>There’snostandardeditionofLinux.Foranewuseritcanbeconfusingtoworkoutwhichisbest</a:t>
            </a:r>
          </a:p>
          <a:p>
            <a:r>
              <a:rPr lang="en-US" dirty="0"/>
              <a:t>for you.</a:t>
            </a:r>
          </a:p>
          <a:p>
            <a:r>
              <a:rPr lang="en-US" dirty="0"/>
              <a:t> Linux has patchier support for drivers. This </a:t>
            </a:r>
            <a:r>
              <a:rPr lang="en-US" dirty="0" err="1"/>
              <a:t>meansyou’llsometimesfindittrickiertogetanew</a:t>
            </a:r>
          </a:p>
          <a:p>
            <a:r>
              <a:rPr lang="en-US" dirty="0"/>
              <a:t>device set up.</a:t>
            </a:r>
          </a:p>
          <a:p>
            <a:r>
              <a:rPr lang="en-US" dirty="0"/>
              <a:t> Linux is, for new users at least, not as easy to use as </a:t>
            </a:r>
            <a:r>
              <a:rPr lang="en-US" dirty="0" smtClean="0"/>
              <a:t>Windows</a:t>
            </a:r>
            <a:endParaRPr lang="en-US" dirty="0"/>
          </a:p>
          <a:p>
            <a:endParaRPr lang="en-US" dirty="0"/>
          </a:p>
          <a:p>
            <a:r>
              <a:rPr lang="en-US" dirty="0"/>
              <a:t> Because Linux is neither as popular as Windows, nor a commercial product, support works in a</a:t>
            </a:r>
          </a:p>
          <a:p>
            <a:r>
              <a:rPr lang="en-US" dirty="0"/>
              <a:t>different way.</a:t>
            </a:r>
          </a:p>
          <a:p>
            <a:r>
              <a:rPr lang="en-US" dirty="0"/>
              <a:t> Many of the programs you are used to in Windows will only run in Linux through a complicated</a:t>
            </a:r>
          </a:p>
          <a:p>
            <a:r>
              <a:rPr lang="en-US" dirty="0"/>
              <a:t>emulator. These programs aren’t guaranteed to work perfectly,</a:t>
            </a:r>
          </a:p>
          <a:p>
            <a:r>
              <a:rPr lang="en-US" dirty="0"/>
              <a:t> Fans of PC gaming may find Linux offers them a much more limited range. </a:t>
            </a:r>
            <a:br>
              <a:rPr lang="en-US" dirty="0"/>
            </a:br>
            <a:endParaRPr lang="en-US" dirty="0"/>
          </a:p>
        </p:txBody>
      </p:sp>
    </p:spTree>
    <p:extLst>
      <p:ext uri="{BB962C8B-B14F-4D97-AF65-F5344CB8AC3E}">
        <p14:creationId xmlns:p14="http://schemas.microsoft.com/office/powerpoint/2010/main" val="33740809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Pros. &amp; Cons:</a:t>
            </a:r>
            <a:r>
              <a:rPr lang="en-US" dirty="0"/>
              <a:t> </a:t>
            </a:r>
            <a:br>
              <a:rPr lang="en-US" dirty="0"/>
            </a:br>
            <a:endParaRPr lang="en-US" dirty="0"/>
          </a:p>
        </p:txBody>
      </p:sp>
      <p:sp>
        <p:nvSpPr>
          <p:cNvPr id="3" name="Content Placeholder 2"/>
          <p:cNvSpPr>
            <a:spLocks noGrp="1"/>
          </p:cNvSpPr>
          <p:nvPr>
            <p:ph idx="1"/>
          </p:nvPr>
        </p:nvSpPr>
        <p:spPr>
          <a:xfrm>
            <a:off x="838200" y="1264356"/>
            <a:ext cx="10515600" cy="4912607"/>
          </a:xfrm>
        </p:spPr>
        <p:txBody>
          <a:bodyPr>
            <a:normAutofit fontScale="92500" lnSpcReduction="10000"/>
          </a:bodyPr>
          <a:lstStyle/>
          <a:p>
            <a:r>
              <a:rPr lang="en-US" dirty="0"/>
              <a:t>Linux falls short in the number of different applications available for it. Linux programs distributes freely since they are not developed by commercial software companies, </a:t>
            </a:r>
            <a:endParaRPr lang="en-US" dirty="0" smtClean="0"/>
          </a:p>
          <a:p>
            <a:r>
              <a:rPr lang="en-US" dirty="0" smtClean="0"/>
              <a:t>but </a:t>
            </a:r>
            <a:r>
              <a:rPr lang="en-US" dirty="0"/>
              <a:t>instead are created under the GNU Public License, which makes the software free. Linux software lacks the GUI and is therefore not “liked” by many users </a:t>
            </a:r>
            <a:r>
              <a:rPr lang="en-US" dirty="0" smtClean="0"/>
              <a:t>.</a:t>
            </a:r>
          </a:p>
          <a:p>
            <a:r>
              <a:rPr lang="en-US" dirty="0" smtClean="0"/>
              <a:t>Linux </a:t>
            </a:r>
            <a:r>
              <a:rPr lang="en-US" dirty="0"/>
              <a:t>requires 386 architecture to run. Thus, it is compatible with any improved architecture such as 486, Pentium, Pentium Pro, etc.</a:t>
            </a:r>
          </a:p>
          <a:p>
            <a:r>
              <a:rPr lang="en-US" dirty="0"/>
              <a:t>Linux seems to be more prepared for protecting itself because of the beginning developments of Linux</a:t>
            </a:r>
            <a:r>
              <a:rPr lang="en-US" dirty="0" smtClean="0"/>
              <a:t>.</a:t>
            </a:r>
          </a:p>
          <a:p>
            <a:r>
              <a:rPr lang="en-US" dirty="0" smtClean="0"/>
              <a:t> </a:t>
            </a:r>
            <a:r>
              <a:rPr lang="en-US" dirty="0"/>
              <a:t>Linux is more virus proof since viruses – malicious programs either cannot be run automatically on the Linux machine </a:t>
            </a:r>
            <a:br>
              <a:rPr lang="en-US" dirty="0"/>
            </a:br>
            <a:endParaRPr lang="en-US" dirty="0"/>
          </a:p>
        </p:txBody>
      </p:sp>
    </p:spTree>
    <p:extLst>
      <p:ext uri="{BB962C8B-B14F-4D97-AF65-F5344CB8AC3E}">
        <p14:creationId xmlns:p14="http://schemas.microsoft.com/office/powerpoint/2010/main" val="3232582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6653"/>
          </a:xfrm>
        </p:spPr>
        <p:txBody>
          <a:bodyPr/>
          <a:lstStyle/>
          <a:p>
            <a:r>
              <a:rPr lang="en-US" b="1" dirty="0"/>
              <a:t>Comparative Analysis Feature:</a:t>
            </a:r>
            <a:r>
              <a:rPr lang="en-US" dirty="0"/>
              <a:t> </a:t>
            </a:r>
          </a:p>
        </p:txBody>
      </p:sp>
      <p:sp>
        <p:nvSpPr>
          <p:cNvPr id="3" name="Content Placeholder 2"/>
          <p:cNvSpPr>
            <a:spLocks noGrp="1"/>
          </p:cNvSpPr>
          <p:nvPr>
            <p:ph idx="1"/>
          </p:nvPr>
        </p:nvSpPr>
        <p:spPr>
          <a:xfrm>
            <a:off x="838200" y="1241778"/>
            <a:ext cx="10515600" cy="4935185"/>
          </a:xfrm>
        </p:spPr>
        <p:txBody>
          <a:bodyPr/>
          <a:lstStyle/>
          <a:p>
            <a:r>
              <a:rPr lang="en-US" b="1" dirty="0"/>
              <a:t>cost:</a:t>
            </a:r>
          </a:p>
          <a:p>
            <a:r>
              <a:rPr lang="en-US" dirty="0" smtClean="0"/>
              <a:t>The </a:t>
            </a:r>
            <a:r>
              <a:rPr lang="en-US" dirty="0"/>
              <a:t>least version of windows costs around $150. You also have to pay for other software you want</a:t>
            </a:r>
          </a:p>
          <a:p>
            <a:r>
              <a:rPr lang="en-US" dirty="0"/>
              <a:t>on windows. But the New version is Free to download for all existing users.</a:t>
            </a:r>
          </a:p>
          <a:p>
            <a:r>
              <a:rPr lang="en-US" dirty="0" smtClean="0"/>
              <a:t>Linux </a:t>
            </a:r>
            <a:r>
              <a:rPr lang="en-US" dirty="0"/>
              <a:t>is free to download, so it doesn’t cost you anything. There are software downloads that are </a:t>
            </a:r>
            <a:r>
              <a:rPr lang="en-US" dirty="0" smtClean="0"/>
              <a:t> free</a:t>
            </a:r>
            <a:r>
              <a:rPr lang="en-US" dirty="0"/>
              <a:t>, such as open office etc.</a:t>
            </a:r>
          </a:p>
          <a:p>
            <a:r>
              <a:rPr lang="en-US" dirty="0" smtClean="0"/>
              <a:t> </a:t>
            </a:r>
            <a:r>
              <a:rPr lang="en-US" dirty="0"/>
              <a:t>DOS is free of charge to download </a:t>
            </a:r>
            <a:br>
              <a:rPr lang="en-US" dirty="0"/>
            </a:br>
            <a:endParaRPr lang="en-US" dirty="0"/>
          </a:p>
        </p:txBody>
      </p:sp>
    </p:spTree>
    <p:extLst>
      <p:ext uri="{BB962C8B-B14F-4D97-AF65-F5344CB8AC3E}">
        <p14:creationId xmlns:p14="http://schemas.microsoft.com/office/powerpoint/2010/main" val="10837048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9897"/>
          </a:xfrm>
        </p:spPr>
        <p:txBody>
          <a:bodyPr>
            <a:normAutofit fontScale="90000"/>
          </a:bodyPr>
          <a:lstStyle/>
          <a:p>
            <a:r>
              <a:rPr lang="en-US" b="1" dirty="0"/>
              <a:t>Ability to customize:</a:t>
            </a:r>
            <a:r>
              <a:rPr lang="en-US" dirty="0"/>
              <a:t> </a:t>
            </a:r>
            <a:br>
              <a:rPr lang="en-US" dirty="0"/>
            </a:br>
            <a:endParaRPr lang="en-US" dirty="0"/>
          </a:p>
        </p:txBody>
      </p:sp>
      <p:sp>
        <p:nvSpPr>
          <p:cNvPr id="3" name="Content Placeholder 2"/>
          <p:cNvSpPr>
            <a:spLocks noGrp="1"/>
          </p:cNvSpPr>
          <p:nvPr>
            <p:ph idx="1"/>
          </p:nvPr>
        </p:nvSpPr>
        <p:spPr>
          <a:xfrm>
            <a:off x="838200" y="993422"/>
            <a:ext cx="10515600" cy="5475111"/>
          </a:xfrm>
        </p:spPr>
        <p:txBody>
          <a:bodyPr>
            <a:normAutofit fontScale="77500" lnSpcReduction="20000"/>
          </a:bodyPr>
          <a:lstStyle/>
          <a:p>
            <a:r>
              <a:rPr lang="en-US" dirty="0"/>
              <a:t>You can change the background and general color scheme and fonts for your windows desktop.</a:t>
            </a:r>
          </a:p>
          <a:p>
            <a:r>
              <a:rPr lang="en-US" dirty="0"/>
              <a:t>Windows is relatively customizable, but not fully. You can mainly just change the colors and </a:t>
            </a:r>
            <a:r>
              <a:rPr lang="en-US" dirty="0" smtClean="0"/>
              <a:t>looks of </a:t>
            </a:r>
            <a:r>
              <a:rPr lang="en-US" dirty="0"/>
              <a:t>things slightly.</a:t>
            </a:r>
          </a:p>
          <a:p>
            <a:r>
              <a:rPr lang="en-US" dirty="0"/>
              <a:t> Overall Linux is the most customizable, because it is open source and you can alter the codes </a:t>
            </a:r>
            <a:r>
              <a:rPr lang="en-US" dirty="0" smtClean="0"/>
              <a:t>for it</a:t>
            </a:r>
            <a:r>
              <a:rPr lang="en-US" dirty="0"/>
              <a:t>.</a:t>
            </a:r>
          </a:p>
          <a:p>
            <a:r>
              <a:rPr lang="en-US" dirty="0"/>
              <a:t> DOS can also be open source, but there is no GUI to customize. </a:t>
            </a:r>
            <a:br>
              <a:rPr lang="en-US" dirty="0"/>
            </a:br>
            <a:r>
              <a:rPr lang="en-US" b="1" dirty="0"/>
              <a:t>Support for connectivity for portable media</a:t>
            </a:r>
            <a:r>
              <a:rPr lang="en-US" dirty="0"/>
              <a:t>:</a:t>
            </a:r>
          </a:p>
          <a:p>
            <a:r>
              <a:rPr lang="en-US" dirty="0"/>
              <a:t> Windows supports connectivity for different media, including USB drives, CD/DVD, Syncing,</a:t>
            </a:r>
          </a:p>
          <a:p>
            <a:r>
              <a:rPr lang="en-US" dirty="0"/>
              <a:t>Bluetooth and Wi-Fi.</a:t>
            </a:r>
          </a:p>
          <a:p>
            <a:r>
              <a:rPr lang="en-US" dirty="0"/>
              <a:t> Linux doesn’t have as wide a range of support for connectivity but you can download a software </a:t>
            </a:r>
          </a:p>
          <a:p>
            <a:r>
              <a:rPr lang="en-US" dirty="0"/>
              <a:t>development kit to improve its connectivity. You can also download expansions to make Linux</a:t>
            </a:r>
          </a:p>
          <a:p>
            <a:r>
              <a:rPr lang="en-US" dirty="0"/>
              <a:t>more supportive for connectivity, but there are not as many things available as for windows. </a:t>
            </a:r>
            <a:br>
              <a:rPr lang="en-US" dirty="0"/>
            </a:br>
            <a:endParaRPr lang="en-US" dirty="0"/>
          </a:p>
        </p:txBody>
      </p:sp>
    </p:spTree>
    <p:extLst>
      <p:ext uri="{BB962C8B-B14F-4D97-AF65-F5344CB8AC3E}">
        <p14:creationId xmlns:p14="http://schemas.microsoft.com/office/powerpoint/2010/main" val="41150041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8297"/>
          </a:xfrm>
        </p:spPr>
        <p:txBody>
          <a:bodyPr>
            <a:normAutofit fontScale="90000"/>
          </a:bodyPr>
          <a:lstStyle/>
          <a:p>
            <a:r>
              <a:rPr lang="en-US" b="1" dirty="0"/>
              <a:t>Security:</a:t>
            </a:r>
            <a:r>
              <a:rPr lang="en-US" dirty="0"/>
              <a:t> </a:t>
            </a:r>
          </a:p>
        </p:txBody>
      </p:sp>
      <p:sp>
        <p:nvSpPr>
          <p:cNvPr id="3" name="Content Placeholder 2"/>
          <p:cNvSpPr>
            <a:spLocks noGrp="1"/>
          </p:cNvSpPr>
          <p:nvPr>
            <p:ph idx="1"/>
          </p:nvPr>
        </p:nvSpPr>
        <p:spPr>
          <a:xfrm>
            <a:off x="564444" y="1095022"/>
            <a:ext cx="10789356" cy="5452534"/>
          </a:xfrm>
        </p:spPr>
        <p:txBody>
          <a:bodyPr>
            <a:normAutofit fontScale="92500" lnSpcReduction="20000"/>
          </a:bodyPr>
          <a:lstStyle/>
          <a:p>
            <a:r>
              <a:rPr lang="en-US" dirty="0"/>
              <a:t>Windows has an administrative user that can make changes to the computer, but it has other</a:t>
            </a:r>
          </a:p>
          <a:p>
            <a:r>
              <a:rPr lang="en-US" dirty="0"/>
              <a:t>users that can perform small tasks. You need the administrator’s password to change anything if </a:t>
            </a:r>
          </a:p>
          <a:p>
            <a:r>
              <a:rPr lang="en-US" dirty="0"/>
              <a:t>on another user.</a:t>
            </a:r>
          </a:p>
          <a:p>
            <a:r>
              <a:rPr lang="en-US" dirty="0"/>
              <a:t> For Linux you have to enter the administrator’s password in order to make changes or download</a:t>
            </a:r>
          </a:p>
          <a:p>
            <a:r>
              <a:rPr lang="en-US" dirty="0"/>
              <a:t>things. You can also change the codes to make it more secure. </a:t>
            </a:r>
            <a:endParaRPr lang="en-US" dirty="0" smtClean="0"/>
          </a:p>
          <a:p>
            <a:r>
              <a:rPr lang="en-US" dirty="0" smtClean="0"/>
              <a:t>The </a:t>
            </a:r>
            <a:r>
              <a:rPr lang="en-US" dirty="0"/>
              <a:t>most secure would be </a:t>
            </a:r>
            <a:r>
              <a:rPr lang="en-US" dirty="0" smtClean="0"/>
              <a:t>Linux, because </a:t>
            </a:r>
            <a:r>
              <a:rPr lang="en-US" dirty="0"/>
              <a:t>of its ability to customize, viruses wouldn’t be able to access the computer because </a:t>
            </a:r>
            <a:r>
              <a:rPr lang="en-US" dirty="0" smtClean="0"/>
              <a:t>it wouldn’t </a:t>
            </a:r>
            <a:r>
              <a:rPr lang="en-US" dirty="0"/>
              <a:t>be specific enough.</a:t>
            </a:r>
          </a:p>
          <a:p>
            <a:r>
              <a:rPr lang="en-US" dirty="0"/>
              <a:t> DOS does not support multiple user so there are no threats from other user on the computer. DOS</a:t>
            </a:r>
          </a:p>
          <a:p>
            <a:r>
              <a:rPr lang="en-US" dirty="0"/>
              <a:t>did not really have much security when it first came out Because of the low threat </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2226479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Stability:</a:t>
            </a:r>
            <a:r>
              <a:rPr lang="en-US" dirty="0"/>
              <a:t> </a:t>
            </a:r>
            <a:br>
              <a:rPr lang="en-US" dirty="0"/>
            </a:br>
            <a:endParaRPr lang="en-US" dirty="0"/>
          </a:p>
        </p:txBody>
      </p:sp>
      <p:sp>
        <p:nvSpPr>
          <p:cNvPr id="3" name="Content Placeholder 2"/>
          <p:cNvSpPr>
            <a:spLocks noGrp="1"/>
          </p:cNvSpPr>
          <p:nvPr>
            <p:ph idx="1"/>
          </p:nvPr>
        </p:nvSpPr>
        <p:spPr/>
        <p:txBody>
          <a:bodyPr>
            <a:normAutofit/>
          </a:bodyPr>
          <a:lstStyle/>
          <a:p>
            <a:r>
              <a:rPr lang="en-US" dirty="0"/>
              <a:t>Windows is relatively stable, but Windows crashes a lot and needs rebooting a lot because of </a:t>
            </a:r>
            <a:r>
              <a:rPr lang="en-US" dirty="0" smtClean="0"/>
              <a:t>the amount </a:t>
            </a:r>
            <a:r>
              <a:rPr lang="en-US" dirty="0"/>
              <a:t>of programs running on it </a:t>
            </a:r>
            <a:r>
              <a:rPr lang="en-US" dirty="0" smtClean="0"/>
              <a:t>.</a:t>
            </a:r>
          </a:p>
          <a:p>
            <a:r>
              <a:rPr lang="en-US" dirty="0"/>
              <a:t>Linux operating systems are stable, because you can rewrite the codes for it. Only </a:t>
            </a:r>
            <a:r>
              <a:rPr lang="en-US" dirty="0" smtClean="0"/>
              <a:t>Upgradation after </a:t>
            </a:r>
            <a:r>
              <a:rPr lang="en-US" dirty="0"/>
              <a:t>successful intervals</a:t>
            </a:r>
            <a:r>
              <a:rPr lang="en-US" dirty="0" smtClean="0"/>
              <a:t>.</a:t>
            </a:r>
          </a:p>
          <a:p>
            <a:r>
              <a:rPr lang="en-US" dirty="0" smtClean="0"/>
              <a:t>Overall I think that Linux is the most </a:t>
            </a:r>
            <a:r>
              <a:rPr lang="en-US" dirty="0" err="1" smtClean="0"/>
              <a:t>stable,because</a:t>
            </a:r>
            <a:r>
              <a:rPr lang="en-US" dirty="0" smtClean="0"/>
              <a:t> it does </a:t>
            </a:r>
            <a:r>
              <a:rPr lang="en-US" dirty="0" err="1" smtClean="0"/>
              <a:t>n’t</a:t>
            </a:r>
            <a:r>
              <a:rPr lang="en-US" dirty="0" smtClean="0"/>
              <a:t> have as</a:t>
            </a:r>
            <a:endParaRPr lang="en-US" dirty="0"/>
          </a:p>
          <a:p>
            <a:r>
              <a:rPr lang="en-US" dirty="0"/>
              <a:t>much software and other things running as Windows, and it is more popular than DOS, so it </a:t>
            </a:r>
            <a:r>
              <a:rPr lang="en-US" dirty="0" err="1" smtClean="0"/>
              <a:t>isbetter</a:t>
            </a:r>
            <a:r>
              <a:rPr lang="en-US" dirty="0" smtClean="0"/>
              <a:t> </a:t>
            </a:r>
            <a:r>
              <a:rPr lang="en-US" dirty="0"/>
              <a:t>tested and improved. </a:t>
            </a:r>
            <a:br>
              <a:rPr lang="en-US" dirty="0"/>
            </a:br>
            <a:endParaRPr lang="en-US" dirty="0"/>
          </a:p>
        </p:txBody>
      </p:sp>
    </p:spTree>
    <p:extLst>
      <p:ext uri="{BB962C8B-B14F-4D97-AF65-F5344CB8AC3E}">
        <p14:creationId xmlns:p14="http://schemas.microsoft.com/office/powerpoint/2010/main" val="11497167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Ease of management:</a:t>
            </a:r>
            <a:r>
              <a:rPr lang="en-US" dirty="0"/>
              <a:t>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Because Windows is so popular, people are more familiar with the way it works so it is fairly </a:t>
            </a:r>
            <a:r>
              <a:rPr lang="en-US" dirty="0" smtClean="0"/>
              <a:t>easy for </a:t>
            </a:r>
            <a:r>
              <a:rPr lang="en-US" dirty="0"/>
              <a:t>everyone to use</a:t>
            </a:r>
            <a:r>
              <a:rPr lang="en-US" dirty="0" smtClean="0"/>
              <a:t>.</a:t>
            </a:r>
          </a:p>
          <a:p>
            <a:r>
              <a:rPr lang="en-US" dirty="0" smtClean="0"/>
              <a:t> </a:t>
            </a:r>
            <a:r>
              <a:rPr lang="en-US" dirty="0"/>
              <a:t>Windows is probably the easiest to manage because of tutorials available to</a:t>
            </a:r>
          </a:p>
          <a:p>
            <a:r>
              <a:rPr lang="en-US" dirty="0"/>
              <a:t>teach users and how most people are taught to use Windows over any other OS.</a:t>
            </a:r>
          </a:p>
          <a:p>
            <a:r>
              <a:rPr lang="en-US" dirty="0"/>
              <a:t> Later versions of Linux have greatly improved in their ease of management side, but Linux is</a:t>
            </a:r>
          </a:p>
          <a:p>
            <a:r>
              <a:rPr lang="en-US" dirty="0"/>
              <a:t>simple as well to an extent, but you have to know the commands to manage things past a </a:t>
            </a:r>
            <a:r>
              <a:rPr lang="en-US" dirty="0" err="1" smtClean="0"/>
              <a:t>certainpoint</a:t>
            </a:r>
            <a:r>
              <a:rPr lang="en-US" dirty="0"/>
              <a:t>.</a:t>
            </a:r>
          </a:p>
          <a:p>
            <a:r>
              <a:rPr lang="en-US" dirty="0"/>
              <a:t> DOS is purely command driven so it is easy to manage things if you know the codes. </a:t>
            </a:r>
            <a:br>
              <a:rPr lang="en-US" dirty="0"/>
            </a:br>
            <a:endParaRPr lang="en-US" dirty="0"/>
          </a:p>
        </p:txBody>
      </p:sp>
    </p:spTree>
    <p:extLst>
      <p:ext uri="{BB962C8B-B14F-4D97-AF65-F5344CB8AC3E}">
        <p14:creationId xmlns:p14="http://schemas.microsoft.com/office/powerpoint/2010/main" val="15494766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Associated utilities:</a:t>
            </a:r>
            <a:r>
              <a:rPr lang="en-US" dirty="0"/>
              <a:t> </a:t>
            </a:r>
          </a:p>
        </p:txBody>
      </p:sp>
      <p:sp>
        <p:nvSpPr>
          <p:cNvPr id="3" name="Content Placeholder 2"/>
          <p:cNvSpPr>
            <a:spLocks noGrp="1"/>
          </p:cNvSpPr>
          <p:nvPr>
            <p:ph idx="1"/>
          </p:nvPr>
        </p:nvSpPr>
        <p:spPr/>
        <p:txBody>
          <a:bodyPr/>
          <a:lstStyle/>
          <a:p>
            <a:r>
              <a:rPr lang="en-US" dirty="0"/>
              <a:t>Windows is the most popular OS, so it has a much wider range of utilities.</a:t>
            </a:r>
          </a:p>
          <a:p>
            <a:r>
              <a:rPr lang="en-US" dirty="0"/>
              <a:t> Linux has a lot, but not as many, with many people writing their own because it is open source.</a:t>
            </a:r>
          </a:p>
          <a:p>
            <a:r>
              <a:rPr lang="en-US" dirty="0"/>
              <a:t> </a:t>
            </a:r>
            <a:r>
              <a:rPr lang="en-US" dirty="0" err="1"/>
              <a:t>DOShastheleastassociatedutilities,becauseitisn’tusedfor</a:t>
            </a:r>
            <a:r>
              <a:rPr lang="en-US" dirty="0"/>
              <a:t> applications because it is just code. </a:t>
            </a:r>
            <a:br>
              <a:rPr lang="en-US" dirty="0"/>
            </a:br>
            <a:endParaRPr lang="en-US" dirty="0"/>
          </a:p>
        </p:txBody>
      </p:sp>
    </p:spTree>
    <p:extLst>
      <p:ext uri="{BB962C8B-B14F-4D97-AF65-F5344CB8AC3E}">
        <p14:creationId xmlns:p14="http://schemas.microsoft.com/office/powerpoint/2010/main" val="15596966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Support for the User:</a:t>
            </a:r>
            <a:r>
              <a:rPr lang="en-US" dirty="0"/>
              <a:t> </a:t>
            </a:r>
            <a:br>
              <a:rPr lang="en-US" dirty="0"/>
            </a:br>
            <a:endParaRPr lang="en-US" dirty="0"/>
          </a:p>
        </p:txBody>
      </p:sp>
      <p:sp>
        <p:nvSpPr>
          <p:cNvPr id="3" name="Content Placeholder 2"/>
          <p:cNvSpPr>
            <a:spLocks noGrp="1"/>
          </p:cNvSpPr>
          <p:nvPr>
            <p:ph idx="1"/>
          </p:nvPr>
        </p:nvSpPr>
        <p:spPr/>
        <p:txBody>
          <a:bodyPr>
            <a:normAutofit/>
          </a:bodyPr>
          <a:lstStyle/>
          <a:p>
            <a:r>
              <a:rPr lang="en-US" dirty="0"/>
              <a:t>Windows has its own help section, and websites/forums where you can talk to people and gain</a:t>
            </a:r>
          </a:p>
          <a:p>
            <a:r>
              <a:rPr lang="en-US" dirty="0"/>
              <a:t>information about windows. There are also books available for each version of windows to </a:t>
            </a:r>
            <a:r>
              <a:rPr lang="en-US" dirty="0" smtClean="0"/>
              <a:t>help you</a:t>
            </a:r>
            <a:r>
              <a:rPr lang="en-US" dirty="0"/>
              <a:t>.</a:t>
            </a:r>
          </a:p>
          <a:p>
            <a:r>
              <a:rPr lang="en-US" dirty="0" err="1"/>
              <a:t>l</a:t>
            </a:r>
            <a:r>
              <a:rPr lang="en-US" dirty="0" err="1" smtClean="0"/>
              <a:t>inux</a:t>
            </a:r>
            <a:r>
              <a:rPr lang="en-US" dirty="0" smtClean="0"/>
              <a:t> </a:t>
            </a:r>
            <a:r>
              <a:rPr lang="en-US" dirty="0"/>
              <a:t>has books available for help and also online forums. Linux has a lot of support as well, but </a:t>
            </a:r>
            <a:r>
              <a:rPr lang="en-US" dirty="0" smtClean="0"/>
              <a:t>not as </a:t>
            </a:r>
            <a:r>
              <a:rPr lang="en-US" dirty="0"/>
              <a:t>much as Windows.</a:t>
            </a:r>
          </a:p>
          <a:p>
            <a:r>
              <a:rPr lang="en-US" dirty="0"/>
              <a:t> DOS has the least amount of support available. </a:t>
            </a:r>
            <a:br>
              <a:rPr lang="en-US" dirty="0"/>
            </a:br>
            <a:endParaRPr lang="en-US" dirty="0"/>
          </a:p>
        </p:txBody>
      </p:sp>
    </p:spTree>
    <p:extLst>
      <p:ext uri="{BB962C8B-B14F-4D97-AF65-F5344CB8AC3E}">
        <p14:creationId xmlns:p14="http://schemas.microsoft.com/office/powerpoint/2010/main" val="501211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1185</TotalTime>
  <Words>2452</Words>
  <Application>Microsoft Office PowerPoint</Application>
  <PresentationFormat>Widescreen</PresentationFormat>
  <Paragraphs>169</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FEFD5085D6E</vt:lpstr>
      <vt:lpstr>FEFD5085D73</vt:lpstr>
      <vt:lpstr>Office Theme</vt:lpstr>
      <vt:lpstr>Comparative Analysis of most Demanded OS  </vt:lpstr>
      <vt:lpstr>What is the operating system?  </vt:lpstr>
      <vt:lpstr>operating system and networking </vt:lpstr>
      <vt:lpstr>Microsoft Windows:  </vt:lpstr>
      <vt:lpstr>Advantages of using Windows: </vt:lpstr>
      <vt:lpstr>Disadvantages of using Windows: </vt:lpstr>
      <vt:lpstr>Key Features of windows  </vt:lpstr>
      <vt:lpstr>PowerPoint Presentation</vt:lpstr>
      <vt:lpstr>Pros. &amp; Cons:  </vt:lpstr>
      <vt:lpstr>Mac OS:  </vt:lpstr>
      <vt:lpstr>Advantages of using Mac OS: </vt:lpstr>
      <vt:lpstr>Disadvantages of using Mac OS: </vt:lpstr>
      <vt:lpstr>Linux: </vt:lpstr>
      <vt:lpstr>Key Features of Linux: </vt:lpstr>
      <vt:lpstr>PowerPoint Presentation</vt:lpstr>
      <vt:lpstr>Disadvantages of using Linux: </vt:lpstr>
      <vt:lpstr>Pros. &amp; Cons:  </vt:lpstr>
      <vt:lpstr>Comparative Analysis Feature: </vt:lpstr>
      <vt:lpstr>Ability to customize:  </vt:lpstr>
      <vt:lpstr>Security: </vt:lpstr>
      <vt:lpstr>Stability:  </vt:lpstr>
      <vt:lpstr>Ease of management:  </vt:lpstr>
      <vt:lpstr>Associated utilities: </vt:lpstr>
      <vt:lpstr>Support for the User: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Analysis of most Demanded OS  </dc:title>
  <dc:creator>Windows User</dc:creator>
  <cp:lastModifiedBy>CGS COMPUTERS</cp:lastModifiedBy>
  <cp:revision>7</cp:revision>
  <dcterms:created xsi:type="dcterms:W3CDTF">2024-06-09T13:39:00Z</dcterms:created>
  <dcterms:modified xsi:type="dcterms:W3CDTF">2025-03-26T06:50:39Z</dcterms:modified>
</cp:coreProperties>
</file>