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268" r:id="rId2"/>
    <p:sldId id="257"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40502" autoAdjust="0"/>
  </p:normalViewPr>
  <p:slideViewPr>
    <p:cSldViewPr snapToGrid="0">
      <p:cViewPr varScale="1">
        <p:scale>
          <a:sx n="67" d="100"/>
          <a:sy n="67" d="100"/>
        </p:scale>
        <p:origin x="-132" y="-23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CCB234-0790-4524-A7ED-1BEC1833D8E8}" type="datetimeFigureOut">
              <a:rPr lang="en-GB" smtClean="0"/>
              <a:pPr/>
              <a:t>23/10/2017</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1495F5-60CE-4793-91AA-0A7A8E8DCD4A}"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2</a:t>
            </a:fld>
            <a:endParaRPr lang="en-US" dirty="0"/>
          </a:p>
        </p:txBody>
      </p:sp>
    </p:spTree>
    <p:extLst>
      <p:ext uri="{BB962C8B-B14F-4D97-AF65-F5344CB8AC3E}">
        <p14:creationId xmlns=""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lnSpc>
                <a:spcPct val="150000"/>
              </a:lnSpc>
            </a:pPr>
            <a:r>
              <a:rPr lang="en-GB" sz="2400" b="1" u="none" dirty="0" smtClean="0"/>
              <a:t>This era is said to be the era of computers. Computers have significantly changed the way we live. A computing device when connected to other computing device(s) enables us to share data and information at lightning fast speed. There are</a:t>
            </a:r>
            <a:r>
              <a:rPr lang="en-GB" sz="2400" b="1" u="none" baseline="0" dirty="0" smtClean="0"/>
              <a:t> hundred n thousands of mechanism for connecting a computer to another computer, a network to another network and at the end of the edge it forms a world wide network known as Internet</a:t>
            </a:r>
            <a:r>
              <a:rPr lang="en-GB" sz="2400" baseline="0" dirty="0" smtClean="0"/>
              <a:t>.</a:t>
            </a:r>
            <a:endParaRPr lang="en-GB" sz="2400"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3</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4</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endParaRPr lang="en-GB" sz="1600" dirty="0" smtClean="0"/>
          </a:p>
          <a:p>
            <a:r>
              <a:rPr lang="en-GB" sz="1600" b="1" dirty="0" smtClean="0"/>
              <a:t>Additional Information:</a:t>
            </a:r>
          </a:p>
          <a:p>
            <a:r>
              <a:rPr lang="en-GB" sz="1600" dirty="0" smtClean="0"/>
              <a:t>If definitions are helpful to you, use these vocabulary terms in order to get you started:</a:t>
            </a:r>
          </a:p>
          <a:p>
            <a:r>
              <a:rPr lang="en-GB" sz="1600" b="1" dirty="0" smtClean="0"/>
              <a:t>Address - </a:t>
            </a:r>
            <a:r>
              <a:rPr lang="en-GB" sz="1600" dirty="0" smtClean="0"/>
              <a:t>The unique number ID assigned to one host or interface in a network.</a:t>
            </a:r>
          </a:p>
          <a:p>
            <a:r>
              <a:rPr lang="en-GB" sz="1600" b="1" dirty="0" smtClean="0"/>
              <a:t>Subnet - </a:t>
            </a:r>
            <a:r>
              <a:rPr lang="en-GB" sz="1600" dirty="0" smtClean="0"/>
              <a:t>A portion of a network that shares a particular subnet address.</a:t>
            </a:r>
          </a:p>
          <a:p>
            <a:r>
              <a:rPr lang="en-GB" sz="1600" b="1" dirty="0" smtClean="0"/>
              <a:t>Subnet mask - </a:t>
            </a:r>
            <a:r>
              <a:rPr lang="en-GB" sz="1600" dirty="0" smtClean="0"/>
              <a:t>A 32-bit combination used to describe which portion of an address refers to the subnet and which part refers to the host.</a:t>
            </a:r>
          </a:p>
          <a:p>
            <a:r>
              <a:rPr lang="en-GB" sz="1600" b="1" dirty="0" smtClean="0"/>
              <a:t>Interface - </a:t>
            </a:r>
            <a:r>
              <a:rPr lang="en-GB" sz="1600" dirty="0" smtClean="0"/>
              <a:t>A network connection.</a:t>
            </a:r>
          </a:p>
          <a:p>
            <a:pPr>
              <a:buFont typeface="Arial" pitchFamily="34" charset="0"/>
              <a:buNone/>
            </a:pPr>
            <a:endParaRPr lang="en-GB" sz="1600" dirty="0" smtClean="0"/>
          </a:p>
          <a:p>
            <a:pPr>
              <a:buFont typeface="Arial" pitchFamily="34" charset="0"/>
              <a:buChar char="•"/>
            </a:pPr>
            <a:r>
              <a:rPr lang="en-GB" sz="1600" dirty="0" smtClean="0"/>
              <a:t>The 32 binary bits are broken into four octets (1 octet = 8 bits). Each octet is converted to decimal and separated by a period (dot). For this reason, an IP address is said to be expressed in dotted decimal format (for example, 172.16.81.100). The value in each octet ranges from 0 to 255 decimal, or 00000000 - 11111111 binary.</a:t>
            </a:r>
          </a:p>
          <a:p>
            <a:pPr>
              <a:buFont typeface="Arial" pitchFamily="34" charset="0"/>
              <a:buNone/>
            </a:pPr>
            <a:endParaRPr lang="en-GB" sz="1600" dirty="0" smtClean="0"/>
          </a:p>
          <a:p>
            <a:pPr>
              <a:buFont typeface="Arial" pitchFamily="34" charset="0"/>
              <a:buChar char="•"/>
            </a:pPr>
            <a:r>
              <a:rPr lang="en-GB" sz="1600" dirty="0" smtClean="0"/>
              <a:t>The right most bit, or least significant bit, of an octet holds a value of 2</a:t>
            </a:r>
            <a:r>
              <a:rPr lang="en-GB" sz="1600" baseline="30000" dirty="0" smtClean="0"/>
              <a:t>0</a:t>
            </a:r>
            <a:r>
              <a:rPr lang="en-GB" sz="1600" dirty="0" smtClean="0"/>
              <a:t>. The bit just to the left of that holds a value of 2</a:t>
            </a:r>
            <a:r>
              <a:rPr lang="en-GB" sz="1600" baseline="30000" dirty="0" smtClean="0"/>
              <a:t>1</a:t>
            </a:r>
            <a:r>
              <a:rPr lang="en-GB" sz="1600" dirty="0" smtClean="0"/>
              <a:t>. This continues until the left-most bit, or most significant bit, which holds a value of 2</a:t>
            </a:r>
            <a:r>
              <a:rPr lang="en-GB" sz="1600" baseline="30000" dirty="0" smtClean="0"/>
              <a:t>7.</a:t>
            </a:r>
          </a:p>
          <a:p>
            <a:pPr>
              <a:buFont typeface="Arial" pitchFamily="34" charset="0"/>
              <a:buChar char="•"/>
            </a:pPr>
            <a:endParaRPr lang="en-GB" sz="1600" baseline="30000" dirty="0" smtClean="0"/>
          </a:p>
          <a:p>
            <a:pPr>
              <a:buFont typeface="Arial" pitchFamily="34" charset="0"/>
              <a:buChar char="•"/>
            </a:pPr>
            <a:r>
              <a:rPr lang="en-GB" sz="1600" b="1" dirty="0" smtClean="0"/>
              <a:t>Subnet:</a:t>
            </a:r>
            <a:r>
              <a:rPr lang="en-GB" sz="1600" dirty="0" smtClean="0"/>
              <a:t> A smaller network created by dividing a larger network into equal parts.</a:t>
            </a:r>
            <a:endParaRPr lang="en-GB" sz="1600" baseline="30000" dirty="0" smtClean="0"/>
          </a:p>
          <a:p>
            <a:pPr>
              <a:buFont typeface="Arial" pitchFamily="34" charset="0"/>
              <a:buNone/>
            </a:pPr>
            <a:endParaRPr lang="en-GB" sz="1600" baseline="30000" dirty="0" smtClean="0"/>
          </a:p>
          <a:p>
            <a:pPr>
              <a:buFont typeface="Arial" pitchFamily="34" charset="0"/>
              <a:buChar char="•"/>
            </a:pPr>
            <a:r>
              <a:rPr lang="en-GB" sz="1600" b="1" dirty="0" smtClean="0"/>
              <a:t>Subnet Mask</a:t>
            </a:r>
            <a:r>
              <a:rPr lang="en-GB" sz="1600" dirty="0" smtClean="0"/>
              <a:t>:</a:t>
            </a:r>
            <a:r>
              <a:rPr lang="en-GB" sz="1600" baseline="0" dirty="0" smtClean="0"/>
              <a:t> </a:t>
            </a:r>
            <a:r>
              <a:rPr lang="en-GB" sz="1600" dirty="0" smtClean="0"/>
              <a:t>A 32-bit number used to distinguish the network and host portions of an IP address. It</a:t>
            </a:r>
            <a:r>
              <a:rPr lang="en-GB" sz="1600" baseline="0" dirty="0" smtClean="0"/>
              <a:t> </a:t>
            </a:r>
            <a:r>
              <a:rPr lang="en-GB" sz="1600" dirty="0" smtClean="0"/>
              <a:t>divides the IP address into </a:t>
            </a:r>
            <a:r>
              <a:rPr lang="en-GB" sz="1600" b="0" dirty="0" smtClean="0"/>
              <a:t>network</a:t>
            </a:r>
            <a:r>
              <a:rPr lang="en-GB" sz="1600" dirty="0" smtClean="0"/>
              <a:t> address and host address.</a:t>
            </a:r>
            <a:endParaRPr lang="en-GB" sz="1600"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6</a:t>
            </a:fld>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For more detail:</a:t>
            </a:r>
          </a:p>
          <a:p>
            <a:r>
              <a:rPr lang="en-GB" dirty="0" smtClean="0"/>
              <a:t>http://www.pctools.com/security-news/what-does-a-firewall-do/</a:t>
            </a: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7</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8</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Char char="•"/>
            </a:pPr>
            <a:r>
              <a:rPr lang="en-GB" dirty="0" smtClean="0"/>
              <a:t>The basic firewall software most commonly used in Linux is called </a:t>
            </a:r>
            <a:r>
              <a:rPr lang="en-GB" b="1" dirty="0" smtClean="0"/>
              <a:t>iptables</a:t>
            </a:r>
            <a:r>
              <a:rPr lang="en-GB" dirty="0" smtClean="0"/>
              <a:t> . The </a:t>
            </a:r>
            <a:r>
              <a:rPr lang="en-GB" b="1" dirty="0" smtClean="0"/>
              <a:t>iptables</a:t>
            </a:r>
            <a:r>
              <a:rPr lang="en-GB" dirty="0" smtClean="0"/>
              <a:t> firewall works by interacting with the packet filtering hooks in the Linux kernel's networking stack. These kernel hooks are known as the </a:t>
            </a:r>
            <a:r>
              <a:rPr lang="en-GB" b="1" dirty="0" smtClean="0"/>
              <a:t>netfilter</a:t>
            </a:r>
            <a:r>
              <a:rPr lang="en-GB" b="0" baseline="0" dirty="0" smtClean="0"/>
              <a:t> </a:t>
            </a:r>
            <a:r>
              <a:rPr lang="en-GB" dirty="0" smtClean="0"/>
              <a:t>framework.</a:t>
            </a:r>
          </a:p>
          <a:p>
            <a:pPr>
              <a:buFont typeface="Arial" pitchFamily="34" charset="0"/>
              <a:buChar char="•"/>
            </a:pPr>
            <a:endParaRPr lang="en-GB" dirty="0" smtClean="0"/>
          </a:p>
          <a:p>
            <a:pPr>
              <a:buFont typeface="Arial" pitchFamily="34" charset="0"/>
              <a:buChar char="•"/>
            </a:pPr>
            <a:r>
              <a:rPr lang="en-GB" b="1" dirty="0" smtClean="0"/>
              <a:t>Netfilter</a:t>
            </a:r>
            <a:r>
              <a:rPr lang="en-GB" dirty="0" smtClean="0"/>
              <a:t> is a utility in Linux 2.4 (and later releases) that facilitates Network Address Translation (NAT), packet filtering, and packet mangling. NAT is the process of converting an Internet protocol (IP) address into another IP address.</a:t>
            </a:r>
          </a:p>
          <a:p>
            <a:pPr>
              <a:buFont typeface="Arial" pitchFamily="34" charset="0"/>
              <a:buChar char="•"/>
            </a:pPr>
            <a:endParaRPr lang="en-GB" dirty="0" smtClean="0"/>
          </a:p>
          <a:p>
            <a:r>
              <a:rPr lang="en-GB" b="1" dirty="0" smtClean="0"/>
              <a:t>Netfilter Hooks</a:t>
            </a:r>
          </a:p>
          <a:p>
            <a:r>
              <a:rPr lang="en-GB" dirty="0" smtClean="0"/>
              <a:t>There are five netfilter hooks that programs can register with. As packets progress through the stack, they will trigger the kernel modules that have registered with these hooks. The hooks that a packet will trigger depends on whether the packet is incoming or outgoing, the packet's destination, and whether the packet was dropped or rejected at a previous point.</a:t>
            </a:r>
          </a:p>
          <a:p>
            <a:r>
              <a:rPr lang="en-GB" dirty="0" smtClean="0"/>
              <a:t>The following hooks represent various well-defined points in the networking stack:</a:t>
            </a:r>
          </a:p>
          <a:p>
            <a:pPr>
              <a:buFont typeface="Arial" pitchFamily="34" charset="0"/>
              <a:buChar char="•"/>
            </a:pPr>
            <a:r>
              <a:rPr lang="en-GB" dirty="0" smtClean="0"/>
              <a:t>NF_IP_PRE_ROUTING: This hook will be triggered by any incoming traffic very soon after entering the network stack. This hook is processed before any routing decisions have been made regarding where to send the packet.</a:t>
            </a:r>
          </a:p>
          <a:p>
            <a:pPr>
              <a:buFont typeface="Arial" pitchFamily="34" charset="0"/>
              <a:buChar char="•"/>
            </a:pPr>
            <a:r>
              <a:rPr lang="en-GB" dirty="0" smtClean="0"/>
              <a:t>NF_IP_LOCAL_IN: This hook is triggered after an incoming packet has been routed if the packet is destined for the local system.</a:t>
            </a:r>
          </a:p>
          <a:p>
            <a:pPr>
              <a:buFont typeface="Arial" pitchFamily="34" charset="0"/>
              <a:buChar char="•"/>
            </a:pPr>
            <a:r>
              <a:rPr lang="en-GB" dirty="0" smtClean="0"/>
              <a:t>NF_IP_FORWARD: This hook is triggered after an incoming packet has been routed if the packet is to be forwarded to another host.</a:t>
            </a:r>
          </a:p>
          <a:p>
            <a:pPr>
              <a:buFont typeface="Arial" pitchFamily="34" charset="0"/>
              <a:buChar char="•"/>
            </a:pPr>
            <a:r>
              <a:rPr lang="en-GB" dirty="0" smtClean="0"/>
              <a:t>NF_IP_LOCAL_OUT: This hook is triggered by any locally created outbound traffic as soon it hits the network stack.</a:t>
            </a:r>
          </a:p>
          <a:p>
            <a:pPr>
              <a:buFont typeface="Arial" pitchFamily="34" charset="0"/>
              <a:buChar char="•"/>
            </a:pPr>
            <a:r>
              <a:rPr lang="en-GB" dirty="0" smtClean="0"/>
              <a:t>NF_IP_POST_ROUTING: This hook is triggered by any outgoing or forwarded traffic after routing has taken place and just before being put out on the wire.</a:t>
            </a:r>
          </a:p>
          <a:p>
            <a:r>
              <a:rPr lang="en-GB" dirty="0" smtClean="0"/>
              <a:t>Kernel modules that wish to register at these hooks must provide a priority number to help determine the order in which they will be called when the hook is triggered. This provides the means for multiple modules (or multiple instances of the same module) to be connected to each of the hooks with deterministic ordering. Each module will be called in turn and will return a decision to the netfilter framework after processing that indicates what should be done with the packet.</a:t>
            </a:r>
          </a:p>
          <a:p>
            <a:pPr>
              <a:buFont typeface="Arial" pitchFamily="34" charset="0"/>
              <a:buChar char="•"/>
            </a:pP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11</a:t>
            </a:fld>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GB" b="1" dirty="0" smtClean="0"/>
              <a:t>Input</a:t>
            </a:r>
            <a:r>
              <a:rPr lang="en-GB" dirty="0" smtClean="0"/>
              <a:t> – This chain is used to control the behaviour for incoming connections. For example, if a user attempts to SSH into your PC/server, iptables will attempt to match the IP address and port to a rule in the input chain.</a:t>
            </a:r>
          </a:p>
          <a:p>
            <a:pPr>
              <a:buFont typeface="Arial" pitchFamily="34" charset="0"/>
              <a:buNone/>
            </a:pPr>
            <a:endParaRPr lang="en-GB" dirty="0" smtClean="0"/>
          </a:p>
          <a:p>
            <a:pPr>
              <a:buFont typeface="Arial" pitchFamily="34" charset="0"/>
              <a:buChar char="•"/>
            </a:pPr>
            <a:r>
              <a:rPr lang="en-GB" b="1" dirty="0" smtClean="0"/>
              <a:t>Forward</a:t>
            </a:r>
            <a:r>
              <a:rPr lang="en-GB" dirty="0" smtClean="0"/>
              <a:t> – This chain is used for incoming connections that aren’t actually being delivered locally. Think of a router – data is always being sent to it but rarely actually destined for the router itself; the data is just forwarded to its target. Unless you’re doing some kind of routing, </a:t>
            </a:r>
            <a:r>
              <a:rPr lang="en-GB" dirty="0" err="1" smtClean="0"/>
              <a:t>NATing</a:t>
            </a:r>
            <a:r>
              <a:rPr lang="en-GB" dirty="0" smtClean="0"/>
              <a:t>, or something else on your system that requires forwarding, you won’t even use this chain.</a:t>
            </a:r>
          </a:p>
          <a:p>
            <a:pPr>
              <a:buFont typeface="Arial" pitchFamily="34" charset="0"/>
              <a:buChar char="•"/>
            </a:pPr>
            <a:endParaRPr lang="en-GB" dirty="0" smtClean="0"/>
          </a:p>
          <a:p>
            <a:pPr>
              <a:buFont typeface="Arial" pitchFamily="34" charset="0"/>
              <a:buChar char="•"/>
            </a:pPr>
            <a:r>
              <a:rPr lang="en-GB" b="1" dirty="0" smtClean="0"/>
              <a:t>Output</a:t>
            </a:r>
            <a:r>
              <a:rPr lang="en-GB" dirty="0" smtClean="0"/>
              <a:t> – This chain is used for outgoing connections. For example, if you try to ping howtogeek.com, iptables will check its output chain to see what the rules are regarding ping and howtogeek.com before making a decision to allow or deny the connection attempt.</a:t>
            </a:r>
          </a:p>
          <a:p>
            <a:pPr>
              <a:buFont typeface="Arial" pitchFamily="34" charset="0"/>
              <a:buChar char="•"/>
            </a:pPr>
            <a:endParaRPr lang="en-GB" dirty="0" smtClean="0"/>
          </a:p>
          <a:p>
            <a:pPr>
              <a:buFont typeface="Arial" pitchFamily="34" charset="0"/>
              <a:buChar char="•"/>
            </a:pPr>
            <a:r>
              <a:rPr lang="en-GB" dirty="0" smtClean="0"/>
              <a:t>http://blog.adityapatawari.com/2011/12/ip-packet-filtering-iptables-explained.html</a:t>
            </a:r>
          </a:p>
          <a:p>
            <a:pPr>
              <a:buFont typeface="Arial" pitchFamily="34" charset="0"/>
              <a:buChar char="•"/>
            </a:pPr>
            <a:endParaRPr lang="en-GB" dirty="0" smtClean="0"/>
          </a:p>
          <a:p>
            <a:endParaRPr lang="en-GB" dirty="0"/>
          </a:p>
        </p:txBody>
      </p:sp>
      <p:sp>
        <p:nvSpPr>
          <p:cNvPr id="4" name="Slide Number Placeholder 3"/>
          <p:cNvSpPr>
            <a:spLocks noGrp="1"/>
          </p:cNvSpPr>
          <p:nvPr>
            <p:ph type="sldNum" sz="quarter" idx="10"/>
          </p:nvPr>
        </p:nvSpPr>
        <p:spPr/>
        <p:txBody>
          <a:bodyPr/>
          <a:lstStyle/>
          <a:p>
            <a:fld id="{411495F5-60CE-4793-91AA-0A7A8E8DCD4A}" type="slidenum">
              <a:rPr lang="en-GB" smtClean="0"/>
              <a:pPr/>
              <a:t>14</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834619E-9E30-4365-A27D-C53C00E27D69}" type="datetime1">
              <a:rPr lang="en-US" smtClean="0"/>
              <a:pPr/>
              <a:t>10/23/2017</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80719DE-0AF4-41A6-AB65-08709AC1A97B}"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E2B497-0F5F-44EA-BB9F-4ED5015FF02A}"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CF1EC17-6934-400D-810B-513E2201987C}" type="datetime1">
              <a:rPr lang="en-US" smtClean="0"/>
              <a:pPr/>
              <a:t>10/23/2017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D2F7EC6-B2CC-426D-B173-69E46F15B1CB}" type="datetime1">
              <a:rPr lang="en-US" smtClean="0"/>
              <a:pPr/>
              <a:t>10/23/2017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61A2BC0-935D-42CF-A456-D8701E296806}" type="datetime1">
              <a:rPr lang="en-US" smtClean="0"/>
              <a:pPr/>
              <a:t>10/23/2017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4E2BA-9D9C-45CA-A5B7-534F40AAAAA2}" type="datetime1">
              <a:rPr lang="en-US" smtClean="0"/>
              <a:pPr/>
              <a:t>10/23/2017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2395BF-38CA-407F-BB94-7614DBA2505B}" type="datetime1">
              <a:rPr lang="en-US" smtClean="0"/>
              <a:pPr/>
              <a:t>10/23/2017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A2C8A9-8FE4-4250-BAA8-98163F24D97C}" type="datetime1">
              <a:rPr lang="en-US" smtClean="0"/>
              <a:pPr/>
              <a:t>10/23/2017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DC4F86-BA4E-40B0-B7AF-4A9C37A2F4FD}" type="datetime1">
              <a:rPr lang="en-US" smtClean="0"/>
              <a:pPr/>
              <a:t>10/23/2017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2FA7D0-CC94-4270-B794-C6CCD642D292}"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23BFDF-7476-4034-A84D-8D33BA143B16}"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93521B-6683-449C-B5A6-205364078D5B}"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9999D6-EFD6-4710-9EEB-2A71DFCF1F09}"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82B149-D4FD-4A5D-B138-E03E75A55FF3}"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E2483D-626D-49AE-BB41-62ACCBD3F6CF}"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EF5E1A-B1D0-4356-83EE-24BB0C39EB84}" type="datetime1">
              <a:rPr lang="en-US" smtClean="0"/>
              <a:pPr/>
              <a:t>10/23/2017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smtClean="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 xmlns:a14="http://schemas.microsoft.com/office/drawing/2010/main">
                  <a14:imgLayer r:embed="rId3">
                    <a14:imgEffect>
                      <a14:saturation sat="30000"/>
                    </a14:imgEffect>
                  </a14:imgLayer>
                </a14:imgProps>
              </a:ext>
              <a:ext uri="{28A0092B-C50C-407E-A947-70E740481C1C}">
                <a14:useLocalDpi xmlns="" xmlns:a14="http://schemas.microsoft.com/office/drawing/2010/main" val="0"/>
              </a:ext>
            </a:extLst>
          </a:blip>
          <a:srcRect/>
          <a:stretch/>
        </p:blipFill>
        <p:spPr>
          <a:xfrm>
            <a:off x="1325880" y="0"/>
            <a:ext cx="1747524" cy="2292094"/>
          </a:xfrm>
          <a:prstGeom prst="rect">
            <a:avLst/>
          </a:prstGeom>
        </p:spPr>
      </p:pic>
      <p:grpSp>
        <p:nvGrpSpPr>
          <p:cNvPr id="5"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 xmlns:p14="http://schemas.microsoft.com/office/powerpoint/2010/main" val="267394360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5B0F92E-18E5-4A80-98F8-B003E3A0CDEC}" type="datetime1">
              <a:rPr lang="en-US" smtClean="0"/>
              <a:pPr/>
              <a:t>10/23/2017</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 id="2147483668" r:id="rId18"/>
  </p:sldLayoutIdLst>
  <p:transition spd="slow"/>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b="1" dirty="0" smtClean="0">
                <a:solidFill>
                  <a:schemeClr val="accent1">
                    <a:lumMod val="50000"/>
                  </a:schemeClr>
                </a:solidFill>
                <a:latin typeface="Andalus" pitchFamily="18" charset="-78"/>
                <a:cs typeface="Andalus" pitchFamily="18" charset="-78"/>
              </a:rPr>
              <a:t>SYSTEM AND NETWORK ADMINISTRATION</a:t>
            </a:r>
            <a:endParaRPr lang="en-US" b="1" dirty="0">
              <a:solidFill>
                <a:schemeClr val="accent1">
                  <a:lumMod val="50000"/>
                </a:schemeClr>
              </a:solidFill>
              <a:latin typeface="Andalus" pitchFamily="18" charset="-78"/>
              <a:cs typeface="Andalus" pitchFamily="18" charset="-78"/>
            </a:endParaRPr>
          </a:p>
        </p:txBody>
      </p:sp>
    </p:spTree>
    <p:extLst>
      <p:ext uri="{BB962C8B-B14F-4D97-AF65-F5344CB8AC3E}">
        <p14:creationId xmlns="" xmlns:p14="http://schemas.microsoft.com/office/powerpoint/2010/main" val="2526593619"/>
      </p:ext>
    </p:extLst>
  </p:cSld>
  <p:clrMapOvr>
    <a:masterClrMapping/>
  </p:clrMapOvr>
  <p:transition spd="slow">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01651" y="2414757"/>
            <a:ext cx="5734050" cy="2219691"/>
          </a:xfrm>
        </p:spPr>
        <p:txBody>
          <a:bodyPr anchor="ctr">
            <a:noAutofit/>
          </a:bodyPr>
          <a:lstStyle/>
          <a:p>
            <a:pPr algn="ctr"/>
            <a:r>
              <a:rPr lang="en-US" sz="6000" dirty="0" smtClean="0">
                <a:solidFill>
                  <a:schemeClr val="accent1">
                    <a:lumMod val="50000"/>
                  </a:schemeClr>
                </a:solidFill>
                <a:latin typeface="Andalus" pitchFamily="18" charset="-78"/>
                <a:cs typeface="Andalus" pitchFamily="18" charset="-78"/>
              </a:rPr>
              <a:t>IP TABLES </a:t>
            </a:r>
            <a:br>
              <a:rPr lang="en-US" sz="6000" dirty="0" smtClean="0">
                <a:solidFill>
                  <a:schemeClr val="accent1">
                    <a:lumMod val="50000"/>
                  </a:schemeClr>
                </a:solidFill>
                <a:latin typeface="Andalus" pitchFamily="18" charset="-78"/>
                <a:cs typeface="Andalus" pitchFamily="18" charset="-78"/>
              </a:rPr>
            </a:br>
            <a:r>
              <a:rPr lang="en-US" sz="6000" dirty="0" smtClean="0">
                <a:solidFill>
                  <a:schemeClr val="accent1">
                    <a:lumMod val="50000"/>
                  </a:schemeClr>
                </a:solidFill>
                <a:latin typeface="Andalus" pitchFamily="18" charset="-78"/>
                <a:cs typeface="Andalus" pitchFamily="18" charset="-78"/>
              </a:rPr>
              <a:t>AND </a:t>
            </a:r>
            <a:br>
              <a:rPr lang="en-US" sz="6000" dirty="0" smtClean="0">
                <a:solidFill>
                  <a:schemeClr val="accent1">
                    <a:lumMod val="50000"/>
                  </a:schemeClr>
                </a:solidFill>
                <a:latin typeface="Andalus" pitchFamily="18" charset="-78"/>
                <a:cs typeface="Andalus" pitchFamily="18" charset="-78"/>
              </a:rPr>
            </a:br>
            <a:r>
              <a:rPr lang="en-US" sz="6000" dirty="0" smtClean="0">
                <a:solidFill>
                  <a:schemeClr val="accent1">
                    <a:lumMod val="50000"/>
                  </a:schemeClr>
                </a:solidFill>
                <a:latin typeface="Andalus" pitchFamily="18" charset="-78"/>
                <a:cs typeface="Andalus" pitchFamily="18" charset="-78"/>
              </a:rPr>
              <a:t>FILTERING</a:t>
            </a:r>
            <a:endParaRPr lang="en-US" sz="6000" dirty="0">
              <a:solidFill>
                <a:schemeClr val="accent1">
                  <a:lumMod val="50000"/>
                </a:schemeClr>
              </a:solidFill>
              <a:latin typeface="Andalus" pitchFamily="18" charset="-78"/>
              <a:cs typeface="Andalus" pitchFamily="18" charset="-78"/>
            </a:endParaRPr>
          </a:p>
        </p:txBody>
      </p:sp>
      <p:pic>
        <p:nvPicPr>
          <p:cNvPr id="4" name="Picture Placeholder 3" descr="Open book on table, blurred shelves of books in background"/>
          <p:cNvPicPr>
            <a:picLocks noGrp="1" noChangeAspect="1"/>
          </p:cNvPicPr>
          <p:nvPr>
            <p:ph type="pic" sz="quarter" idx="13"/>
          </p:nvPr>
        </p:nvPicPr>
        <p:blipFill>
          <a:blip r:embed="rId3" cstate="print">
            <a:lum bright="-7000" contrast="36000"/>
          </a:blip>
          <a:stretch>
            <a:fillRect/>
          </a:stretch>
        </p:blipFill>
        <p:spPr>
          <a:xfrm>
            <a:off x="5742879" y="2026471"/>
            <a:ext cx="6032810" cy="2910299"/>
          </a:xfrm>
          <a:ln w="6350" cap="sq" cmpd="sng">
            <a:noFill/>
          </a:ln>
        </p:spPr>
      </p:pic>
    </p:spTree>
    <p:extLst>
      <p:ext uri="{BB962C8B-B14F-4D97-AF65-F5344CB8AC3E}">
        <p14:creationId xmlns="" xmlns:p14="http://schemas.microsoft.com/office/powerpoint/2010/main" val="1652133998"/>
      </p:ext>
    </p:extLst>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49625" y="0"/>
            <a:ext cx="10018713" cy="1208314"/>
          </a:xfrm>
        </p:spPr>
        <p:txBody>
          <a:bodyPr>
            <a:normAutofit/>
          </a:bodyPr>
          <a:lstStyle/>
          <a:p>
            <a:r>
              <a:rPr lang="en-US" sz="3200" b="1" dirty="0" smtClean="0"/>
              <a:t>     </a:t>
            </a:r>
            <a:r>
              <a:rPr lang="en-US" sz="5400" b="1" dirty="0" smtClean="0"/>
              <a:t>OUTLINE</a:t>
            </a:r>
            <a:endParaRPr lang="en-US" sz="5400" b="1" dirty="0"/>
          </a:p>
        </p:txBody>
      </p:sp>
      <p:sp>
        <p:nvSpPr>
          <p:cNvPr id="14" name="Content Placeholder 13"/>
          <p:cNvSpPr>
            <a:spLocks noGrp="1"/>
          </p:cNvSpPr>
          <p:nvPr>
            <p:ph idx="1"/>
          </p:nvPr>
        </p:nvSpPr>
        <p:spPr>
          <a:xfrm>
            <a:off x="1763485" y="2246813"/>
            <a:ext cx="10105297" cy="3749040"/>
          </a:xfrm>
        </p:spPr>
        <p:txBody>
          <a:bodyPr>
            <a:normAutofit fontScale="25000" lnSpcReduction="20000"/>
          </a:bodyPr>
          <a:lstStyle/>
          <a:p>
            <a:pPr>
              <a:lnSpc>
                <a:spcPct val="100000"/>
              </a:lnSpc>
              <a:spcBef>
                <a:spcPts val="600"/>
              </a:spcBef>
            </a:pPr>
            <a:r>
              <a:rPr lang="en-US" sz="9600" b="1" dirty="0" smtClean="0"/>
              <a:t>What is Internet Protocols?</a:t>
            </a:r>
          </a:p>
          <a:p>
            <a:pPr>
              <a:lnSpc>
                <a:spcPct val="100000"/>
              </a:lnSpc>
              <a:spcBef>
                <a:spcPts val="600"/>
              </a:spcBef>
            </a:pPr>
            <a:r>
              <a:rPr lang="en-US" sz="9600" b="1" dirty="0" smtClean="0"/>
              <a:t>What dose these protocols do?</a:t>
            </a:r>
          </a:p>
          <a:p>
            <a:pPr>
              <a:lnSpc>
                <a:spcPct val="100000"/>
              </a:lnSpc>
              <a:spcBef>
                <a:spcPts val="600"/>
              </a:spcBef>
            </a:pPr>
            <a:r>
              <a:rPr lang="en-US" sz="9600" b="1" dirty="0" smtClean="0"/>
              <a:t>Firewall utilities</a:t>
            </a:r>
          </a:p>
          <a:p>
            <a:pPr>
              <a:lnSpc>
                <a:spcPct val="100000"/>
              </a:lnSpc>
              <a:spcBef>
                <a:spcPts val="600"/>
              </a:spcBef>
            </a:pPr>
            <a:r>
              <a:rPr lang="en-US" sz="9600" b="1" dirty="0" smtClean="0"/>
              <a:t>Before Iptables</a:t>
            </a:r>
          </a:p>
          <a:p>
            <a:pPr>
              <a:lnSpc>
                <a:spcPct val="100000"/>
              </a:lnSpc>
              <a:spcBef>
                <a:spcPts val="600"/>
              </a:spcBef>
            </a:pPr>
            <a:r>
              <a:rPr lang="en-US" sz="9600" b="1" dirty="0" smtClean="0"/>
              <a:t>Iptables Definition</a:t>
            </a:r>
          </a:p>
          <a:p>
            <a:pPr>
              <a:lnSpc>
                <a:spcPct val="100000"/>
              </a:lnSpc>
              <a:spcBef>
                <a:spcPts val="600"/>
              </a:spcBef>
            </a:pPr>
            <a:r>
              <a:rPr lang="en-US" sz="9600" b="1" dirty="0" smtClean="0"/>
              <a:t>Basic Structure of IP Table</a:t>
            </a:r>
          </a:p>
          <a:p>
            <a:pPr>
              <a:lnSpc>
                <a:spcPct val="100000"/>
              </a:lnSpc>
              <a:spcBef>
                <a:spcPts val="600"/>
              </a:spcBef>
            </a:pPr>
            <a:r>
              <a:rPr lang="en-US" sz="9600" b="1" dirty="0" smtClean="0"/>
              <a:t>IP Tables Filtering</a:t>
            </a:r>
          </a:p>
          <a:p>
            <a:pPr>
              <a:lnSpc>
                <a:spcPct val="100000"/>
              </a:lnSpc>
              <a:spcBef>
                <a:spcPts val="600"/>
              </a:spcBef>
            </a:pPr>
            <a:r>
              <a:rPr lang="en-US" sz="9600" b="1" dirty="0" smtClean="0"/>
              <a:t>Rules in Chains</a:t>
            </a:r>
          </a:p>
          <a:p>
            <a:pPr>
              <a:lnSpc>
                <a:spcPct val="100000"/>
              </a:lnSpc>
              <a:spcBef>
                <a:spcPts val="600"/>
              </a:spcBef>
            </a:pPr>
            <a:r>
              <a:rPr lang="en-US" sz="9600" b="1" dirty="0" smtClean="0"/>
              <a:t>Targets</a:t>
            </a:r>
          </a:p>
          <a:p>
            <a:pPr>
              <a:lnSpc>
                <a:spcPct val="100000"/>
              </a:lnSpc>
              <a:spcBef>
                <a:spcPts val="600"/>
              </a:spcBef>
            </a:pPr>
            <a:r>
              <a:rPr lang="en-US" sz="9600" b="1" dirty="0" smtClean="0"/>
              <a:t>Types Of Tables</a:t>
            </a:r>
          </a:p>
          <a:p>
            <a:pPr>
              <a:lnSpc>
                <a:spcPct val="100000"/>
              </a:lnSpc>
              <a:spcBef>
                <a:spcPts val="600"/>
              </a:spcBef>
              <a:buNone/>
            </a:pPr>
            <a:endParaRPr lang="en-US" sz="2400" dirty="0" smtClean="0"/>
          </a:p>
          <a:p>
            <a:pPr>
              <a:lnSpc>
                <a:spcPct val="100000"/>
              </a:lnSpc>
              <a:spcBef>
                <a:spcPts val="600"/>
              </a:spcBef>
            </a:pPr>
            <a:endParaRPr lang="en-US" sz="2400" dirty="0" smtClean="0"/>
          </a:p>
          <a:p>
            <a:pPr>
              <a:lnSpc>
                <a:spcPct val="100000"/>
              </a:lnSpc>
              <a:spcBef>
                <a:spcPts val="600"/>
              </a:spcBef>
            </a:pPr>
            <a:endParaRPr lang="en-US" sz="2400" dirty="0" smtClean="0"/>
          </a:p>
          <a:p>
            <a:pPr>
              <a:lnSpc>
                <a:spcPct val="100000"/>
              </a:lnSpc>
              <a:spcBef>
                <a:spcPts val="600"/>
              </a:spcBef>
              <a:buNone/>
            </a:pPr>
            <a:endParaRPr lang="en-US" sz="2400" dirty="0" smtClean="0"/>
          </a:p>
          <a:p>
            <a:pPr>
              <a:lnSpc>
                <a:spcPct val="100000"/>
              </a:lnSpc>
              <a:spcBef>
                <a:spcPts val="600"/>
              </a:spcBef>
            </a:pPr>
            <a:endParaRPr lang="en-US" sz="2400" dirty="0" smtClean="0"/>
          </a:p>
          <a:p>
            <a:endParaRPr lang="en-US" dirty="0" smtClean="0"/>
          </a:p>
        </p:txBody>
      </p:sp>
      <p:sp>
        <p:nvSpPr>
          <p:cNvPr id="8" name="Slide Number Placeholder 7"/>
          <p:cNvSpPr>
            <a:spLocks noGrp="1"/>
          </p:cNvSpPr>
          <p:nvPr>
            <p:ph type="sldNum" sz="quarter" idx="12"/>
          </p:nvPr>
        </p:nvSpPr>
        <p:spPr/>
        <p:txBody>
          <a:bodyPr/>
          <a:lstStyle/>
          <a:p>
            <a:fld id="{D57F1E4F-1CFF-5643-939E-217C01CDF565}" type="slidenum">
              <a:rPr lang="en-US" sz="2000" b="1" smtClean="0"/>
              <a:pPr/>
              <a:t>3</a:t>
            </a:fld>
            <a:endParaRPr lang="en-US" sz="2000" b="1" dirty="0"/>
          </a:p>
        </p:txBody>
      </p:sp>
    </p:spTree>
    <p:extLst>
      <p:ext uri="{BB962C8B-B14F-4D97-AF65-F5344CB8AC3E}">
        <p14:creationId xmlns="" xmlns:p14="http://schemas.microsoft.com/office/powerpoint/2010/main" val="1654255301"/>
      </p:ext>
    </p:extLst>
  </p:cSld>
  <p:clrMapOvr>
    <a:masterClrMapping/>
  </p:clrMapOvr>
  <p:transition spd="slow">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312817"/>
          </a:xfrm>
        </p:spPr>
        <p:txBody>
          <a:bodyPr>
            <a:normAutofit/>
          </a:bodyPr>
          <a:lstStyle/>
          <a:p>
            <a:r>
              <a:rPr lang="en-US" sz="3600" b="1" dirty="0" smtClean="0"/>
              <a:t>What is Internet Protocol ?</a:t>
            </a:r>
            <a:endParaRPr lang="en-US" sz="3600" b="1" dirty="0"/>
          </a:p>
        </p:txBody>
      </p:sp>
      <p:sp>
        <p:nvSpPr>
          <p:cNvPr id="4" name="Content Placeholder 3"/>
          <p:cNvSpPr>
            <a:spLocks noGrp="1"/>
          </p:cNvSpPr>
          <p:nvPr>
            <p:ph idx="1"/>
          </p:nvPr>
        </p:nvSpPr>
        <p:spPr>
          <a:xfrm>
            <a:off x="1758631" y="1632857"/>
            <a:ext cx="10018713" cy="2690949"/>
          </a:xfrm>
        </p:spPr>
        <p:txBody>
          <a:bodyPr>
            <a:normAutofit fontScale="70000" lnSpcReduction="20000"/>
          </a:bodyPr>
          <a:lstStyle/>
          <a:p>
            <a:pPr marL="288000">
              <a:lnSpc>
                <a:spcPct val="200000"/>
              </a:lnSpc>
              <a:spcBef>
                <a:spcPts val="0"/>
              </a:spcBef>
              <a:buNone/>
            </a:pPr>
            <a:r>
              <a:rPr lang="en-GB" sz="4500" b="1" u="sng" dirty="0" smtClean="0"/>
              <a:t>Internet Protocol</a:t>
            </a:r>
          </a:p>
          <a:p>
            <a:pPr marL="288000">
              <a:lnSpc>
                <a:spcPct val="100000"/>
              </a:lnSpc>
              <a:spcBef>
                <a:spcPts val="0"/>
              </a:spcBef>
              <a:buFont typeface="Arial" pitchFamily="34" charset="0"/>
              <a:buChar char="•"/>
            </a:pPr>
            <a:r>
              <a:rPr lang="en-GB" sz="4500" dirty="0" smtClean="0"/>
              <a:t>An </a:t>
            </a:r>
            <a:r>
              <a:rPr lang="en-GB" sz="4500" b="1" dirty="0" smtClean="0"/>
              <a:t>Internet</a:t>
            </a:r>
            <a:r>
              <a:rPr lang="en-GB" sz="4500" dirty="0" smtClean="0"/>
              <a:t> </a:t>
            </a:r>
            <a:r>
              <a:rPr lang="en-GB" sz="4500" b="1" dirty="0" smtClean="0"/>
              <a:t>Protocol</a:t>
            </a:r>
            <a:r>
              <a:rPr lang="en-GB" sz="4500" dirty="0" smtClean="0"/>
              <a:t> is a set of rules that governs the communications between computers on a network. </a:t>
            </a:r>
          </a:p>
          <a:p>
            <a:pPr marL="288000">
              <a:lnSpc>
                <a:spcPct val="100000"/>
              </a:lnSpc>
              <a:spcBef>
                <a:spcPts val="0"/>
              </a:spcBef>
              <a:buFont typeface="Arial" pitchFamily="34" charset="0"/>
              <a:buChar char="•"/>
            </a:pPr>
            <a:r>
              <a:rPr lang="en-GB" sz="4500" dirty="0" smtClean="0"/>
              <a:t>A set of guidelines for implementing networking communications between computers</a:t>
            </a:r>
            <a:r>
              <a:rPr lang="en-GB" sz="2400" dirty="0" smtClean="0"/>
              <a:t>.</a:t>
            </a:r>
            <a:endParaRPr lang="en-GB" sz="2400" dirty="0"/>
          </a:p>
        </p:txBody>
      </p:sp>
      <p:pic>
        <p:nvPicPr>
          <p:cNvPr id="5" name="Picture 4" descr="Client-server-model.svg.png"/>
          <p:cNvPicPr>
            <a:picLocks noChangeAspect="1"/>
          </p:cNvPicPr>
          <p:nvPr/>
        </p:nvPicPr>
        <p:blipFill>
          <a:blip r:embed="rId3"/>
          <a:stretch>
            <a:fillRect/>
          </a:stretch>
        </p:blipFill>
        <p:spPr>
          <a:xfrm>
            <a:off x="3278777" y="4367229"/>
            <a:ext cx="5734594" cy="2490771"/>
          </a:xfrm>
          <a:prstGeom prst="rect">
            <a:avLst/>
          </a:prstGeom>
        </p:spPr>
      </p:pic>
      <p:sp>
        <p:nvSpPr>
          <p:cNvPr id="10" name="Slide Number Placeholder 9"/>
          <p:cNvSpPr>
            <a:spLocks noGrp="1"/>
          </p:cNvSpPr>
          <p:nvPr>
            <p:ph type="sldNum" sz="quarter" idx="12"/>
          </p:nvPr>
        </p:nvSpPr>
        <p:spPr/>
        <p:txBody>
          <a:bodyPr/>
          <a:lstStyle/>
          <a:p>
            <a:fld id="{D57F1E4F-1CFF-5643-939E-217C01CDF565}" type="slidenum">
              <a:rPr lang="en-US" sz="2000" b="1" smtClean="0"/>
              <a:pPr/>
              <a:t>4</a:t>
            </a:fld>
            <a:endParaRPr lang="en-US" sz="2000" b="1" dirty="0"/>
          </a:p>
        </p:txBody>
      </p:sp>
    </p:spTree>
    <p:extLst>
      <p:ext uri="{BB962C8B-B14F-4D97-AF65-F5344CB8AC3E}">
        <p14:creationId xmlns="" xmlns:p14="http://schemas.microsoft.com/office/powerpoint/2010/main" val="40102786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286691"/>
          </a:xfrm>
        </p:spPr>
        <p:txBody>
          <a:bodyPr/>
          <a:lstStyle/>
          <a:p>
            <a:r>
              <a:rPr lang="en-US" b="1" dirty="0" smtClean="0"/>
              <a:t>What Dose these Internet Protocol Do ?</a:t>
            </a:r>
            <a:endParaRPr lang="en-US" b="1" dirty="0"/>
          </a:p>
        </p:txBody>
      </p:sp>
      <p:sp>
        <p:nvSpPr>
          <p:cNvPr id="3" name="Content Placeholder 2"/>
          <p:cNvSpPr>
            <a:spLocks noGrp="1"/>
          </p:cNvSpPr>
          <p:nvPr>
            <p:ph sz="half" idx="1"/>
          </p:nvPr>
        </p:nvSpPr>
        <p:spPr>
          <a:xfrm>
            <a:off x="1444533" y="1613263"/>
            <a:ext cx="9912505" cy="4778298"/>
          </a:xfrm>
        </p:spPr>
        <p:txBody>
          <a:bodyPr/>
          <a:lstStyle/>
          <a:p>
            <a:pPr>
              <a:lnSpc>
                <a:spcPts val="2400"/>
              </a:lnSpc>
            </a:pPr>
            <a:r>
              <a:rPr lang="en-GB" sz="2400" dirty="0" smtClean="0"/>
              <a:t>An internet protocol sometimes referred to as an access method, is used to define a method of exchanging data over a computer network, such as local area network, Internet, Intranet, etc</a:t>
            </a:r>
          </a:p>
          <a:p>
            <a:pPr>
              <a:lnSpc>
                <a:spcPct val="100000"/>
              </a:lnSpc>
              <a:spcBef>
                <a:spcPts val="1200"/>
              </a:spcBef>
            </a:pPr>
            <a:r>
              <a:rPr lang="en-GB" sz="2400" dirty="0" smtClean="0"/>
              <a:t>These </a:t>
            </a:r>
            <a:r>
              <a:rPr lang="en-GB" sz="2400" b="1" dirty="0" smtClean="0"/>
              <a:t>protocols</a:t>
            </a:r>
            <a:r>
              <a:rPr lang="en-GB" sz="2400" dirty="0" smtClean="0"/>
              <a:t> are formal standards, policies and formulation of rules, procedures and formats that define communication between two or more devices over a network. Internet protocols are used to govern the end-to-end processes of timely, secure and managed data or network communication.</a:t>
            </a:r>
          </a:p>
          <a:p>
            <a:pPr>
              <a:lnSpc>
                <a:spcPct val="100000"/>
              </a:lnSpc>
              <a:spcBef>
                <a:spcPts val="1200"/>
              </a:spcBef>
            </a:pPr>
            <a:endParaRPr lang="en-US" dirty="0"/>
          </a:p>
        </p:txBody>
      </p:sp>
      <p:sp>
        <p:nvSpPr>
          <p:cNvPr id="8" name="Slide Number Placeholder 7"/>
          <p:cNvSpPr>
            <a:spLocks noGrp="1"/>
          </p:cNvSpPr>
          <p:nvPr>
            <p:ph type="sldNum" sz="quarter" idx="12"/>
          </p:nvPr>
        </p:nvSpPr>
        <p:spPr>
          <a:xfrm>
            <a:off x="11134736" y="6079217"/>
            <a:ext cx="551167" cy="365125"/>
          </a:xfrm>
        </p:spPr>
        <p:txBody>
          <a:bodyPr/>
          <a:lstStyle/>
          <a:p>
            <a:fld id="{D57F1E4F-1CFF-5643-939E-217C01CDF565}" type="slidenum">
              <a:rPr lang="en-US" sz="2000" b="1" smtClean="0"/>
              <a:pPr/>
              <a:t>5</a:t>
            </a:fld>
            <a:endParaRPr lang="en-US" sz="2000" b="1" dirty="0"/>
          </a:p>
        </p:txBody>
      </p:sp>
    </p:spTree>
    <p:extLst>
      <p:ext uri="{BB962C8B-B14F-4D97-AF65-F5344CB8AC3E}">
        <p14:creationId xmlns="" xmlns:p14="http://schemas.microsoft.com/office/powerpoint/2010/main" val="2853788422"/>
      </p:ext>
    </p:extLst>
  </p:cSld>
  <p:clrMapOvr>
    <a:masterClrMapping/>
  </p:clrMapOvr>
  <p:transition spd="slow">
    <p:wipe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76199"/>
            <a:ext cx="9980682" cy="1195039"/>
          </a:xfrm>
        </p:spPr>
        <p:txBody>
          <a:bodyPr/>
          <a:lstStyle/>
          <a:p>
            <a:r>
              <a:rPr lang="en-US" b="1" dirty="0" smtClean="0"/>
              <a:t>What is IP Addressing ?</a:t>
            </a:r>
            <a:endParaRPr lang="en-US" b="1" dirty="0"/>
          </a:p>
        </p:txBody>
      </p:sp>
      <p:sp>
        <p:nvSpPr>
          <p:cNvPr id="7" name="Content Placeholder 6"/>
          <p:cNvSpPr>
            <a:spLocks noGrp="1"/>
          </p:cNvSpPr>
          <p:nvPr>
            <p:ph idx="1"/>
          </p:nvPr>
        </p:nvSpPr>
        <p:spPr>
          <a:xfrm>
            <a:off x="1484310" y="1384663"/>
            <a:ext cx="10018713" cy="4820194"/>
          </a:xfrm>
        </p:spPr>
        <p:txBody>
          <a:bodyPr>
            <a:normAutofit/>
          </a:bodyPr>
          <a:lstStyle/>
          <a:p>
            <a:r>
              <a:rPr lang="en-GB" dirty="0" smtClean="0"/>
              <a:t>An Internet Protocol address (</a:t>
            </a:r>
            <a:r>
              <a:rPr lang="en-GB" b="1" dirty="0" smtClean="0"/>
              <a:t>IP address</a:t>
            </a:r>
            <a:r>
              <a:rPr lang="en-GB" dirty="0" smtClean="0"/>
              <a:t>) is a numerical label assigned to each device connected to a computer network that uses the Internet Protocol for communication. </a:t>
            </a:r>
          </a:p>
          <a:p>
            <a:r>
              <a:rPr lang="en-GB" dirty="0" smtClean="0"/>
              <a:t>An IP address is an address used in order to uniquely identify a device on a network. The address is made up of 32 binary bits, which can be divisible into a network portion and host portion with the help of a subnet mask.</a:t>
            </a:r>
          </a:p>
          <a:p>
            <a:r>
              <a:rPr lang="en-GB" dirty="0" smtClean="0"/>
              <a:t>A </a:t>
            </a:r>
            <a:r>
              <a:rPr lang="en-GB" b="1" dirty="0" smtClean="0"/>
              <a:t>subnetwork</a:t>
            </a:r>
            <a:r>
              <a:rPr lang="en-GB" dirty="0" smtClean="0"/>
              <a:t> or </a:t>
            </a:r>
            <a:r>
              <a:rPr lang="en-GB" b="1" dirty="0" smtClean="0"/>
              <a:t>subnet</a:t>
            </a:r>
            <a:r>
              <a:rPr lang="en-GB" dirty="0" smtClean="0"/>
              <a:t> is a logical subdivision of an network. The practice of dividing a network into two or more networks is called </a:t>
            </a:r>
            <a:r>
              <a:rPr lang="en-GB" b="1" dirty="0" smtClean="0"/>
              <a:t>subnetting</a:t>
            </a:r>
            <a:r>
              <a:rPr lang="en-GB" dirty="0" smtClean="0"/>
              <a:t>.</a:t>
            </a:r>
          </a:p>
          <a:p>
            <a:pPr algn="r">
              <a:buNone/>
            </a:pPr>
            <a:endParaRPr lang="en-GB" sz="1600" dirty="0" smtClean="0"/>
          </a:p>
          <a:p>
            <a:pPr algn="r">
              <a:buNone/>
            </a:pPr>
            <a:endParaRPr lang="en-GB" sz="1600" dirty="0" smtClean="0"/>
          </a:p>
          <a:p>
            <a:pPr algn="r">
              <a:buNone/>
            </a:pPr>
            <a:endParaRPr lang="en-GB" sz="1600" dirty="0" smtClean="0"/>
          </a:p>
          <a:p>
            <a:pPr>
              <a:buFont typeface="Wingdings" pitchFamily="2" charset="2"/>
              <a:buChar char="Ø"/>
            </a:pPr>
            <a:r>
              <a:rPr lang="en-GB" sz="1600" dirty="0" smtClean="0"/>
              <a:t>For more </a:t>
            </a:r>
            <a:r>
              <a:rPr lang="en-GB" sz="1600" b="1" dirty="0" smtClean="0"/>
              <a:t>detail s </a:t>
            </a:r>
            <a:r>
              <a:rPr lang="en-GB" sz="1600" dirty="0" smtClean="0"/>
              <a:t>read the notes given below.</a:t>
            </a:r>
            <a:endParaRPr lang="en-GB" sz="1600" dirty="0"/>
          </a:p>
        </p:txBody>
      </p:sp>
      <p:sp>
        <p:nvSpPr>
          <p:cNvPr id="9" name="Slide Number Placeholder 8"/>
          <p:cNvSpPr>
            <a:spLocks noGrp="1"/>
          </p:cNvSpPr>
          <p:nvPr>
            <p:ph type="sldNum" sz="quarter" idx="12"/>
          </p:nvPr>
        </p:nvSpPr>
        <p:spPr>
          <a:xfrm>
            <a:off x="11173924" y="6154513"/>
            <a:ext cx="551167" cy="365125"/>
          </a:xfrm>
        </p:spPr>
        <p:txBody>
          <a:bodyPr/>
          <a:lstStyle/>
          <a:p>
            <a:fld id="{D57F1E4F-1CFF-5643-939E-217C01CDF565}" type="slidenum">
              <a:rPr lang="en-US" sz="2000" b="1" smtClean="0"/>
              <a:pPr/>
              <a:t>6</a:t>
            </a:fld>
            <a:endParaRPr lang="en-US" sz="2000" b="1" dirty="0"/>
          </a:p>
        </p:txBody>
      </p:sp>
    </p:spTree>
    <p:extLst>
      <p:ext uri="{BB962C8B-B14F-4D97-AF65-F5344CB8AC3E}">
        <p14:creationId xmlns="" xmlns:p14="http://schemas.microsoft.com/office/powerpoint/2010/main" val="422450947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0.24293 0.0125 L -0.25557 0.00833 " pathEditMode="relative" rAng="0" ptsTypes="AA">
                                      <p:cBhvr>
                                        <p:cTn id="6" dur="2000" fill="hold"/>
                                        <p:tgtEl>
                                          <p:spTgt spid="2"/>
                                        </p:tgtEl>
                                        <p:attrNameLst>
                                          <p:attrName>ppt_x</p:attrName>
                                          <p:attrName>ppt_y</p:attrName>
                                        </p:attrNameLst>
                                      </p:cBhvr>
                                      <p:rCtr x="-249" y="-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8185" y="267788"/>
            <a:ext cx="10018713" cy="894805"/>
          </a:xfrm>
        </p:spPr>
        <p:txBody>
          <a:bodyPr>
            <a:normAutofit/>
          </a:bodyPr>
          <a:lstStyle/>
          <a:p>
            <a:r>
              <a:rPr lang="en-US" b="1" dirty="0" smtClean="0"/>
              <a:t>Firewall Utilities</a:t>
            </a:r>
            <a:endParaRPr lang="en-US" b="1" dirty="0"/>
          </a:p>
        </p:txBody>
      </p:sp>
      <p:sp>
        <p:nvSpPr>
          <p:cNvPr id="4" name="Title 1"/>
          <p:cNvSpPr txBox="1">
            <a:spLocks/>
          </p:cNvSpPr>
          <p:nvPr/>
        </p:nvSpPr>
        <p:spPr>
          <a:xfrm>
            <a:off x="967368" y="1544443"/>
            <a:ext cx="9980682" cy="4666785"/>
          </a:xfrm>
          <a:prstGeom prst="rect">
            <a:avLst/>
          </a:prstGeom>
        </p:spPr>
        <p:txBody>
          <a:bodyPr vert="horz" lIns="0" tIns="45720" rIns="0" bIns="45720" rtlCol="0" anchor="b">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Rectangle 4"/>
          <p:cNvSpPr/>
          <p:nvPr/>
        </p:nvSpPr>
        <p:spPr>
          <a:xfrm>
            <a:off x="1350373" y="1433009"/>
            <a:ext cx="10135901" cy="4708981"/>
          </a:xfrm>
          <a:prstGeom prst="rect">
            <a:avLst/>
          </a:prstGeom>
        </p:spPr>
        <p:txBody>
          <a:bodyPr wrap="square">
            <a:spAutoFit/>
          </a:bodyPr>
          <a:lstStyle/>
          <a:p>
            <a:pPr>
              <a:buFont typeface="Arial" pitchFamily="34" charset="0"/>
              <a:buChar char="•"/>
            </a:pPr>
            <a:r>
              <a:rPr lang="en-GB" sz="2400" dirty="0" smtClean="0"/>
              <a:t> A </a:t>
            </a:r>
            <a:r>
              <a:rPr lang="en-GB" sz="2400" b="1" dirty="0" smtClean="0"/>
              <a:t>firewall</a:t>
            </a:r>
            <a:r>
              <a:rPr lang="en-GB" sz="2400" dirty="0" smtClean="0"/>
              <a:t> is a software utility or hardware device that acts as a filter for data entering or leaving a network or computer. You could think of a firewall as a security guard that decides who enters or exits a building. A firewall works by blocking or restricting network ports. Firewalls are commonly used to help prevent unauthorized access to both company and home networks.</a:t>
            </a:r>
          </a:p>
          <a:p>
            <a:pPr>
              <a:buFont typeface="Arial" pitchFamily="34" charset="0"/>
              <a:buChar char="•"/>
            </a:pPr>
            <a:endParaRPr lang="en-GB" sz="2400" dirty="0" smtClean="0"/>
          </a:p>
          <a:p>
            <a:pPr>
              <a:buFont typeface="Arial" pitchFamily="34" charset="0"/>
              <a:buChar char="•"/>
            </a:pPr>
            <a:r>
              <a:rPr lang="en-GB" sz="2400" dirty="0" smtClean="0"/>
              <a:t>A firewall utility is a program or device that acts as a barrier to keep destructive elements out of a network or specific computer. </a:t>
            </a:r>
          </a:p>
          <a:p>
            <a:endParaRPr lang="en-GB" sz="2400" dirty="0" smtClean="0"/>
          </a:p>
          <a:p>
            <a:pPr>
              <a:buFont typeface="Arial" pitchFamily="34" charset="0"/>
              <a:buChar char="•"/>
            </a:pPr>
            <a:r>
              <a:rPr lang="en-GB" sz="2400" dirty="0" smtClean="0"/>
              <a:t>A firewall controls network traffic to and from a computer, permitting or denying communications based on a security policy.</a:t>
            </a:r>
          </a:p>
          <a:p>
            <a:pPr>
              <a:buFont typeface="Arial" pitchFamily="34" charset="0"/>
              <a:buChar char="•"/>
            </a:pPr>
            <a:endParaRPr lang="en-GB" sz="2200" dirty="0" smtClean="0"/>
          </a:p>
          <a:p>
            <a:pPr>
              <a:buFont typeface="Wingdings" pitchFamily="2" charset="2"/>
              <a:buChar char="Ø"/>
            </a:pPr>
            <a:r>
              <a:rPr lang="en-GB" sz="1400" dirty="0" smtClean="0"/>
              <a:t>For more details check the link given below </a:t>
            </a:r>
            <a:endParaRPr lang="en-GB" sz="1400" dirty="0"/>
          </a:p>
        </p:txBody>
      </p:sp>
      <p:sp>
        <p:nvSpPr>
          <p:cNvPr id="10" name="Slide Number Placeholder 9"/>
          <p:cNvSpPr>
            <a:spLocks noGrp="1"/>
          </p:cNvSpPr>
          <p:nvPr>
            <p:ph type="sldNum" sz="quarter" idx="12"/>
          </p:nvPr>
        </p:nvSpPr>
        <p:spPr>
          <a:xfrm>
            <a:off x="11239239" y="6196783"/>
            <a:ext cx="551167" cy="365125"/>
          </a:xfrm>
        </p:spPr>
        <p:txBody>
          <a:bodyPr/>
          <a:lstStyle/>
          <a:p>
            <a:fld id="{D57F1E4F-1CFF-5643-939E-217C01CDF565}" type="slidenum">
              <a:rPr lang="en-US" sz="2000" b="1" smtClean="0"/>
              <a:pPr/>
              <a:t>7</a:t>
            </a:fld>
            <a:endParaRPr lang="en-US" sz="2000" b="1" dirty="0"/>
          </a:p>
        </p:txBody>
      </p:sp>
    </p:spTree>
    <p:extLst>
      <p:ext uri="{BB962C8B-B14F-4D97-AF65-F5344CB8AC3E}">
        <p14:creationId xmlns="" xmlns:p14="http://schemas.microsoft.com/office/powerpoint/2010/main" val="1527004159"/>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8186" y="306978"/>
            <a:ext cx="10018713" cy="894806"/>
          </a:xfrm>
        </p:spPr>
        <p:txBody>
          <a:bodyPr/>
          <a:lstStyle/>
          <a:p>
            <a:r>
              <a:rPr lang="en-US" b="1" dirty="0" smtClean="0"/>
              <a:t>Levels Of implementation</a:t>
            </a:r>
            <a:endParaRPr lang="en-US" b="1" dirty="0"/>
          </a:p>
        </p:txBody>
      </p:sp>
      <p:sp>
        <p:nvSpPr>
          <p:cNvPr id="3" name="Text Placeholder 2"/>
          <p:cNvSpPr>
            <a:spLocks noGrp="1"/>
          </p:cNvSpPr>
          <p:nvPr>
            <p:ph type="body" idx="1"/>
          </p:nvPr>
        </p:nvSpPr>
        <p:spPr>
          <a:xfrm>
            <a:off x="1444534" y="1574075"/>
            <a:ext cx="4919472" cy="507380"/>
          </a:xfrm>
          <a:ln>
            <a:solidFill>
              <a:schemeClr val="accent1"/>
            </a:solidFill>
          </a:ln>
        </p:spPr>
        <p:txBody>
          <a:bodyPr/>
          <a:lstStyle/>
          <a:p>
            <a:pPr algn="ctr"/>
            <a:r>
              <a:rPr lang="en-US" sz="3200" dirty="0" smtClean="0"/>
              <a:t>SOFTWARE FIREWALLS</a:t>
            </a:r>
            <a:endParaRPr lang="en-US" sz="3200" dirty="0"/>
          </a:p>
        </p:txBody>
      </p:sp>
      <p:sp>
        <p:nvSpPr>
          <p:cNvPr id="4" name="Content Placeholder 3"/>
          <p:cNvSpPr>
            <a:spLocks noGrp="1"/>
          </p:cNvSpPr>
          <p:nvPr>
            <p:ph sz="half" idx="2"/>
          </p:nvPr>
        </p:nvSpPr>
        <p:spPr>
          <a:xfrm>
            <a:off x="1470659" y="2116821"/>
            <a:ext cx="4919472" cy="4042317"/>
          </a:xfrm>
          <a:ln>
            <a:solidFill>
              <a:schemeClr val="accent1"/>
            </a:solidFill>
          </a:ln>
        </p:spPr>
        <p:txBody>
          <a:bodyPr>
            <a:normAutofit/>
          </a:bodyPr>
          <a:lstStyle/>
          <a:p>
            <a:r>
              <a:rPr lang="en-GB" sz="2400" dirty="0" smtClean="0"/>
              <a:t>Software firewalls are designed to protect a computer by blocking certain programs from sending and receiving information from a local network or the Internet. </a:t>
            </a:r>
          </a:p>
          <a:p>
            <a:endParaRPr lang="en-US" sz="2400" dirty="0"/>
          </a:p>
        </p:txBody>
      </p:sp>
      <p:sp>
        <p:nvSpPr>
          <p:cNvPr id="5" name="Text Placeholder 4"/>
          <p:cNvSpPr>
            <a:spLocks noGrp="1"/>
          </p:cNvSpPr>
          <p:nvPr>
            <p:ph type="body" sz="quarter" idx="3"/>
          </p:nvPr>
        </p:nvSpPr>
        <p:spPr>
          <a:xfrm>
            <a:off x="6531870" y="1587137"/>
            <a:ext cx="4919472" cy="496229"/>
          </a:xfrm>
          <a:ln>
            <a:solidFill>
              <a:schemeClr val="accent1"/>
            </a:solidFill>
          </a:ln>
        </p:spPr>
        <p:txBody>
          <a:bodyPr/>
          <a:lstStyle/>
          <a:p>
            <a:pPr algn="ctr"/>
            <a:r>
              <a:rPr lang="en-US" sz="3200" dirty="0" smtClean="0"/>
              <a:t>HARDWARE FIREWALLS</a:t>
            </a:r>
            <a:endParaRPr lang="en-US" sz="3200" dirty="0"/>
          </a:p>
        </p:txBody>
      </p:sp>
      <p:sp>
        <p:nvSpPr>
          <p:cNvPr id="6" name="Content Placeholder 5"/>
          <p:cNvSpPr>
            <a:spLocks noGrp="1"/>
          </p:cNvSpPr>
          <p:nvPr>
            <p:ph sz="quarter" idx="4"/>
          </p:nvPr>
        </p:nvSpPr>
        <p:spPr>
          <a:xfrm>
            <a:off x="6511835" y="2112997"/>
            <a:ext cx="4913382" cy="4031445"/>
          </a:xfrm>
          <a:ln>
            <a:solidFill>
              <a:schemeClr val="accent1"/>
            </a:solidFill>
          </a:ln>
        </p:spPr>
        <p:txBody>
          <a:bodyPr/>
          <a:lstStyle/>
          <a:p>
            <a:r>
              <a:rPr lang="en-GB" dirty="0" smtClean="0"/>
              <a:t>Hardware firewalls are found on most network routers and can be configured through the router setup screen. Firewall hardware or device (ZyXEL Zywall), is a Unified Security Gateway with a firewall and other security features.</a:t>
            </a:r>
          </a:p>
          <a:p>
            <a:endParaRPr lang="en-US" dirty="0"/>
          </a:p>
        </p:txBody>
      </p:sp>
      <p:pic>
        <p:nvPicPr>
          <p:cNvPr id="7" name="Picture 6" descr="firewall.jpg"/>
          <p:cNvPicPr>
            <a:picLocks noChangeAspect="1"/>
          </p:cNvPicPr>
          <p:nvPr/>
        </p:nvPicPr>
        <p:blipFill>
          <a:blip r:embed="rId3" cstate="print"/>
          <a:stretch>
            <a:fillRect/>
          </a:stretch>
        </p:blipFill>
        <p:spPr>
          <a:xfrm>
            <a:off x="7507625" y="3913195"/>
            <a:ext cx="2857500" cy="1962150"/>
          </a:xfrm>
          <a:prstGeom prst="rect">
            <a:avLst/>
          </a:prstGeom>
        </p:spPr>
      </p:pic>
      <p:pic>
        <p:nvPicPr>
          <p:cNvPr id="8" name="Picture 7" descr="maxresdefault.jpg"/>
          <p:cNvPicPr>
            <a:picLocks noChangeAspect="1"/>
          </p:cNvPicPr>
          <p:nvPr/>
        </p:nvPicPr>
        <p:blipFill>
          <a:blip r:embed="rId4" cstate="print"/>
          <a:stretch>
            <a:fillRect/>
          </a:stretch>
        </p:blipFill>
        <p:spPr>
          <a:xfrm>
            <a:off x="1889334" y="4143476"/>
            <a:ext cx="3033129" cy="1967694"/>
          </a:xfrm>
          <a:prstGeom prst="rect">
            <a:avLst/>
          </a:prstGeom>
        </p:spPr>
      </p:pic>
      <p:pic>
        <p:nvPicPr>
          <p:cNvPr id="9" name="Picture 8" descr="Firewall_icon.png"/>
          <p:cNvPicPr>
            <a:picLocks noChangeAspect="1"/>
          </p:cNvPicPr>
          <p:nvPr/>
        </p:nvPicPr>
        <p:blipFill>
          <a:blip r:embed="rId5" cstate="print"/>
          <a:stretch>
            <a:fillRect/>
          </a:stretch>
        </p:blipFill>
        <p:spPr>
          <a:xfrm>
            <a:off x="4936430" y="4709637"/>
            <a:ext cx="1360451" cy="1360451"/>
          </a:xfrm>
          <a:prstGeom prst="rect">
            <a:avLst/>
          </a:prstGeom>
        </p:spPr>
      </p:pic>
      <p:sp>
        <p:nvSpPr>
          <p:cNvPr id="14" name="Slide Number Placeholder 13"/>
          <p:cNvSpPr>
            <a:spLocks noGrp="1"/>
          </p:cNvSpPr>
          <p:nvPr>
            <p:ph type="sldNum" sz="quarter" idx="12"/>
          </p:nvPr>
        </p:nvSpPr>
        <p:spPr>
          <a:xfrm>
            <a:off x="11278427" y="6209846"/>
            <a:ext cx="551167" cy="365125"/>
          </a:xfrm>
        </p:spPr>
        <p:txBody>
          <a:bodyPr/>
          <a:lstStyle/>
          <a:p>
            <a:fld id="{D57F1E4F-1CFF-5643-939E-217C01CDF565}" type="slidenum">
              <a:rPr lang="en-US" sz="2000" b="1" smtClean="0"/>
              <a:pPr/>
              <a:t>8</a:t>
            </a:fld>
            <a:endParaRPr lang="en-US" sz="2000" b="1" dirty="0"/>
          </a:p>
        </p:txBody>
      </p:sp>
    </p:spTree>
    <p:extLst>
      <p:ext uri="{BB962C8B-B14F-4D97-AF65-F5344CB8AC3E}">
        <p14:creationId xmlns="" xmlns:p14="http://schemas.microsoft.com/office/powerpoint/2010/main" val="2224495804"/>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416627" y="1547193"/>
            <a:ext cx="9183189" cy="2371664"/>
          </a:xfrm>
        </p:spPr>
        <p:txBody>
          <a:bodyPr/>
          <a:lstStyle/>
          <a:p>
            <a:pPr algn="ctr"/>
            <a:r>
              <a:rPr lang="en-US" b="1" dirty="0" smtClean="0">
                <a:solidFill>
                  <a:schemeClr val="accent1">
                    <a:lumMod val="50000"/>
                  </a:schemeClr>
                </a:solidFill>
                <a:latin typeface="Andalus" pitchFamily="18" charset="-78"/>
                <a:cs typeface="Andalus" pitchFamily="18" charset="-78"/>
              </a:rPr>
              <a:t>IP Tables with FILTERING Mechanism</a:t>
            </a:r>
            <a:endParaRPr lang="en-US" b="1" dirty="0">
              <a:solidFill>
                <a:schemeClr val="accent1">
                  <a:lumMod val="50000"/>
                </a:schemeClr>
              </a:solidFill>
              <a:latin typeface="Andalus" pitchFamily="18" charset="-78"/>
              <a:cs typeface="Andalus" pitchFamily="18" charset="-78"/>
            </a:endParaRPr>
          </a:p>
        </p:txBody>
      </p:sp>
      <p:sp>
        <p:nvSpPr>
          <p:cNvPr id="7" name="Slide Number Placeholder 6"/>
          <p:cNvSpPr>
            <a:spLocks noGrp="1"/>
          </p:cNvSpPr>
          <p:nvPr>
            <p:ph type="sldNum" sz="quarter" idx="12"/>
          </p:nvPr>
        </p:nvSpPr>
        <p:spPr>
          <a:xfrm>
            <a:off x="11265365" y="6262097"/>
            <a:ext cx="551167" cy="365125"/>
          </a:xfrm>
        </p:spPr>
        <p:txBody>
          <a:bodyPr/>
          <a:lstStyle/>
          <a:p>
            <a:fld id="{D57F1E4F-1CFF-5643-939E-217C01CDF565}" type="slidenum">
              <a:rPr lang="en-US" smtClean="0"/>
              <a:pPr/>
              <a:t>9</a:t>
            </a:fld>
            <a:endParaRPr lang="en-US" dirty="0"/>
          </a:p>
        </p:txBody>
      </p:sp>
    </p:spTree>
    <p:extLst>
      <p:ext uri="{BB962C8B-B14F-4D97-AF65-F5344CB8AC3E}">
        <p14:creationId xmlns="" xmlns:p14="http://schemas.microsoft.com/office/powerpoint/2010/main" val="1315647518"/>
      </p:ext>
    </p:extLst>
  </p:cSld>
  <p:clrMapOvr>
    <a:masterClrMapping/>
  </p:clrMapOvr>
  <p:transition spd="slow">
    <p:wedg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404257"/>
          </a:xfrm>
        </p:spPr>
        <p:txBody>
          <a:bodyPr>
            <a:normAutofit/>
          </a:bodyPr>
          <a:lstStyle/>
          <a:p>
            <a:r>
              <a:rPr lang="en-GB" sz="3600" b="1" dirty="0" smtClean="0"/>
              <a:t>BEFORE IP TABLES</a:t>
            </a:r>
            <a:endParaRPr lang="en-GB" sz="3600" b="1" dirty="0"/>
          </a:p>
        </p:txBody>
      </p:sp>
      <p:sp>
        <p:nvSpPr>
          <p:cNvPr id="3" name="Content Placeholder 2"/>
          <p:cNvSpPr>
            <a:spLocks noGrp="1"/>
          </p:cNvSpPr>
          <p:nvPr>
            <p:ph idx="1"/>
          </p:nvPr>
        </p:nvSpPr>
        <p:spPr>
          <a:xfrm>
            <a:off x="1484310" y="2063931"/>
            <a:ext cx="10018713" cy="3727269"/>
          </a:xfrm>
        </p:spPr>
        <p:txBody>
          <a:bodyPr/>
          <a:lstStyle/>
          <a:p>
            <a:r>
              <a:rPr lang="en-US" sz="2200" dirty="0" smtClean="0">
                <a:latin typeface="Tahoma" pitchFamily="34" charset="0"/>
              </a:rPr>
              <a:t>Before Iptables the most popular firewall / NAT package running on Linux was ipchains. It had a number of limitations, the primary one being that it ran as a separate program and not as part of the kernel. The Netfilter organization decided to create a new product called iptables in order to rectify this shortcoming. As a result of this, iptables is considered a faster and more secure alternative. IPtables has now become the default firewall package installed under RedHat and Fedora Linux. </a:t>
            </a:r>
          </a:p>
          <a:p>
            <a:endParaRPr lang="en-GB" dirty="0"/>
          </a:p>
        </p:txBody>
      </p:sp>
      <p:sp>
        <p:nvSpPr>
          <p:cNvPr id="8" name="Slide Number Placeholder 7"/>
          <p:cNvSpPr>
            <a:spLocks noGrp="1"/>
          </p:cNvSpPr>
          <p:nvPr>
            <p:ph type="sldNum" sz="quarter" idx="12"/>
          </p:nvPr>
        </p:nvSpPr>
        <p:spPr>
          <a:xfrm>
            <a:off x="11226176" y="6193702"/>
            <a:ext cx="551167" cy="365125"/>
          </a:xfrm>
        </p:spPr>
        <p:txBody>
          <a:bodyPr/>
          <a:lstStyle/>
          <a:p>
            <a:fld id="{D57F1E4F-1CFF-5643-939E-217C01CDF565}" type="slidenum">
              <a:rPr lang="en-US" sz="2000" b="1" smtClean="0"/>
              <a:pPr/>
              <a:t>10</a:t>
            </a:fld>
            <a:endParaRPr lang="en-US" sz="2000" b="1" dirty="0"/>
          </a:p>
        </p:txBody>
      </p:sp>
    </p:spTree>
  </p:cSld>
  <p:clrMapOvr>
    <a:masterClrMapping/>
  </p:clrMapOvr>
  <p:transition spd="slow">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7665" y="210671"/>
            <a:ext cx="9980682" cy="925798"/>
          </a:xfrm>
        </p:spPr>
        <p:txBody>
          <a:bodyPr>
            <a:normAutofit/>
          </a:bodyPr>
          <a:lstStyle/>
          <a:p>
            <a:r>
              <a:rPr lang="en-GB" b="1" dirty="0" smtClean="0"/>
              <a:t>IP TABLES</a:t>
            </a:r>
            <a:endParaRPr lang="en-GB" b="1" dirty="0"/>
          </a:p>
        </p:txBody>
      </p:sp>
      <p:sp>
        <p:nvSpPr>
          <p:cNvPr id="3" name="Content Placeholder 2"/>
          <p:cNvSpPr>
            <a:spLocks noGrp="1"/>
          </p:cNvSpPr>
          <p:nvPr>
            <p:ph idx="1"/>
          </p:nvPr>
        </p:nvSpPr>
        <p:spPr>
          <a:xfrm>
            <a:off x="1484310" y="1214847"/>
            <a:ext cx="10018713" cy="4576354"/>
          </a:xfrm>
        </p:spPr>
        <p:txBody>
          <a:bodyPr>
            <a:normAutofit fontScale="92500"/>
          </a:bodyPr>
          <a:lstStyle/>
          <a:p>
            <a:r>
              <a:rPr lang="en-GB" sz="2600" dirty="0" smtClean="0"/>
              <a:t>The basic firewall software used in Linux is called </a:t>
            </a:r>
            <a:r>
              <a:rPr lang="en-GB" sz="2600" b="1" dirty="0" smtClean="0"/>
              <a:t>iptables</a:t>
            </a:r>
            <a:r>
              <a:rPr lang="en-GB" sz="2600" dirty="0" smtClean="0"/>
              <a:t> .</a:t>
            </a:r>
            <a:endParaRPr lang="en-GB" sz="2600" b="1" dirty="0" smtClean="0"/>
          </a:p>
          <a:p>
            <a:r>
              <a:rPr lang="en-GB" sz="2600" dirty="0" smtClean="0"/>
              <a:t>IPtables is a command-line firewall utility that uses policy chains to allow or block traffic. When a connection tries to establish itself on your system, iptables looks for a rule in its list to match it . If it doesn’t find one, it resorts to the default action.</a:t>
            </a:r>
          </a:p>
          <a:p>
            <a:r>
              <a:rPr lang="en-GB" sz="2600" dirty="0" smtClean="0"/>
              <a:t>We can call, it’s the basics of Firewall for Linux. Iptables is a rule based firewall system and it is normally pre-installed firewall which is controlling the incoming and outgoing packets. By-default the iptables is running without any rules, we can create, add, edit rules into it.</a:t>
            </a:r>
          </a:p>
          <a:p>
            <a:r>
              <a:rPr lang="en-US" dirty="0" smtClean="0">
                <a:latin typeface="Tahoma" pitchFamily="34" charset="0"/>
              </a:rPr>
              <a:t>The Linux kernel has the built-in ability to filter packets, allowing some of them into the system while stopping others.</a:t>
            </a:r>
            <a:endParaRPr lang="en-GB" dirty="0"/>
          </a:p>
        </p:txBody>
      </p:sp>
      <p:sp>
        <p:nvSpPr>
          <p:cNvPr id="8" name="Slide Number Placeholder 7"/>
          <p:cNvSpPr>
            <a:spLocks noGrp="1"/>
          </p:cNvSpPr>
          <p:nvPr>
            <p:ph type="sldNum" sz="quarter" idx="12"/>
          </p:nvPr>
        </p:nvSpPr>
        <p:spPr>
          <a:xfrm>
            <a:off x="11252301" y="6232891"/>
            <a:ext cx="551167" cy="365125"/>
          </a:xfrm>
        </p:spPr>
        <p:txBody>
          <a:bodyPr/>
          <a:lstStyle/>
          <a:p>
            <a:fld id="{D57F1E4F-1CFF-5643-939E-217C01CDF565}" type="slidenum">
              <a:rPr lang="en-US" sz="2000" b="1" smtClean="0"/>
              <a:pPr/>
              <a:t>11</a:t>
            </a:fld>
            <a:endParaRPr lang="en-US" sz="2000" b="1" dirty="0"/>
          </a:p>
        </p:txBody>
      </p:sp>
    </p:spTree>
  </p:cSld>
  <p:clrMapOvr>
    <a:masterClrMapping/>
  </p:clrMapOvr>
  <p:transition spd="slow">
    <p:wipe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983974"/>
          </a:xfrm>
        </p:spPr>
        <p:txBody>
          <a:bodyPr/>
          <a:lstStyle/>
          <a:p>
            <a:r>
              <a:rPr lang="en-GB" b="1" dirty="0" smtClean="0"/>
              <a:t>BASIC  STRUCTURE  OF  IPTABLE</a:t>
            </a:r>
            <a:endParaRPr lang="en-GB" dirty="0"/>
          </a:p>
        </p:txBody>
      </p:sp>
      <p:sp>
        <p:nvSpPr>
          <p:cNvPr id="3" name="Content Placeholder 2"/>
          <p:cNvSpPr>
            <a:spLocks noGrp="1"/>
          </p:cNvSpPr>
          <p:nvPr>
            <p:ph idx="1"/>
          </p:nvPr>
        </p:nvSpPr>
        <p:spPr>
          <a:xfrm>
            <a:off x="1484310" y="1073427"/>
            <a:ext cx="10018713" cy="5327374"/>
          </a:xfrm>
        </p:spPr>
        <p:txBody>
          <a:bodyPr/>
          <a:lstStyle/>
          <a:p>
            <a:r>
              <a:rPr lang="en-GB" sz="2800" dirty="0" smtClean="0"/>
              <a:t>The default structure of  iptables is like:</a:t>
            </a:r>
          </a:p>
          <a:p>
            <a:pPr>
              <a:buNone/>
            </a:pPr>
            <a:r>
              <a:rPr lang="en-GB" sz="2800" b="1" dirty="0" smtClean="0"/>
              <a:t>      “T</a:t>
            </a:r>
            <a:r>
              <a:rPr lang="en-GB" sz="2800" dirty="0" smtClean="0"/>
              <a:t>ables which has </a:t>
            </a:r>
            <a:r>
              <a:rPr lang="en-GB" sz="2800" b="1" dirty="0" smtClean="0"/>
              <a:t>C</a:t>
            </a:r>
            <a:r>
              <a:rPr lang="en-GB" sz="2800" dirty="0" smtClean="0"/>
              <a:t>hains and the </a:t>
            </a:r>
            <a:r>
              <a:rPr lang="en-GB" sz="2800" b="1" dirty="0" smtClean="0"/>
              <a:t>C</a:t>
            </a:r>
            <a:r>
              <a:rPr lang="en-GB" sz="2800" dirty="0" smtClean="0"/>
              <a:t>hains which contains </a:t>
            </a:r>
            <a:r>
              <a:rPr lang="en-GB" sz="2800" b="1" dirty="0" smtClean="0"/>
              <a:t>R</a:t>
            </a:r>
            <a:r>
              <a:rPr lang="en-GB" sz="2800" dirty="0" smtClean="0"/>
              <a:t>ules”</a:t>
            </a:r>
          </a:p>
          <a:p>
            <a:r>
              <a:rPr lang="en-GB" sz="2800" b="1" dirty="0" smtClean="0"/>
              <a:t>Tables —&gt; Chains —&gt; Rules</a:t>
            </a:r>
            <a:r>
              <a:rPr lang="en-GB" sz="2800" dirty="0" smtClean="0"/>
              <a:t>.</a:t>
            </a:r>
          </a:p>
          <a:p>
            <a:r>
              <a:rPr lang="en-GB" sz="2800" dirty="0" smtClean="0"/>
              <a:t>The rules are defined to control the packets for Input/output.</a:t>
            </a:r>
          </a:p>
          <a:p>
            <a:endParaRPr lang="en-GB" dirty="0" smtClean="0"/>
          </a:p>
          <a:p>
            <a:pPr>
              <a:buNone/>
            </a:pPr>
            <a:endParaRPr lang="en-GB" dirty="0"/>
          </a:p>
        </p:txBody>
      </p:sp>
      <p:pic>
        <p:nvPicPr>
          <p:cNvPr id="4" name="Picture 3" descr="iptables11.png"/>
          <p:cNvPicPr>
            <a:picLocks noChangeAspect="1"/>
          </p:cNvPicPr>
          <p:nvPr/>
        </p:nvPicPr>
        <p:blipFill>
          <a:blip r:embed="rId2"/>
          <a:stretch>
            <a:fillRect/>
          </a:stretch>
        </p:blipFill>
        <p:spPr>
          <a:xfrm>
            <a:off x="2332383" y="4734190"/>
            <a:ext cx="8348869" cy="1600349"/>
          </a:xfrm>
          <a:prstGeom prst="rect">
            <a:avLst/>
          </a:prstGeom>
        </p:spPr>
      </p:pic>
      <p:sp>
        <p:nvSpPr>
          <p:cNvPr id="9" name="Slide Number Placeholder 8"/>
          <p:cNvSpPr>
            <a:spLocks noGrp="1"/>
          </p:cNvSpPr>
          <p:nvPr>
            <p:ph type="sldNum" sz="quarter" idx="12"/>
          </p:nvPr>
        </p:nvSpPr>
        <p:spPr>
          <a:xfrm>
            <a:off x="11317616" y="6206765"/>
            <a:ext cx="551167" cy="365125"/>
          </a:xfrm>
        </p:spPr>
        <p:txBody>
          <a:bodyPr/>
          <a:lstStyle/>
          <a:p>
            <a:fld id="{D57F1E4F-1CFF-5643-939E-217C01CDF565}" type="slidenum">
              <a:rPr lang="en-US" sz="2000" b="1" smtClean="0"/>
              <a:pPr/>
              <a:t>12</a:t>
            </a:fld>
            <a:endParaRPr lang="en-US" sz="2000" b="1" dirty="0"/>
          </a:p>
        </p:txBody>
      </p:sp>
    </p:spTree>
  </p:cSld>
  <p:clrMapOvr>
    <a:masterClrMapping/>
  </p:clrMapOvr>
  <p:transition spd="slow">
    <p:split dir="in"/>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251791"/>
            <a:ext cx="10018713" cy="954157"/>
          </a:xfrm>
        </p:spPr>
        <p:txBody>
          <a:bodyPr/>
          <a:lstStyle/>
          <a:p>
            <a:r>
              <a:rPr lang="en-US" b="1" dirty="0" smtClean="0"/>
              <a:t>IP Table Filtering</a:t>
            </a:r>
            <a:endParaRPr lang="en-GB" dirty="0"/>
          </a:p>
        </p:txBody>
      </p:sp>
      <p:sp>
        <p:nvSpPr>
          <p:cNvPr id="3" name="Content Placeholder 2"/>
          <p:cNvSpPr>
            <a:spLocks noGrp="1"/>
          </p:cNvSpPr>
          <p:nvPr>
            <p:ph idx="1"/>
          </p:nvPr>
        </p:nvSpPr>
        <p:spPr>
          <a:xfrm>
            <a:off x="1484310" y="1364974"/>
            <a:ext cx="10018713" cy="5221355"/>
          </a:xfrm>
        </p:spPr>
        <p:txBody>
          <a:bodyPr>
            <a:normAutofit lnSpcReduction="10000"/>
          </a:bodyPr>
          <a:lstStyle/>
          <a:p>
            <a:r>
              <a:rPr lang="en-GB" sz="2600" dirty="0" smtClean="0"/>
              <a:t>The kernel will inspect data packets and decide based on these rules what to do with each packet.</a:t>
            </a:r>
          </a:p>
          <a:p>
            <a:r>
              <a:rPr lang="en-US" sz="2600" dirty="0" smtClean="0"/>
              <a:t>IP filtering is simply a mechanism that decides which types of IP datagram will be processed normally and which will be discarded. By discarded we mean that the datagram is deleted and completely ignored, as if it had never been received. </a:t>
            </a:r>
            <a:endParaRPr lang="en-GB" sz="2600" dirty="0" smtClean="0"/>
          </a:p>
          <a:p>
            <a:r>
              <a:rPr lang="en-GB" sz="2600" dirty="0" smtClean="0"/>
              <a:t> The main difference between packet forwarding and packet filtering is: </a:t>
            </a:r>
            <a:r>
              <a:rPr lang="en-GB" sz="2600" b="1" dirty="0" smtClean="0"/>
              <a:t>Packet forwarding </a:t>
            </a:r>
            <a:r>
              <a:rPr lang="en-GB" sz="2600" dirty="0" smtClean="0"/>
              <a:t>uses only a routing table to make decisions, </a:t>
            </a:r>
            <a:r>
              <a:rPr lang="en-GB" sz="2600" b="1" dirty="0" smtClean="0"/>
              <a:t>packet filtering</a:t>
            </a:r>
            <a:r>
              <a:rPr lang="en-GB" sz="2600" dirty="0" smtClean="0"/>
              <a:t> uses a list of rules for filtering.</a:t>
            </a:r>
          </a:p>
          <a:p>
            <a:r>
              <a:rPr lang="en-GB" sz="2600" dirty="0" smtClean="0"/>
              <a:t>The Linux kernel has the built-in ability to filter packets, allowing some of them to be received by or pass through the system while stopping.</a:t>
            </a:r>
          </a:p>
          <a:p>
            <a:pPr>
              <a:buNone/>
            </a:pPr>
            <a:endParaRPr lang="en-GB" dirty="0"/>
          </a:p>
        </p:txBody>
      </p:sp>
      <p:sp>
        <p:nvSpPr>
          <p:cNvPr id="8" name="Slide Number Placeholder 7"/>
          <p:cNvSpPr>
            <a:spLocks noGrp="1"/>
          </p:cNvSpPr>
          <p:nvPr>
            <p:ph type="sldNum" sz="quarter" idx="12"/>
          </p:nvPr>
        </p:nvSpPr>
        <p:spPr>
          <a:xfrm>
            <a:off x="11200050" y="6180640"/>
            <a:ext cx="551167" cy="365125"/>
          </a:xfrm>
        </p:spPr>
        <p:txBody>
          <a:bodyPr/>
          <a:lstStyle/>
          <a:p>
            <a:fld id="{D57F1E4F-1CFF-5643-939E-217C01CDF565}" type="slidenum">
              <a:rPr lang="en-US" sz="2000" b="1" smtClean="0"/>
              <a:pPr/>
              <a:t>13</a:t>
            </a:fld>
            <a:endParaRPr lang="en-US" sz="2000" b="1" dirty="0"/>
          </a:p>
        </p:txBody>
      </p:sp>
    </p:spTree>
  </p:cSld>
  <p:clrMapOvr>
    <a:masterClrMapping/>
  </p:clrMapOvr>
  <p:transition spd="slow">
    <p:push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450574"/>
            <a:ext cx="10018713" cy="742123"/>
          </a:xfrm>
        </p:spPr>
        <p:txBody>
          <a:bodyPr>
            <a:normAutofit/>
          </a:bodyPr>
          <a:lstStyle/>
          <a:p>
            <a:r>
              <a:rPr lang="en-GB" b="1" dirty="0" smtClean="0"/>
              <a:t>Types of rules in chains</a:t>
            </a:r>
            <a:endParaRPr lang="en-GB" dirty="0"/>
          </a:p>
        </p:txBody>
      </p:sp>
      <p:sp>
        <p:nvSpPr>
          <p:cNvPr id="3" name="Content Placeholder 2"/>
          <p:cNvSpPr>
            <a:spLocks noGrp="1"/>
          </p:cNvSpPr>
          <p:nvPr>
            <p:ph idx="1"/>
          </p:nvPr>
        </p:nvSpPr>
        <p:spPr>
          <a:xfrm>
            <a:off x="1484310" y="1378226"/>
            <a:ext cx="10018713" cy="5194851"/>
          </a:xfrm>
        </p:spPr>
        <p:txBody>
          <a:bodyPr>
            <a:normAutofit fontScale="92500"/>
          </a:bodyPr>
          <a:lstStyle/>
          <a:p>
            <a:pPr>
              <a:buNone/>
            </a:pPr>
            <a:r>
              <a:rPr lang="en-GB" dirty="0" smtClean="0"/>
              <a:t>There are five types of rules implemented in all types of IP table chains:</a:t>
            </a:r>
          </a:p>
          <a:p>
            <a:r>
              <a:rPr lang="en-GB" b="1" dirty="0" smtClean="0"/>
              <a:t>Input: </a:t>
            </a:r>
            <a:r>
              <a:rPr lang="en-GB" dirty="0" smtClean="0"/>
              <a:t>The </a:t>
            </a:r>
            <a:r>
              <a:rPr lang="en-GB" b="1" dirty="0" smtClean="0"/>
              <a:t>input</a:t>
            </a:r>
            <a:r>
              <a:rPr lang="en-GB" dirty="0" smtClean="0"/>
              <a:t> chain is used for any packet coming into </a:t>
            </a:r>
            <a:r>
              <a:rPr lang="en-GB" smtClean="0"/>
              <a:t>the system. </a:t>
            </a:r>
            <a:r>
              <a:rPr lang="en-GB" dirty="0" smtClean="0"/>
              <a:t>Input Chain is for managing packets input to the server and Used by mangle and filter tables.</a:t>
            </a:r>
            <a:endParaRPr lang="en-GB" b="1" dirty="0" smtClean="0"/>
          </a:p>
          <a:p>
            <a:r>
              <a:rPr lang="en-GB" b="1" dirty="0" smtClean="0"/>
              <a:t>Output: </a:t>
            </a:r>
            <a:r>
              <a:rPr lang="en-GB" dirty="0" smtClean="0"/>
              <a:t>The </a:t>
            </a:r>
            <a:r>
              <a:rPr lang="en-GB" b="1" dirty="0" smtClean="0"/>
              <a:t>output </a:t>
            </a:r>
            <a:r>
              <a:rPr lang="en-GB" dirty="0" smtClean="0"/>
              <a:t>chain is for any packet leaving the system and it is </a:t>
            </a:r>
            <a:r>
              <a:rPr lang="en-GB" sz="2800" dirty="0" smtClean="0"/>
              <a:t> </a:t>
            </a:r>
            <a:r>
              <a:rPr lang="en-GB" dirty="0" smtClean="0"/>
              <a:t>Used by Mangle, NAT and Filter tables.</a:t>
            </a:r>
            <a:endParaRPr lang="en-GB" b="1" dirty="0" smtClean="0"/>
          </a:p>
          <a:p>
            <a:r>
              <a:rPr lang="en-GB" b="1" dirty="0" smtClean="0"/>
              <a:t>Forward: </a:t>
            </a:r>
            <a:r>
              <a:rPr lang="en-GB" dirty="0" smtClean="0"/>
              <a:t>The </a:t>
            </a:r>
            <a:r>
              <a:rPr lang="en-GB" b="1" dirty="0" smtClean="0"/>
              <a:t>forward</a:t>
            </a:r>
            <a:r>
              <a:rPr lang="en-GB" dirty="0" smtClean="0"/>
              <a:t> chain is for packets that are forwarded (routed) through the system and</a:t>
            </a:r>
            <a:r>
              <a:rPr lang="en-GB" sz="2800" dirty="0" smtClean="0"/>
              <a:t> u</a:t>
            </a:r>
            <a:r>
              <a:rPr lang="en-GB" dirty="0" smtClean="0"/>
              <a:t>sed by Mangle and Filter tables.</a:t>
            </a:r>
            <a:endParaRPr lang="en-GB" b="1" dirty="0" smtClean="0"/>
          </a:p>
          <a:p>
            <a:r>
              <a:rPr lang="en-GB" b="1" dirty="0" smtClean="0"/>
              <a:t>Prerouting: </a:t>
            </a:r>
            <a:r>
              <a:rPr lang="en-GB" dirty="0" smtClean="0"/>
              <a:t>Prerouting allows altering of packets before they reach the input chain and used</a:t>
            </a:r>
            <a:r>
              <a:rPr lang="en-GB" sz="2800" dirty="0" smtClean="0"/>
              <a:t> </a:t>
            </a:r>
            <a:r>
              <a:rPr lang="en-GB" dirty="0" smtClean="0"/>
              <a:t>by Mangle and NAT tables.</a:t>
            </a:r>
            <a:endParaRPr lang="en-GB" b="1" dirty="0" smtClean="0"/>
          </a:p>
          <a:p>
            <a:r>
              <a:rPr lang="en-GB" b="1" dirty="0" smtClean="0"/>
              <a:t>Postrouting: </a:t>
            </a:r>
            <a:r>
              <a:rPr lang="en-GB" dirty="0" smtClean="0"/>
              <a:t>Postrouting allows altering packets after they exit the output chain and used by Mangle and NAT tables.</a:t>
            </a:r>
          </a:p>
          <a:p>
            <a:pPr>
              <a:buFont typeface="Wingdings" pitchFamily="2" charset="2"/>
              <a:buChar char="Ø"/>
            </a:pPr>
            <a:r>
              <a:rPr lang="en-GB" sz="1800" dirty="0" smtClean="0"/>
              <a:t>For more detail read notes given below</a:t>
            </a:r>
          </a:p>
          <a:p>
            <a:endParaRPr lang="en-GB" dirty="0"/>
          </a:p>
        </p:txBody>
      </p:sp>
      <p:sp>
        <p:nvSpPr>
          <p:cNvPr id="8" name="Slide Number Placeholder 7"/>
          <p:cNvSpPr>
            <a:spLocks noGrp="1"/>
          </p:cNvSpPr>
          <p:nvPr>
            <p:ph type="sldNum" sz="quarter" idx="12"/>
          </p:nvPr>
        </p:nvSpPr>
        <p:spPr>
          <a:xfrm>
            <a:off x="11304554" y="6245954"/>
            <a:ext cx="551167" cy="365125"/>
          </a:xfrm>
        </p:spPr>
        <p:txBody>
          <a:bodyPr/>
          <a:lstStyle/>
          <a:p>
            <a:fld id="{D57F1E4F-1CFF-5643-939E-217C01CDF565}" type="slidenum">
              <a:rPr lang="en-US" sz="2000" b="1" smtClean="0"/>
              <a:pPr/>
              <a:t>14</a:t>
            </a:fld>
            <a:endParaRPr lang="en-US" sz="2000" b="1" dirty="0"/>
          </a:p>
        </p:txBody>
      </p:sp>
    </p:spTree>
  </p:cSld>
  <p:clrMapOvr>
    <a:masterClrMapping/>
  </p:clrMapOvr>
  <p:transition spd="slow">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122" y="313509"/>
            <a:ext cx="10018713" cy="757646"/>
          </a:xfrm>
        </p:spPr>
        <p:txBody>
          <a:bodyPr>
            <a:normAutofit/>
          </a:bodyPr>
          <a:lstStyle/>
          <a:p>
            <a:r>
              <a:rPr lang="en-GB" b="1" dirty="0" smtClean="0"/>
              <a:t>Targets</a:t>
            </a:r>
            <a:endParaRPr lang="en-GB" dirty="0"/>
          </a:p>
        </p:txBody>
      </p:sp>
      <p:sp>
        <p:nvSpPr>
          <p:cNvPr id="3" name="Content Placeholder 2"/>
          <p:cNvSpPr>
            <a:spLocks noGrp="1"/>
          </p:cNvSpPr>
          <p:nvPr>
            <p:ph idx="1"/>
          </p:nvPr>
        </p:nvSpPr>
        <p:spPr>
          <a:xfrm>
            <a:off x="1484310" y="1214846"/>
            <a:ext cx="10018713" cy="5290457"/>
          </a:xfrm>
        </p:spPr>
        <p:txBody>
          <a:bodyPr>
            <a:normAutofit/>
          </a:bodyPr>
          <a:lstStyle/>
          <a:p>
            <a:r>
              <a:rPr lang="en-GB" dirty="0" smtClean="0"/>
              <a:t>Every iptables rules have some "target" which is executed when it is matched against a "criteria". Following are the most common targets:</a:t>
            </a:r>
          </a:p>
          <a:p>
            <a:r>
              <a:rPr lang="en-GB" b="1" dirty="0" smtClean="0"/>
              <a:t>ACCEPT:</a:t>
            </a:r>
            <a:r>
              <a:rPr lang="en-GB" dirty="0" smtClean="0"/>
              <a:t> Packet is accepted and goes to the application for processing.</a:t>
            </a:r>
          </a:p>
          <a:p>
            <a:r>
              <a:rPr lang="en-GB" b="1" dirty="0" smtClean="0"/>
              <a:t>DROP:</a:t>
            </a:r>
            <a:r>
              <a:rPr lang="en-GB" dirty="0" smtClean="0"/>
              <a:t> Packet is dropped. No information regarding the drop is sent to the sender.</a:t>
            </a:r>
          </a:p>
          <a:p>
            <a:r>
              <a:rPr lang="en-GB" b="1" dirty="0" smtClean="0"/>
              <a:t>REJECT:</a:t>
            </a:r>
            <a:r>
              <a:rPr lang="en-GB" dirty="0" smtClean="0"/>
              <a:t> Packet is dropped and information (error) message is sent to the sender.</a:t>
            </a:r>
          </a:p>
          <a:p>
            <a:r>
              <a:rPr lang="en-GB" b="1" dirty="0" smtClean="0"/>
              <a:t>LOG:</a:t>
            </a:r>
            <a:r>
              <a:rPr lang="en-GB" dirty="0" smtClean="0"/>
              <a:t> Packet details are sent to for logging. </a:t>
            </a:r>
          </a:p>
          <a:p>
            <a:r>
              <a:rPr lang="en-GB" b="1" dirty="0" smtClean="0"/>
              <a:t>DNAT:</a:t>
            </a:r>
            <a:r>
              <a:rPr lang="en-GB" dirty="0" smtClean="0"/>
              <a:t> Rewrites the destination IP of the packet</a:t>
            </a:r>
          </a:p>
          <a:p>
            <a:r>
              <a:rPr lang="en-GB" b="1" dirty="0" smtClean="0"/>
              <a:t>SNAT</a:t>
            </a:r>
            <a:r>
              <a:rPr lang="en-GB" dirty="0" smtClean="0"/>
              <a:t>: Rewrites the source IP of the packet</a:t>
            </a:r>
          </a:p>
          <a:p>
            <a:endParaRPr lang="en-GB" dirty="0"/>
          </a:p>
        </p:txBody>
      </p:sp>
      <p:sp>
        <p:nvSpPr>
          <p:cNvPr id="8" name="Slide Number Placeholder 7"/>
          <p:cNvSpPr>
            <a:spLocks noGrp="1"/>
          </p:cNvSpPr>
          <p:nvPr>
            <p:ph type="sldNum" sz="quarter" idx="12"/>
          </p:nvPr>
        </p:nvSpPr>
        <p:spPr>
          <a:xfrm>
            <a:off x="11239239" y="6232891"/>
            <a:ext cx="551167" cy="365125"/>
          </a:xfrm>
        </p:spPr>
        <p:txBody>
          <a:bodyPr/>
          <a:lstStyle/>
          <a:p>
            <a:r>
              <a:rPr lang="en-US" sz="2400" b="1" dirty="0" smtClean="0">
                <a:latin typeface="Aldhabi" pitchFamily="2" charset="-78"/>
                <a:cs typeface="Aldhabi" pitchFamily="2" charset="-78"/>
              </a:rPr>
              <a:t>16</a:t>
            </a:r>
            <a:endParaRPr lang="en-US" sz="2400" b="1" dirty="0">
              <a:latin typeface="Aldhabi" pitchFamily="2" charset="-78"/>
              <a:cs typeface="Aldhabi" pitchFamily="2" charset="-78"/>
            </a:endParaRPr>
          </a:p>
        </p:txBody>
      </p:sp>
    </p:spTree>
  </p:cSld>
  <p:clrMapOvr>
    <a:masterClrMapping/>
  </p:clrMapOvr>
  <p:transition spd="slow">
    <p:strips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868680"/>
          </a:xfrm>
        </p:spPr>
        <p:txBody>
          <a:bodyPr/>
          <a:lstStyle/>
          <a:p>
            <a:r>
              <a:rPr lang="en-GB" b="1" dirty="0" smtClean="0"/>
              <a:t>Types of IP tables use in Filtering</a:t>
            </a:r>
            <a:endParaRPr lang="en-GB" dirty="0"/>
          </a:p>
        </p:txBody>
      </p:sp>
      <p:sp>
        <p:nvSpPr>
          <p:cNvPr id="3" name="Content Placeholder 2"/>
          <p:cNvSpPr>
            <a:spLocks noGrp="1"/>
          </p:cNvSpPr>
          <p:nvPr>
            <p:ph idx="1"/>
          </p:nvPr>
        </p:nvSpPr>
        <p:spPr>
          <a:xfrm>
            <a:off x="1484310" y="2090057"/>
            <a:ext cx="10018713" cy="3701143"/>
          </a:xfrm>
        </p:spPr>
        <p:txBody>
          <a:bodyPr/>
          <a:lstStyle/>
          <a:p>
            <a:r>
              <a:rPr lang="en-US" dirty="0" smtClean="0">
                <a:latin typeface="Tahoma" pitchFamily="34" charset="0"/>
              </a:rPr>
              <a:t>The </a:t>
            </a:r>
            <a:r>
              <a:rPr lang="en-US" b="1" dirty="0" smtClean="0">
                <a:solidFill>
                  <a:schemeClr val="accent1">
                    <a:lumMod val="50000"/>
                  </a:schemeClr>
                </a:solidFill>
                <a:latin typeface="Tahoma" pitchFamily="34" charset="0"/>
              </a:rPr>
              <a:t>three built-in tables </a:t>
            </a:r>
            <a:r>
              <a:rPr lang="en-US" dirty="0" smtClean="0">
                <a:latin typeface="Tahoma" pitchFamily="34" charset="0"/>
              </a:rPr>
              <a:t>with chains of rules. They are as follows: </a:t>
            </a:r>
          </a:p>
          <a:p>
            <a:pPr lvl="1"/>
            <a:r>
              <a:rPr lang="en-US" sz="2400" b="1" dirty="0" smtClean="0">
                <a:solidFill>
                  <a:schemeClr val="accent1">
                    <a:lumMod val="50000"/>
                  </a:schemeClr>
                </a:solidFill>
                <a:latin typeface="Tahoma" pitchFamily="34" charset="0"/>
              </a:rPr>
              <a:t>Filter</a:t>
            </a:r>
            <a:r>
              <a:rPr lang="en-US" sz="2400" b="1" dirty="0" smtClean="0">
                <a:latin typeface="Tahoma" pitchFamily="34" charset="0"/>
              </a:rPr>
              <a:t> :</a:t>
            </a:r>
            <a:r>
              <a:rPr lang="en-US" sz="2400" dirty="0" smtClean="0">
                <a:latin typeface="Tahoma" pitchFamily="34" charset="0"/>
              </a:rPr>
              <a:t>The default table for handling network packets. </a:t>
            </a:r>
          </a:p>
          <a:p>
            <a:pPr lvl="1"/>
            <a:r>
              <a:rPr lang="en-US" sz="2400" b="1" dirty="0" smtClean="0">
                <a:solidFill>
                  <a:schemeClr val="accent1">
                    <a:lumMod val="50000"/>
                  </a:schemeClr>
                </a:solidFill>
                <a:latin typeface="Tahoma" pitchFamily="34" charset="0"/>
              </a:rPr>
              <a:t>NAT </a:t>
            </a:r>
            <a:r>
              <a:rPr lang="en-US" sz="2400" b="1" dirty="0" smtClean="0">
                <a:latin typeface="Tahoma" pitchFamily="34" charset="0"/>
              </a:rPr>
              <a:t>:</a:t>
            </a:r>
            <a:r>
              <a:rPr lang="en-US" sz="2400" dirty="0" smtClean="0">
                <a:latin typeface="Tahoma" pitchFamily="34" charset="0"/>
              </a:rPr>
              <a:t>  Used to alter packets that create a new connection. </a:t>
            </a:r>
          </a:p>
          <a:p>
            <a:pPr lvl="1"/>
            <a:r>
              <a:rPr lang="en-US" sz="2400" b="1" dirty="0" smtClean="0">
                <a:solidFill>
                  <a:schemeClr val="accent1">
                    <a:lumMod val="50000"/>
                  </a:schemeClr>
                </a:solidFill>
                <a:latin typeface="Tahoma" pitchFamily="34" charset="0"/>
              </a:rPr>
              <a:t>Mangle</a:t>
            </a:r>
            <a:r>
              <a:rPr lang="en-US" sz="2400" b="1" dirty="0" smtClean="0">
                <a:latin typeface="Tahoma" pitchFamily="34" charset="0"/>
              </a:rPr>
              <a:t> :</a:t>
            </a:r>
            <a:r>
              <a:rPr lang="en-US" sz="2400" dirty="0" smtClean="0">
                <a:latin typeface="Tahoma" pitchFamily="34" charset="0"/>
              </a:rPr>
              <a:t> Used for specific types of packet alteration. </a:t>
            </a:r>
          </a:p>
          <a:p>
            <a:endParaRPr lang="en-US" sz="2800" dirty="0" smtClean="0"/>
          </a:p>
          <a:p>
            <a:endParaRPr lang="en-GB" dirty="0"/>
          </a:p>
        </p:txBody>
      </p:sp>
      <p:sp>
        <p:nvSpPr>
          <p:cNvPr id="8" name="Slide Number Placeholder 7"/>
          <p:cNvSpPr>
            <a:spLocks noGrp="1"/>
          </p:cNvSpPr>
          <p:nvPr>
            <p:ph type="sldNum" sz="quarter" idx="12"/>
          </p:nvPr>
        </p:nvSpPr>
        <p:spPr>
          <a:xfrm>
            <a:off x="11147799" y="6115325"/>
            <a:ext cx="551167" cy="365125"/>
          </a:xfrm>
        </p:spPr>
        <p:txBody>
          <a:bodyPr/>
          <a:lstStyle/>
          <a:p>
            <a:fld id="{D57F1E4F-1CFF-5643-939E-217C01CDF565}" type="slidenum">
              <a:rPr lang="en-US" sz="2000" b="1" smtClean="0"/>
              <a:pPr/>
              <a:t>16</a:t>
            </a:fld>
            <a:endParaRPr lang="en-US" sz="2000" b="1" dirty="0"/>
          </a:p>
        </p:txBody>
      </p:sp>
    </p:spTree>
  </p:cSld>
  <p:clrMapOvr>
    <a:masterClrMapping/>
  </p:clrMapOvr>
  <p:transition spd="slow">
    <p:split orient="vert" dir="in"/>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1051560"/>
          </a:xfrm>
        </p:spPr>
        <p:txBody>
          <a:bodyPr>
            <a:normAutofit fontScale="90000"/>
          </a:bodyPr>
          <a:lstStyle/>
          <a:p>
            <a:r>
              <a:rPr lang="en-GB" b="1" dirty="0" smtClean="0"/>
              <a:t>Graphical View of  IP tables, Chains and Rules</a:t>
            </a:r>
            <a:endParaRPr lang="en-GB" dirty="0"/>
          </a:p>
        </p:txBody>
      </p:sp>
      <p:pic>
        <p:nvPicPr>
          <p:cNvPr id="4" name="Content Placeholder 3" descr="iptables2.png"/>
          <p:cNvPicPr>
            <a:picLocks noGrp="1" noChangeAspect="1"/>
          </p:cNvPicPr>
          <p:nvPr>
            <p:ph idx="1"/>
          </p:nvPr>
        </p:nvPicPr>
        <p:blipFill>
          <a:blip r:embed="rId2"/>
          <a:stretch>
            <a:fillRect/>
          </a:stretch>
        </p:blipFill>
        <p:spPr>
          <a:xfrm>
            <a:off x="2235874" y="1685109"/>
            <a:ext cx="8802240" cy="4521318"/>
          </a:xfrm>
        </p:spPr>
      </p:pic>
      <p:sp>
        <p:nvSpPr>
          <p:cNvPr id="9" name="Slide Number Placeholder 8"/>
          <p:cNvSpPr>
            <a:spLocks noGrp="1"/>
          </p:cNvSpPr>
          <p:nvPr>
            <p:ph type="sldNum" sz="quarter" idx="12"/>
          </p:nvPr>
        </p:nvSpPr>
        <p:spPr>
          <a:xfrm>
            <a:off x="11108610" y="6154514"/>
            <a:ext cx="551167" cy="365125"/>
          </a:xfrm>
        </p:spPr>
        <p:txBody>
          <a:bodyPr/>
          <a:lstStyle/>
          <a:p>
            <a:fld id="{D57F1E4F-1CFF-5643-939E-217C01CDF565}" type="slidenum">
              <a:rPr lang="en-US" sz="2000" b="1" smtClean="0"/>
              <a:pPr/>
              <a:t>17</a:t>
            </a:fld>
            <a:endParaRPr lang="en-US" sz="2000" b="1" dirty="0"/>
          </a:p>
        </p:txBody>
      </p:sp>
    </p:spTree>
  </p:cSld>
  <p:clrMapOvr>
    <a:masterClrMapping/>
  </p:clrMapOvr>
  <p:transition spd="slow">
    <p:split dir="in"/>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437" y="0"/>
            <a:ext cx="10018713" cy="1319349"/>
          </a:xfrm>
        </p:spPr>
        <p:txBody>
          <a:bodyPr/>
          <a:lstStyle/>
          <a:p>
            <a:r>
              <a:rPr lang="en-GB" b="1" dirty="0" smtClean="0"/>
              <a:t>Filter Table</a:t>
            </a:r>
            <a:endParaRPr lang="en-GB" dirty="0"/>
          </a:p>
        </p:txBody>
      </p:sp>
      <p:sp>
        <p:nvSpPr>
          <p:cNvPr id="3" name="Content Placeholder 2"/>
          <p:cNvSpPr>
            <a:spLocks noGrp="1"/>
          </p:cNvSpPr>
          <p:nvPr>
            <p:ph idx="1"/>
          </p:nvPr>
        </p:nvSpPr>
        <p:spPr>
          <a:xfrm>
            <a:off x="1484310" y="953589"/>
            <a:ext cx="10018713" cy="5721531"/>
          </a:xfrm>
        </p:spPr>
        <p:txBody>
          <a:bodyPr>
            <a:normAutofit lnSpcReduction="10000"/>
          </a:bodyPr>
          <a:lstStyle/>
          <a:p>
            <a:r>
              <a:rPr lang="en-GB" dirty="0" smtClean="0"/>
              <a:t>Filter is default table for iptables. So, if we don’t define our own table this table will created by default.</a:t>
            </a:r>
          </a:p>
          <a:p>
            <a:r>
              <a:rPr lang="en-GB" dirty="0" smtClean="0"/>
              <a:t>The filter table is mainly used for filtering packets. We can match packets and filter them in whatever way we want. This is the place that we actually take action against packets and look at what they contain and DROP or /ACCEPT them, depending on their content.</a:t>
            </a:r>
          </a:p>
          <a:p>
            <a:pPr>
              <a:lnSpc>
                <a:spcPct val="80000"/>
              </a:lnSpc>
            </a:pPr>
            <a:r>
              <a:rPr lang="en-US" b="1" dirty="0" smtClean="0">
                <a:solidFill>
                  <a:schemeClr val="accent1">
                    <a:lumMod val="50000"/>
                  </a:schemeClr>
                </a:solidFill>
                <a:latin typeface="Tahoma" pitchFamily="34" charset="0"/>
              </a:rPr>
              <a:t>The built-in chains for the filter table are as follows: </a:t>
            </a:r>
          </a:p>
          <a:p>
            <a:pPr marL="514350" lvl="1" indent="-169863">
              <a:lnSpc>
                <a:spcPct val="80000"/>
              </a:lnSpc>
            </a:pPr>
            <a:r>
              <a:rPr lang="en-US" b="1" dirty="0" smtClean="0">
                <a:solidFill>
                  <a:schemeClr val="tx2"/>
                </a:solidFill>
                <a:latin typeface="Tahoma" pitchFamily="34" charset="0"/>
              </a:rPr>
              <a:t>INPUT</a:t>
            </a:r>
            <a:r>
              <a:rPr lang="en-US" dirty="0" smtClean="0">
                <a:solidFill>
                  <a:schemeClr val="tx2"/>
                </a:solidFill>
                <a:latin typeface="Tahoma" pitchFamily="34" charset="0"/>
              </a:rPr>
              <a:t> — Applies to network packets that are targeted for the server. </a:t>
            </a:r>
            <a:r>
              <a:rPr lang="en-GB" dirty="0" smtClean="0">
                <a:solidFill>
                  <a:schemeClr val="tx2"/>
                </a:solidFill>
              </a:rPr>
              <a:t>Input Chain is for managing packets input to the server. </a:t>
            </a:r>
          </a:p>
          <a:p>
            <a:pPr marL="514350" lvl="1" indent="-169863">
              <a:lnSpc>
                <a:spcPct val="80000"/>
              </a:lnSpc>
            </a:pPr>
            <a:r>
              <a:rPr lang="en-GB" dirty="0" smtClean="0">
                <a:solidFill>
                  <a:schemeClr val="tx2"/>
                </a:solidFill>
              </a:rPr>
              <a:t>Here we can add rules to control input connections from client to the server.</a:t>
            </a:r>
          </a:p>
          <a:p>
            <a:pPr marL="514350" lvl="1" indent="-169863">
              <a:lnSpc>
                <a:spcPct val="80000"/>
              </a:lnSpc>
            </a:pPr>
            <a:r>
              <a:rPr lang="en-GB" dirty="0" smtClean="0">
                <a:solidFill>
                  <a:schemeClr val="tx2"/>
                </a:solidFill>
              </a:rPr>
              <a:t>It means reply of a http request made by your browser will go through INPUT chain.</a:t>
            </a:r>
            <a:endParaRPr lang="en-US" dirty="0" smtClean="0">
              <a:solidFill>
                <a:schemeClr val="tx2"/>
              </a:solidFill>
              <a:latin typeface="Tahoma" pitchFamily="34" charset="0"/>
            </a:endParaRPr>
          </a:p>
          <a:p>
            <a:pPr marL="514350" lvl="1" indent="-169863">
              <a:lnSpc>
                <a:spcPct val="80000"/>
              </a:lnSpc>
            </a:pPr>
            <a:r>
              <a:rPr lang="en-US" b="1" dirty="0" smtClean="0">
                <a:solidFill>
                  <a:schemeClr val="tx2"/>
                </a:solidFill>
                <a:latin typeface="Tahoma" pitchFamily="34" charset="0"/>
              </a:rPr>
              <a:t>OUTPUT</a:t>
            </a:r>
            <a:r>
              <a:rPr lang="en-US" dirty="0" smtClean="0">
                <a:solidFill>
                  <a:schemeClr val="tx2"/>
                </a:solidFill>
                <a:latin typeface="Tahoma" pitchFamily="34" charset="0"/>
              </a:rPr>
              <a:t> — Applies to locally-generated network packets. </a:t>
            </a:r>
          </a:p>
          <a:p>
            <a:pPr marL="514350" lvl="1" indent="-169863">
              <a:lnSpc>
                <a:spcPct val="80000"/>
              </a:lnSpc>
            </a:pPr>
            <a:r>
              <a:rPr lang="en-GB" dirty="0" smtClean="0">
                <a:solidFill>
                  <a:schemeClr val="tx2"/>
                </a:solidFill>
              </a:rPr>
              <a:t>Outgoing from firewall. For packets generated locally and going out of the local server.</a:t>
            </a:r>
            <a:endParaRPr lang="en-US" dirty="0" smtClean="0">
              <a:solidFill>
                <a:schemeClr val="tx2"/>
              </a:solidFill>
              <a:latin typeface="Tahoma" pitchFamily="34" charset="0"/>
            </a:endParaRPr>
          </a:p>
          <a:p>
            <a:pPr marL="514350" lvl="1" indent="-169863">
              <a:lnSpc>
                <a:spcPct val="80000"/>
              </a:lnSpc>
            </a:pPr>
            <a:r>
              <a:rPr lang="en-US" b="1" dirty="0" smtClean="0">
                <a:solidFill>
                  <a:schemeClr val="tx2"/>
                </a:solidFill>
                <a:latin typeface="Tahoma" pitchFamily="34" charset="0"/>
              </a:rPr>
              <a:t>FORWARD </a:t>
            </a:r>
            <a:r>
              <a:rPr lang="en-US" dirty="0" smtClean="0">
                <a:solidFill>
                  <a:schemeClr val="tx2"/>
                </a:solidFill>
                <a:latin typeface="Tahoma" pitchFamily="34" charset="0"/>
              </a:rPr>
              <a:t>— Applies to network packets routed through the host.</a:t>
            </a:r>
            <a:r>
              <a:rPr lang="en-GB" dirty="0" smtClean="0">
                <a:solidFill>
                  <a:schemeClr val="tx2"/>
                </a:solidFill>
              </a:rPr>
              <a:t> Packet for another NIC on the local server. For packets routed through the server.</a:t>
            </a:r>
          </a:p>
          <a:p>
            <a:endParaRPr lang="en-GB" dirty="0"/>
          </a:p>
        </p:txBody>
      </p:sp>
      <p:sp>
        <p:nvSpPr>
          <p:cNvPr id="8" name="Slide Number Placeholder 7"/>
          <p:cNvSpPr>
            <a:spLocks noGrp="1"/>
          </p:cNvSpPr>
          <p:nvPr>
            <p:ph type="sldNum" sz="quarter" idx="12"/>
          </p:nvPr>
        </p:nvSpPr>
        <p:spPr>
          <a:xfrm>
            <a:off x="11278427" y="6193702"/>
            <a:ext cx="551167" cy="365125"/>
          </a:xfrm>
        </p:spPr>
        <p:txBody>
          <a:bodyPr/>
          <a:lstStyle/>
          <a:p>
            <a:fld id="{D57F1E4F-1CFF-5643-939E-217C01CDF565}" type="slidenum">
              <a:rPr lang="en-US" sz="2000" b="1" smtClean="0"/>
              <a:pPr/>
              <a:t>18</a:t>
            </a:fld>
            <a:endParaRPr lang="en-US" sz="2000" b="1" dirty="0"/>
          </a:p>
        </p:txBody>
      </p:sp>
    </p:spTree>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51114"/>
          </a:xfrm>
        </p:spPr>
        <p:txBody>
          <a:bodyPr>
            <a:normAutofit/>
          </a:bodyPr>
          <a:lstStyle/>
          <a:p>
            <a:r>
              <a:rPr lang="en-GB" b="1" dirty="0" smtClean="0"/>
              <a:t>Filer Table Processing Flow</a:t>
            </a:r>
            <a:r>
              <a:rPr lang="en-GB" dirty="0" smtClean="0"/>
              <a:t>:</a:t>
            </a:r>
            <a:endParaRPr lang="en-GB" dirty="0"/>
          </a:p>
        </p:txBody>
      </p:sp>
      <p:pic>
        <p:nvPicPr>
          <p:cNvPr id="4" name="Content Placeholder 3" descr="iptables_filter.png"/>
          <p:cNvPicPr>
            <a:picLocks noGrp="1" noChangeAspect="1"/>
          </p:cNvPicPr>
          <p:nvPr>
            <p:ph idx="1"/>
          </p:nvPr>
        </p:nvPicPr>
        <p:blipFill>
          <a:blip r:embed="rId2"/>
          <a:stretch>
            <a:fillRect/>
          </a:stretch>
        </p:blipFill>
        <p:spPr>
          <a:xfrm>
            <a:off x="1201782" y="1672800"/>
            <a:ext cx="10728960" cy="3839725"/>
          </a:xfrm>
        </p:spPr>
      </p:pic>
      <p:sp>
        <p:nvSpPr>
          <p:cNvPr id="9" name="Slide Number Placeholder 8"/>
          <p:cNvSpPr>
            <a:spLocks noGrp="1"/>
          </p:cNvSpPr>
          <p:nvPr>
            <p:ph type="sldNum" sz="quarter" idx="12"/>
          </p:nvPr>
        </p:nvSpPr>
        <p:spPr/>
        <p:txBody>
          <a:bodyPr/>
          <a:lstStyle/>
          <a:p>
            <a:fld id="{D57F1E4F-1CFF-5643-939E-217C01CDF565}" type="slidenum">
              <a:rPr lang="en-US" sz="2000" b="1" smtClean="0"/>
              <a:pPr/>
              <a:t>19</a:t>
            </a:fld>
            <a:endParaRPr lang="en-US" sz="2000" b="1" dirty="0"/>
          </a:p>
        </p:txBody>
      </p:sp>
    </p:spTree>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437" y="189413"/>
            <a:ext cx="10018713" cy="1051560"/>
          </a:xfrm>
        </p:spPr>
        <p:txBody>
          <a:bodyPr/>
          <a:lstStyle/>
          <a:p>
            <a:r>
              <a:rPr lang="en-GB" b="1" dirty="0" smtClean="0"/>
              <a:t>NAT Table</a:t>
            </a:r>
            <a:endParaRPr lang="en-GB" dirty="0"/>
          </a:p>
        </p:txBody>
      </p:sp>
      <p:sp>
        <p:nvSpPr>
          <p:cNvPr id="3" name="Content Placeholder 2"/>
          <p:cNvSpPr>
            <a:spLocks noGrp="1"/>
          </p:cNvSpPr>
          <p:nvPr>
            <p:ph idx="1"/>
          </p:nvPr>
        </p:nvSpPr>
        <p:spPr>
          <a:xfrm>
            <a:off x="1484310" y="1162595"/>
            <a:ext cx="10018713" cy="5238206"/>
          </a:xfrm>
        </p:spPr>
        <p:txBody>
          <a:bodyPr>
            <a:normAutofit lnSpcReduction="10000"/>
          </a:bodyPr>
          <a:lstStyle/>
          <a:p>
            <a:r>
              <a:rPr lang="en-GB" dirty="0" smtClean="0"/>
              <a:t>Network address translation (NAT) is a methodology of modifying network address information in Internet Protocol (IP) datagram packet headers. So these tables are used for Network Address Translation.</a:t>
            </a:r>
          </a:p>
          <a:p>
            <a:r>
              <a:rPr lang="en-GB" dirty="0" smtClean="0"/>
              <a:t>A NAT is a technique that change the source and/or target </a:t>
            </a:r>
            <a:r>
              <a:rPr lang="en-GB" dirty="0" err="1" smtClean="0"/>
              <a:t>ip</a:t>
            </a:r>
            <a:r>
              <a:rPr lang="en-GB" dirty="0" smtClean="0"/>
              <a:t>-address in packets. It is typically used to connect multiple computers in a private address range with the (public) internet. </a:t>
            </a:r>
          </a:p>
          <a:p>
            <a:r>
              <a:rPr lang="en-GB" dirty="0" smtClean="0"/>
              <a:t>This table should only be used for NAT (Network Address Translation) on different packets. In simple words, it should only be used to translate the packet's source field or destination field.</a:t>
            </a:r>
          </a:p>
          <a:p>
            <a:pPr>
              <a:lnSpc>
                <a:spcPct val="80000"/>
              </a:lnSpc>
            </a:pPr>
            <a:r>
              <a:rPr lang="en-US" b="1" dirty="0" smtClean="0">
                <a:solidFill>
                  <a:schemeClr val="accent1">
                    <a:lumMod val="50000"/>
                  </a:schemeClr>
                </a:solidFill>
                <a:latin typeface="Tahoma" pitchFamily="34" charset="0"/>
              </a:rPr>
              <a:t>The built-in chains for the NAT table are as follows: </a:t>
            </a:r>
          </a:p>
          <a:p>
            <a:pPr marL="514350" lvl="1" indent="-169863">
              <a:lnSpc>
                <a:spcPct val="80000"/>
              </a:lnSpc>
            </a:pPr>
            <a:r>
              <a:rPr lang="en-US" b="1" dirty="0" smtClean="0">
                <a:solidFill>
                  <a:schemeClr val="tx2"/>
                </a:solidFill>
                <a:latin typeface="Tahoma" pitchFamily="34" charset="0"/>
              </a:rPr>
              <a:t>PREROUTING</a:t>
            </a:r>
            <a:r>
              <a:rPr lang="en-US" dirty="0" smtClean="0">
                <a:solidFill>
                  <a:schemeClr val="tx2"/>
                </a:solidFill>
                <a:latin typeface="Tahoma" pitchFamily="34" charset="0"/>
              </a:rPr>
              <a:t> </a:t>
            </a:r>
            <a:r>
              <a:rPr lang="en-US" dirty="0" smtClean="0">
                <a:solidFill>
                  <a:schemeClr val="tx2"/>
                </a:solidFill>
                <a:latin typeface="Tahoma" pitchFamily="34" charset="0"/>
                <a:ea typeface="Tahoma" pitchFamily="34" charset="0"/>
                <a:cs typeface="Tahoma" pitchFamily="34" charset="0"/>
              </a:rPr>
              <a:t>— </a:t>
            </a:r>
            <a:r>
              <a:rPr lang="en-GB" dirty="0" smtClean="0">
                <a:solidFill>
                  <a:schemeClr val="tx2"/>
                </a:solidFill>
                <a:latin typeface="Tahoma" pitchFamily="34" charset="0"/>
                <a:ea typeface="Tahoma" pitchFamily="34" charset="0"/>
                <a:cs typeface="Tahoma" pitchFamily="34" charset="0"/>
              </a:rPr>
              <a:t>As the name indicates its translate packets before routing.</a:t>
            </a:r>
            <a:r>
              <a:rPr lang="en-US" dirty="0" smtClean="0">
                <a:solidFill>
                  <a:schemeClr val="tx2"/>
                </a:solidFill>
                <a:latin typeface="Tahoma" pitchFamily="34" charset="0"/>
              </a:rPr>
              <a:t>Alters network packets when they arrive. </a:t>
            </a:r>
          </a:p>
          <a:p>
            <a:pPr marL="514350" lvl="1" indent="-169863">
              <a:lnSpc>
                <a:spcPct val="80000"/>
              </a:lnSpc>
            </a:pPr>
            <a:r>
              <a:rPr lang="en-US" b="1" dirty="0" smtClean="0">
                <a:solidFill>
                  <a:schemeClr val="tx2"/>
                </a:solidFill>
                <a:latin typeface="Tahoma" pitchFamily="34" charset="0"/>
              </a:rPr>
              <a:t>OUTPUT</a:t>
            </a:r>
            <a:r>
              <a:rPr lang="en-US" dirty="0" smtClean="0">
                <a:solidFill>
                  <a:schemeClr val="tx2"/>
                </a:solidFill>
                <a:latin typeface="Tahoma" pitchFamily="34" charset="0"/>
              </a:rPr>
              <a:t> — Alters network packets before they are sent out. </a:t>
            </a:r>
          </a:p>
          <a:p>
            <a:pPr marL="514350" lvl="1" indent="-169863">
              <a:lnSpc>
                <a:spcPct val="80000"/>
              </a:lnSpc>
            </a:pPr>
            <a:r>
              <a:rPr lang="en-US" b="1" dirty="0" smtClean="0">
                <a:solidFill>
                  <a:schemeClr val="tx2"/>
                </a:solidFill>
                <a:latin typeface="Tahoma" pitchFamily="34" charset="0"/>
              </a:rPr>
              <a:t>POSTROUTING</a:t>
            </a:r>
            <a:r>
              <a:rPr lang="en-US" dirty="0" smtClean="0">
                <a:solidFill>
                  <a:schemeClr val="tx2"/>
                </a:solidFill>
                <a:latin typeface="Tahoma" pitchFamily="34" charset="0"/>
              </a:rPr>
              <a:t> — Alters network packets before leave.</a:t>
            </a:r>
            <a:endParaRPr lang="en-US" dirty="0" smtClean="0">
              <a:solidFill>
                <a:schemeClr val="tx2"/>
              </a:solidFill>
            </a:endParaRPr>
          </a:p>
          <a:p>
            <a:endParaRPr lang="en-GB" dirty="0">
              <a:solidFill>
                <a:schemeClr val="tx2"/>
              </a:solidFill>
            </a:endParaRPr>
          </a:p>
        </p:txBody>
      </p:sp>
      <p:sp>
        <p:nvSpPr>
          <p:cNvPr id="8" name="Slide Number Placeholder 7"/>
          <p:cNvSpPr>
            <a:spLocks noGrp="1"/>
          </p:cNvSpPr>
          <p:nvPr>
            <p:ph type="sldNum" sz="quarter" idx="12"/>
          </p:nvPr>
        </p:nvSpPr>
        <p:spPr/>
        <p:txBody>
          <a:bodyPr/>
          <a:lstStyle/>
          <a:p>
            <a:fld id="{D57F1E4F-1CFF-5643-939E-217C01CDF565}" type="slidenum">
              <a:rPr lang="en-US" sz="2000" b="1" smtClean="0"/>
              <a:pPr/>
              <a:t>20</a:t>
            </a:fld>
            <a:endParaRPr lang="en-US" sz="2000" b="1" dirty="0"/>
          </a:p>
        </p:txBody>
      </p:sp>
    </p:spTree>
  </p:cSld>
  <p:clrMapOvr>
    <a:masterClrMapping/>
  </p:clrMapOvr>
  <p:transition spd="slow">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1065" y="202474"/>
            <a:ext cx="10018713" cy="816429"/>
          </a:xfrm>
        </p:spPr>
        <p:txBody>
          <a:bodyPr/>
          <a:lstStyle/>
          <a:p>
            <a:r>
              <a:rPr lang="en-GB" b="1" dirty="0" smtClean="0"/>
              <a:t>NAT table Processing Flow</a:t>
            </a:r>
            <a:endParaRPr lang="en-GB" dirty="0"/>
          </a:p>
        </p:txBody>
      </p:sp>
      <p:pic>
        <p:nvPicPr>
          <p:cNvPr id="4" name="Content Placeholder 3" descr="iptables_filter_nat2.png"/>
          <p:cNvPicPr>
            <a:picLocks noGrp="1" noChangeAspect="1"/>
          </p:cNvPicPr>
          <p:nvPr>
            <p:ph idx="1"/>
          </p:nvPr>
        </p:nvPicPr>
        <p:blipFill>
          <a:blip r:embed="rId2"/>
          <a:stretch>
            <a:fillRect/>
          </a:stretch>
        </p:blipFill>
        <p:spPr>
          <a:xfrm>
            <a:off x="1316553" y="2003828"/>
            <a:ext cx="10310636" cy="3051498"/>
          </a:xfrm>
        </p:spPr>
      </p:pic>
      <p:sp>
        <p:nvSpPr>
          <p:cNvPr id="9" name="Slide Number Placeholder 8"/>
          <p:cNvSpPr>
            <a:spLocks noGrp="1"/>
          </p:cNvSpPr>
          <p:nvPr>
            <p:ph type="sldNum" sz="quarter" idx="12"/>
          </p:nvPr>
        </p:nvSpPr>
        <p:spPr/>
        <p:txBody>
          <a:bodyPr/>
          <a:lstStyle/>
          <a:p>
            <a:fld id="{D57F1E4F-1CFF-5643-939E-217C01CDF565}" type="slidenum">
              <a:rPr lang="en-US" sz="2000" b="1" smtClean="0"/>
              <a:pPr/>
              <a:t>21</a:t>
            </a:fld>
            <a:endParaRPr lang="en-US" sz="2000" b="1" dirty="0"/>
          </a:p>
        </p:txBody>
      </p:sp>
    </p:spTree>
  </p:cSld>
  <p:clrMapOvr>
    <a:masterClrMapping/>
  </p:clrMapOvr>
  <p:transition spd="slow">
    <p:wipe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986246"/>
          </a:xfrm>
        </p:spPr>
        <p:txBody>
          <a:bodyPr/>
          <a:lstStyle/>
          <a:p>
            <a:r>
              <a:rPr lang="en-GB" b="1" dirty="0" smtClean="0"/>
              <a:t>Mangle Table</a:t>
            </a:r>
            <a:endParaRPr lang="en-GB" dirty="0"/>
          </a:p>
        </p:txBody>
      </p:sp>
      <p:sp>
        <p:nvSpPr>
          <p:cNvPr id="3" name="Content Placeholder 2"/>
          <p:cNvSpPr>
            <a:spLocks noGrp="1"/>
          </p:cNvSpPr>
          <p:nvPr>
            <p:ph idx="1"/>
          </p:nvPr>
        </p:nvSpPr>
        <p:spPr>
          <a:xfrm>
            <a:off x="1575750" y="2272939"/>
            <a:ext cx="10018713" cy="4210594"/>
          </a:xfrm>
        </p:spPr>
        <p:txBody>
          <a:bodyPr>
            <a:normAutofit lnSpcReduction="10000"/>
          </a:bodyPr>
          <a:lstStyle/>
          <a:p>
            <a:r>
              <a:rPr lang="en-GB" sz="2600" dirty="0" smtClean="0"/>
              <a:t>Mangling refers to modifying the IP Packet. Any sort of modification in the packet can be called Mangling.</a:t>
            </a:r>
          </a:p>
          <a:p>
            <a:r>
              <a:rPr lang="en-GB" sz="2600" dirty="0" smtClean="0"/>
              <a:t>Mangle is used for specialized packet alterations and used for packet alternation. </a:t>
            </a:r>
          </a:p>
          <a:p>
            <a:r>
              <a:rPr lang="en-US" b="1" dirty="0" smtClean="0">
                <a:solidFill>
                  <a:schemeClr val="accent1">
                    <a:lumMod val="50000"/>
                  </a:schemeClr>
                </a:solidFill>
                <a:latin typeface="Tahoma" pitchFamily="34" charset="0"/>
              </a:rPr>
              <a:t>The built-in chains for the mangle table are as follows: </a:t>
            </a:r>
          </a:p>
          <a:p>
            <a:pPr marL="514350" lvl="1" indent="-169863">
              <a:lnSpc>
                <a:spcPct val="80000"/>
              </a:lnSpc>
            </a:pPr>
            <a:r>
              <a:rPr lang="en-US" b="1" dirty="0" smtClean="0">
                <a:solidFill>
                  <a:schemeClr val="tx2"/>
                </a:solidFill>
                <a:latin typeface="Tahoma" pitchFamily="34" charset="0"/>
              </a:rPr>
              <a:t>INPUT</a:t>
            </a:r>
            <a:r>
              <a:rPr lang="en-US" dirty="0" smtClean="0">
                <a:solidFill>
                  <a:schemeClr val="tx2"/>
                </a:solidFill>
                <a:latin typeface="Tahoma" pitchFamily="34" charset="0"/>
              </a:rPr>
              <a:t> — Alters network packets targeted for the host. </a:t>
            </a:r>
          </a:p>
          <a:p>
            <a:pPr marL="514350" lvl="1" indent="-169863">
              <a:lnSpc>
                <a:spcPct val="80000"/>
              </a:lnSpc>
            </a:pPr>
            <a:r>
              <a:rPr lang="en-US" b="1" dirty="0" smtClean="0">
                <a:solidFill>
                  <a:schemeClr val="tx2"/>
                </a:solidFill>
                <a:latin typeface="Tahoma" pitchFamily="34" charset="0"/>
              </a:rPr>
              <a:t>OUTPUT</a:t>
            </a:r>
            <a:r>
              <a:rPr lang="en-US" dirty="0" smtClean="0">
                <a:solidFill>
                  <a:schemeClr val="tx2"/>
                </a:solidFill>
                <a:latin typeface="Tahoma" pitchFamily="34" charset="0"/>
              </a:rPr>
              <a:t> — Alters locally-generated network packets before they are sent out. </a:t>
            </a:r>
          </a:p>
          <a:p>
            <a:pPr marL="514350" lvl="1" indent="-169863">
              <a:lnSpc>
                <a:spcPct val="80000"/>
              </a:lnSpc>
            </a:pPr>
            <a:r>
              <a:rPr lang="en-US" b="1" dirty="0" smtClean="0">
                <a:solidFill>
                  <a:schemeClr val="tx2"/>
                </a:solidFill>
                <a:latin typeface="Tahoma" pitchFamily="34" charset="0"/>
              </a:rPr>
              <a:t>FORWARD </a:t>
            </a:r>
            <a:r>
              <a:rPr lang="en-US" dirty="0" smtClean="0">
                <a:solidFill>
                  <a:schemeClr val="tx2"/>
                </a:solidFill>
                <a:latin typeface="Tahoma" pitchFamily="34" charset="0"/>
              </a:rPr>
              <a:t>— Alters network packets routed through the host. </a:t>
            </a:r>
          </a:p>
          <a:p>
            <a:pPr marL="514350" lvl="1" indent="-169863">
              <a:lnSpc>
                <a:spcPct val="80000"/>
              </a:lnSpc>
            </a:pPr>
            <a:r>
              <a:rPr lang="en-US" b="1" dirty="0" smtClean="0">
                <a:solidFill>
                  <a:schemeClr val="tx2"/>
                </a:solidFill>
                <a:latin typeface="Tahoma" pitchFamily="34" charset="0"/>
              </a:rPr>
              <a:t>PREROUTING</a:t>
            </a:r>
            <a:r>
              <a:rPr lang="en-US" dirty="0" smtClean="0">
                <a:solidFill>
                  <a:schemeClr val="tx2"/>
                </a:solidFill>
                <a:latin typeface="Tahoma" pitchFamily="34" charset="0"/>
              </a:rPr>
              <a:t> — Alters incoming network packets before they are routed. </a:t>
            </a:r>
          </a:p>
          <a:p>
            <a:pPr marL="514350" lvl="1" indent="-169863">
              <a:lnSpc>
                <a:spcPct val="80000"/>
              </a:lnSpc>
            </a:pPr>
            <a:r>
              <a:rPr lang="en-US" b="1" dirty="0" smtClean="0">
                <a:solidFill>
                  <a:schemeClr val="tx2"/>
                </a:solidFill>
                <a:latin typeface="Tahoma" pitchFamily="34" charset="0"/>
              </a:rPr>
              <a:t>POSTROUTING</a:t>
            </a:r>
            <a:r>
              <a:rPr lang="en-US" dirty="0" smtClean="0">
                <a:solidFill>
                  <a:schemeClr val="tx2"/>
                </a:solidFill>
                <a:latin typeface="Tahoma" pitchFamily="34" charset="0"/>
              </a:rPr>
              <a:t> — Alters network packets before they are sent out. </a:t>
            </a:r>
          </a:p>
          <a:p>
            <a:endParaRPr lang="en-GB" dirty="0" smtClean="0">
              <a:solidFill>
                <a:schemeClr val="tx2"/>
              </a:solidFill>
            </a:endParaRPr>
          </a:p>
          <a:p>
            <a:endParaRPr lang="en-GB" dirty="0"/>
          </a:p>
        </p:txBody>
      </p:sp>
      <p:sp>
        <p:nvSpPr>
          <p:cNvPr id="8" name="Slide Number Placeholder 7"/>
          <p:cNvSpPr>
            <a:spLocks noGrp="1"/>
          </p:cNvSpPr>
          <p:nvPr>
            <p:ph type="sldNum" sz="quarter" idx="12"/>
          </p:nvPr>
        </p:nvSpPr>
        <p:spPr/>
        <p:txBody>
          <a:bodyPr/>
          <a:lstStyle/>
          <a:p>
            <a:fld id="{D57F1E4F-1CFF-5643-939E-217C01CDF565}" type="slidenum">
              <a:rPr lang="en-US" sz="2000" b="1" smtClean="0"/>
              <a:pPr/>
              <a:t>22</a:t>
            </a:fld>
            <a:endParaRPr lang="en-US" sz="2000" b="1" dirty="0"/>
          </a:p>
        </p:txBody>
      </p:sp>
    </p:spTree>
  </p:cSld>
  <p:clrMapOvr>
    <a:masterClrMapping/>
  </p:clrMapOvr>
  <p:transition spd="slow">
    <p:split orient="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ank-you-for-your-attention-any-questions-128 (2).png"/>
          <p:cNvPicPr>
            <a:picLocks noGrp="1" noChangeAspect="1"/>
          </p:cNvPicPr>
          <p:nvPr>
            <p:ph idx="1"/>
          </p:nvPr>
        </p:nvPicPr>
        <p:blipFill>
          <a:blip r:embed="rId2" cstate="print"/>
          <a:stretch>
            <a:fillRect/>
          </a:stretch>
        </p:blipFill>
        <p:spPr>
          <a:xfrm>
            <a:off x="0" y="1"/>
            <a:ext cx="12191999" cy="6838798"/>
          </a:xfrm>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pic>
      <p:sp>
        <p:nvSpPr>
          <p:cNvPr id="8" name="Slide Number Placeholder 7"/>
          <p:cNvSpPr>
            <a:spLocks noGrp="1"/>
          </p:cNvSpPr>
          <p:nvPr>
            <p:ph type="sldNum" sz="quarter" idx="12"/>
          </p:nvPr>
        </p:nvSpPr>
        <p:spPr>
          <a:xfrm>
            <a:off x="11343742" y="6249035"/>
            <a:ext cx="551167" cy="365125"/>
          </a:xfrm>
        </p:spPr>
        <p:txBody>
          <a:bodyPr/>
          <a:lstStyle/>
          <a:p>
            <a:fld id="{D57F1E4F-1CFF-5643-939E-217C01CDF565}" type="slidenum">
              <a:rPr lang="en-US" smtClean="0"/>
              <a:pPr/>
              <a:t>23</a:t>
            </a:fld>
            <a:endParaRPr lang="en-US" dirty="0"/>
          </a:p>
        </p:txBody>
      </p:sp>
    </p:spTree>
  </p:cSld>
  <p:clrMapOvr>
    <a:masterClrMapping/>
  </p:clrMapOvr>
  <p:transition spd="slow">
    <p:circl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Parallax</Template>
  <TotalTime>257</TotalTime>
  <Words>2234</Words>
  <Application>Microsoft Office PowerPoint</Application>
  <PresentationFormat>Custom</PresentationFormat>
  <Paragraphs>181</Paragraphs>
  <Slides>23</Slides>
  <Notes>8</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Parallax</vt:lpstr>
      <vt:lpstr>SYSTEM AND NETWORK ADMINISTRATION</vt:lpstr>
      <vt:lpstr>IP TABLES  AND  FILTERING</vt:lpstr>
      <vt:lpstr>     OUTLINE</vt:lpstr>
      <vt:lpstr>What is Internet Protocol ?</vt:lpstr>
      <vt:lpstr>What Dose these Internet Protocol Do ?</vt:lpstr>
      <vt:lpstr>What is IP Addressing ?</vt:lpstr>
      <vt:lpstr>Firewall Utilities</vt:lpstr>
      <vt:lpstr>Levels Of implementation</vt:lpstr>
      <vt:lpstr>IP Tables with FILTERING Mechanism</vt:lpstr>
      <vt:lpstr>BEFORE IP TABLES</vt:lpstr>
      <vt:lpstr>IP TABLES</vt:lpstr>
      <vt:lpstr>BASIC  STRUCTURE  OF  IPTABLE</vt:lpstr>
      <vt:lpstr>IP Table Filtering</vt:lpstr>
      <vt:lpstr>Types of rules in chains</vt:lpstr>
      <vt:lpstr>Targets</vt:lpstr>
      <vt:lpstr>Types of IP tables use in Filtering</vt:lpstr>
      <vt:lpstr>Graphical View of  IP tables, Chains and Rules</vt:lpstr>
      <vt:lpstr>Filter Table</vt:lpstr>
      <vt:lpstr>Filer Table Processing Flow:</vt:lpstr>
      <vt:lpstr>NAT Table</vt:lpstr>
      <vt:lpstr>NAT table Processing Flow</vt:lpstr>
      <vt:lpstr>Mangle Table</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dc:creator>
  <cp:lastModifiedBy>Aroos Fatima</cp:lastModifiedBy>
  <cp:revision>78</cp:revision>
  <dcterms:created xsi:type="dcterms:W3CDTF">2014-09-12T02:11:33Z</dcterms:created>
  <dcterms:modified xsi:type="dcterms:W3CDTF">2017-10-23T07:39:04Z</dcterms:modified>
</cp:coreProperties>
</file>