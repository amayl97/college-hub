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9" r:id="rId3"/>
    <p:sldId id="280" r:id="rId4"/>
    <p:sldId id="281" r:id="rId5"/>
    <p:sldId id="282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7" r:id="rId14"/>
    <p:sldId id="265" r:id="rId15"/>
    <p:sldId id="266" r:id="rId16"/>
    <p:sldId id="268" r:id="rId17"/>
    <p:sldId id="269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25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662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90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43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911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8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93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9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3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819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244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1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444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902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232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176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D99778-CE1C-46D1-AE53-896177184D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54DF299-F309-4308-B30A-57EC8B4E0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4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 smtClean="0"/>
              <a:t>Server Configuration And P3P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Web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60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919"/>
          </a:xfrm>
        </p:spPr>
        <p:txBody>
          <a:bodyPr/>
          <a:lstStyle/>
          <a:p>
            <a:r>
              <a:rPr lang="en-US" dirty="0" smtClean="0"/>
              <a:t>What Is P3P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822"/>
            <a:ext cx="10515600" cy="4777141"/>
          </a:xfrm>
        </p:spPr>
        <p:txBody>
          <a:bodyPr/>
          <a:lstStyle/>
          <a:p>
            <a:r>
              <a:rPr lang="en-US" dirty="0"/>
              <a:t>P3P, or the Platform for Privacy Preferences </a:t>
            </a:r>
            <a:r>
              <a:rPr lang="en-US" dirty="0" smtClean="0"/>
              <a:t>Project.</a:t>
            </a:r>
          </a:p>
          <a:p>
            <a:r>
              <a:rPr lang="en-US" dirty="0" smtClean="0"/>
              <a:t>It </a:t>
            </a:r>
            <a:r>
              <a:rPr lang="en-US" dirty="0"/>
              <a:t>was a project to allow websites to declare their privacy practices in a standard, machine-readable format, enabling user agents (like browsers) to automatically check if a site's policies matched a user's preferences. </a:t>
            </a:r>
            <a:endParaRPr lang="en-US" dirty="0" smtClean="0"/>
          </a:p>
          <a:p>
            <a:r>
              <a:rPr lang="en-US" dirty="0" smtClean="0"/>
              <a:t>While </a:t>
            </a:r>
            <a:r>
              <a:rPr lang="en-US" dirty="0"/>
              <a:t>P3P helped automate privacy-related decisions like cookie acceptance, it became largely obsolete due to poor adoption and the rise of more sophisticated privacy controls and regulations like GDPR. </a:t>
            </a:r>
          </a:p>
        </p:txBody>
      </p:sp>
    </p:spTree>
    <p:extLst>
      <p:ext uri="{BB962C8B-B14F-4D97-AF65-F5344CB8AC3E}">
        <p14:creationId xmlns:p14="http://schemas.microsoft.com/office/powerpoint/2010/main" val="153592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6103"/>
            <a:ext cx="10515600" cy="831497"/>
          </a:xfrm>
        </p:spPr>
        <p:txBody>
          <a:bodyPr/>
          <a:lstStyle/>
          <a:p>
            <a:r>
              <a:rPr lang="en-US" b="1" dirty="0"/>
              <a:t>How P3P worked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3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Website side</a:t>
            </a:r>
            <a:r>
              <a:rPr lang="en-US" b="1" dirty="0" smtClean="0"/>
              <a:t>:</a:t>
            </a:r>
          </a:p>
          <a:p>
            <a:r>
              <a:rPr lang="en-US" b="1" dirty="0" smtClean="0"/>
              <a:t> </a:t>
            </a:r>
            <a:r>
              <a:rPr lang="en-US" dirty="0"/>
              <a:t>A website would publish a machine-readable privacy policy using P3P (often in XML format). This policy described what data was collected, how long it was kept, and other practices. </a:t>
            </a:r>
          </a:p>
          <a:p>
            <a:r>
              <a:rPr lang="en-US" b="1" dirty="0"/>
              <a:t>User side: </a:t>
            </a:r>
            <a:endParaRPr lang="en-US" b="1" dirty="0" smtClean="0"/>
          </a:p>
          <a:p>
            <a:r>
              <a:rPr lang="en-US" dirty="0" smtClean="0"/>
              <a:t>A </a:t>
            </a:r>
            <a:r>
              <a:rPr lang="en-US" dirty="0"/>
              <a:t>user would set their privacy preferences in their browser or another P3P-enabled application. </a:t>
            </a:r>
          </a:p>
          <a:p>
            <a:r>
              <a:rPr lang="en-US" b="1" dirty="0"/>
              <a:t>Automation: </a:t>
            </a:r>
            <a:endParaRPr lang="en-US" b="1" dirty="0" smtClean="0"/>
          </a:p>
          <a:p>
            <a:r>
              <a:rPr lang="en-US" dirty="0" smtClean="0"/>
              <a:t>Before </a:t>
            </a:r>
            <a:r>
              <a:rPr lang="en-US" dirty="0"/>
              <a:t>loading a site, the browser would retrieve the site's P3P policy and compare it to the user's preferences. </a:t>
            </a:r>
          </a:p>
          <a:p>
            <a:r>
              <a:rPr lang="en-US" b="1" dirty="0"/>
              <a:t>Decision-making: </a:t>
            </a:r>
            <a:endParaRPr lang="en-US" b="1" dirty="0" smtClean="0"/>
          </a:p>
          <a:p>
            <a:r>
              <a:rPr lang="en-US" dirty="0" smtClean="0"/>
              <a:t>Based </a:t>
            </a:r>
            <a:r>
              <a:rPr lang="en-US" dirty="0"/>
              <a:t>on the comparison, the browser would either load the page automatically, block certain cookies, or prompt the user to make a manual decision if there was a mismatch. </a:t>
            </a:r>
          </a:p>
        </p:txBody>
      </p:sp>
    </p:spTree>
    <p:extLst>
      <p:ext uri="{BB962C8B-B14F-4D97-AF65-F5344CB8AC3E}">
        <p14:creationId xmlns:p14="http://schemas.microsoft.com/office/powerpoint/2010/main" val="181196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P3P is Obsolete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P3P was a well-intentioned initiative but failed due to several critical limitations, leading the W3C to officially obsolete the standard in 2018. </a:t>
            </a:r>
          </a:p>
          <a:p>
            <a:r>
              <a:rPr lang="en-US" b="1" dirty="0"/>
              <a:t>Lack of Adoption: </a:t>
            </a:r>
            <a:endParaRPr lang="en-US" b="1" dirty="0" smtClean="0"/>
          </a:p>
          <a:p>
            <a:r>
              <a:rPr lang="en-US" dirty="0" smtClean="0"/>
              <a:t>Very </a:t>
            </a:r>
            <a:r>
              <a:rPr lang="en-US" dirty="0"/>
              <a:t>few websites or major browsers (other than older versions of Internet Explorer) fully implemented P3P, creating </a:t>
            </a:r>
            <a:r>
              <a:rPr lang="en-US" dirty="0" smtClean="0"/>
              <a:t>a </a:t>
            </a:r>
            <a:r>
              <a:rPr lang="en-US" dirty="0"/>
              <a:t>problem where users had no incentive to use it if sites didn't, and vice versa.</a:t>
            </a:r>
          </a:p>
        </p:txBody>
      </p:sp>
    </p:spTree>
    <p:extLst>
      <p:ext uri="{BB962C8B-B14F-4D97-AF65-F5344CB8AC3E}">
        <p14:creationId xmlns:p14="http://schemas.microsoft.com/office/powerpoint/2010/main" val="2139694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 Enforcement Mechanism:</a:t>
            </a:r>
            <a:r>
              <a:rPr lang="en-US" dirty="0"/>
              <a:t> P3P only required sites to state their policies; it offered no technical way to ensure sites actually followed them.</a:t>
            </a:r>
          </a:p>
          <a:p>
            <a:r>
              <a:rPr lang="en-US" b="1" dirty="0"/>
              <a:t>Complexity:</a:t>
            </a:r>
            <a:r>
              <a:rPr lang="en-US" dirty="0"/>
              <a:t> The underlying language (XML, APPEL) was complicated for developers and average users alike.</a:t>
            </a:r>
          </a:p>
          <a:p>
            <a:r>
              <a:rPr lang="en-US" b="1" dirty="0"/>
              <a:t>Inadequate Protection:</a:t>
            </a:r>
            <a:r>
              <a:rPr lang="en-US" dirty="0"/>
              <a:t> Critics argued it focused on "notice and choice" rather than the more robust "Fair Information Practices" and that it could give users a false sense of security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3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89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Directory structure</a:t>
            </a:r>
            <a:r>
              <a:rPr lang="en-US" b="1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378" y="1072444"/>
            <a:ext cx="11026422" cy="5542845"/>
          </a:xfrm>
        </p:spPr>
        <p:txBody>
          <a:bodyPr>
            <a:normAutofit/>
          </a:bodyPr>
          <a:lstStyle/>
          <a:p>
            <a:r>
              <a:rPr lang="en-US" dirty="0"/>
              <a:t>An HTTP server installation directory is commonly referred to as the </a:t>
            </a:r>
            <a:r>
              <a:rPr lang="en-US" i="1" dirty="0"/>
              <a:t>server root</a:t>
            </a:r>
            <a:r>
              <a:rPr lang="en-US" dirty="0"/>
              <a:t>.</a:t>
            </a:r>
          </a:p>
          <a:p>
            <a:r>
              <a:rPr lang="en-US" dirty="0"/>
              <a:t>Most often, other directories (document root, configuration directory, log </a:t>
            </a:r>
            <a:r>
              <a:rPr lang="en-US" dirty="0" smtClean="0"/>
              <a:t>directory CGI </a:t>
            </a:r>
            <a:r>
              <a:rPr lang="en-US" dirty="0"/>
              <a:t>and servlet root directories, etc.) are defined as subdirectories of the server root.</a:t>
            </a:r>
          </a:p>
          <a:p>
            <a:r>
              <a:rPr lang="en-US" dirty="0"/>
              <a:t>There is normally the initial configuration file that gets loaded when the </a:t>
            </a:r>
            <a:r>
              <a:rPr lang="en-US" dirty="0" smtClean="0"/>
              <a:t>server comes </a:t>
            </a:r>
            <a:r>
              <a:rPr lang="en-US" dirty="0"/>
              <a:t>up, which contains execution parameters, information about the location </a:t>
            </a:r>
            <a:r>
              <a:rPr lang="en-US" dirty="0" smtClean="0"/>
              <a:t>of other </a:t>
            </a:r>
            <a:r>
              <a:rPr lang="en-US" dirty="0"/>
              <a:t>configuration files, and the location of most important directories. </a:t>
            </a:r>
            <a:endParaRPr lang="en-US" dirty="0" smtClean="0"/>
          </a:p>
          <a:p>
            <a:r>
              <a:rPr lang="en-US" dirty="0" smtClean="0"/>
              <a:t>Configuration </a:t>
            </a:r>
            <a:r>
              <a:rPr lang="en-US" dirty="0"/>
              <a:t>file formats vary for different servers—from traditional attribute-value pairs </a:t>
            </a:r>
            <a:r>
              <a:rPr lang="en-US" dirty="0" smtClean="0"/>
              <a:t>to XML formats</a:t>
            </a:r>
            <a:r>
              <a:rPr lang="en-US" dirty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23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81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Directory structure</a:t>
            </a:r>
            <a:r>
              <a:rPr lang="en-US" b="1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978" y="903288"/>
            <a:ext cx="10924822" cy="5689423"/>
          </a:xfrm>
        </p:spPr>
        <p:txBody>
          <a:bodyPr>
            <a:normAutofit/>
          </a:bodyPr>
          <a:lstStyle/>
          <a:p>
            <a:r>
              <a:rPr lang="en-US" dirty="0"/>
              <a:t>There exist situations when it is desirable to depart from the convention </a:t>
            </a:r>
            <a:r>
              <a:rPr lang="en-US" dirty="0" smtClean="0"/>
              <a:t>that calls </a:t>
            </a:r>
            <a:r>
              <a:rPr lang="en-US" dirty="0"/>
              <a:t>for the most important directories to be defined as subdirectories of the </a:t>
            </a:r>
            <a:r>
              <a:rPr lang="en-US" dirty="0" smtClean="0"/>
              <a:t>server root</a:t>
            </a:r>
            <a:r>
              <a:rPr lang="en-US" dirty="0"/>
              <a:t>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For example, you may have reasons to run different servers </a:t>
            </a:r>
            <a:r>
              <a:rPr lang="en-US" dirty="0" smtClean="0"/>
              <a:t>interchangeably on </a:t>
            </a:r>
            <a:r>
              <a:rPr lang="en-US" dirty="0"/>
              <a:t>the same machine, which is particularly common in a development environment.</a:t>
            </a:r>
          </a:p>
          <a:p>
            <a:r>
              <a:rPr lang="en-US" dirty="0"/>
              <a:t>In this case, you may want to use the same independently located document </a:t>
            </a:r>
            <a:r>
              <a:rPr lang="en-US" dirty="0" smtClean="0"/>
              <a:t>root for </a:t>
            </a:r>
            <a:r>
              <a:rPr lang="en-US" dirty="0"/>
              <a:t>different servers</a:t>
            </a:r>
            <a:r>
              <a:rPr lang="en-US" dirty="0" smtClean="0"/>
              <a:t> </a:t>
            </a:r>
            <a:r>
              <a:rPr lang="en-US" dirty="0"/>
              <a:t>Similarly, you may need to be able to execute the same </a:t>
            </a:r>
            <a:r>
              <a:rPr lang="en-US" dirty="0" smtClean="0"/>
              <a:t>CGI scripts </a:t>
            </a:r>
            <a:r>
              <a:rPr lang="en-US" dirty="0"/>
              <a:t>and servlets independent of which server is currently running.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dirty="0" smtClean="0"/>
              <a:t>important to </a:t>
            </a:r>
            <a:r>
              <a:rPr lang="en-US" dirty="0"/>
              <a:t>be particularly careful when sharing directories between different processes</a:t>
            </a:r>
            <a:r>
              <a:rPr lang="en-US" dirty="0" smtClean="0"/>
              <a:t>—</a:t>
            </a:r>
          </a:p>
          <a:p>
            <a:r>
              <a:rPr lang="en-US" dirty="0" smtClean="0"/>
              <a:t>It is </a:t>
            </a:r>
            <a:r>
              <a:rPr lang="en-US" dirty="0"/>
              <a:t>enough for one of the processes to be insecure and the integrity of your </a:t>
            </a:r>
            <a:r>
              <a:rPr lang="en-US" dirty="0" smtClean="0"/>
              <a:t>directory structure </a:t>
            </a:r>
            <a:r>
              <a:rPr lang="en-US" dirty="0"/>
              <a:t>is in jeopardy.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9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1614"/>
            <a:ext cx="10515600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Execution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178" y="801511"/>
            <a:ext cx="10721622" cy="5689600"/>
          </a:xfrm>
        </p:spPr>
        <p:txBody>
          <a:bodyPr>
            <a:normAutofit/>
          </a:bodyPr>
          <a:lstStyle/>
          <a:p>
            <a:r>
              <a:rPr lang="en-US" dirty="0"/>
              <a:t>HTTP server is a set of processes or threads (for uniformity, we always refer to </a:t>
            </a:r>
            <a:r>
              <a:rPr lang="en-US" dirty="0" smtClean="0"/>
              <a:t>them as </a:t>
            </a:r>
            <a:r>
              <a:rPr lang="en-US" i="1" dirty="0"/>
              <a:t>threads</a:t>
            </a:r>
            <a:r>
              <a:rPr lang="en-US" dirty="0"/>
              <a:t>), some of which listen on designated ports while others are dedicated </a:t>
            </a:r>
            <a:r>
              <a:rPr lang="en-US" dirty="0" smtClean="0"/>
              <a:t>to processing </a:t>
            </a:r>
            <a:r>
              <a:rPr lang="en-US" dirty="0"/>
              <a:t>incoming requests. </a:t>
            </a:r>
            <a:endParaRPr lang="en-US" dirty="0" smtClean="0"/>
          </a:p>
          <a:p>
            <a:r>
              <a:rPr lang="en-US" dirty="0" smtClean="0"/>
              <a:t>Depending </a:t>
            </a:r>
            <a:r>
              <a:rPr lang="en-US" dirty="0"/>
              <a:t>on the load, it may be reasonable to </a:t>
            </a:r>
            <a:r>
              <a:rPr lang="en-US" dirty="0" smtClean="0"/>
              <a:t>keep a </a:t>
            </a:r>
            <a:r>
              <a:rPr lang="en-US" dirty="0"/>
              <a:t>number of threads running at all times so that they do not have to be started and</a:t>
            </a:r>
          </a:p>
          <a:p>
            <a:r>
              <a:rPr lang="en-US" dirty="0"/>
              <a:t>initialized for every request.</a:t>
            </a:r>
            <a:r>
              <a:rPr lang="en-US" dirty="0" smtClean="0"/>
              <a:t> </a:t>
            </a:r>
          </a:p>
          <a:p>
            <a:r>
              <a:rPr lang="en-US" dirty="0"/>
              <a:t>Figure 4.15 contains a fragment of a sample configuration file for Apache installation on a Windows machine. The ‘standalone’ value of the server type indicates</a:t>
            </a:r>
          </a:p>
          <a:p>
            <a:r>
              <a:rPr lang="en-US" dirty="0"/>
              <a:t>that the server process is always running and, as follows from the value of the ‘Port’</a:t>
            </a:r>
          </a:p>
          <a:p>
            <a:r>
              <a:rPr lang="en-US" dirty="0"/>
              <a:t>parameter, is listening on port 80. The server is configured to support persistent connections, and every connection is configured to support up to a hundred requests.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0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ServerName</a:t>
            </a:r>
            <a:r>
              <a:rPr lang="en-US" dirty="0"/>
              <a:t> </a:t>
            </a:r>
            <a:r>
              <a:rPr lang="en-US" dirty="0" smtClean="0"/>
              <a:t> demo</a:t>
            </a:r>
            <a:endParaRPr lang="en-US" dirty="0"/>
          </a:p>
          <a:p>
            <a:r>
              <a:rPr lang="en-US" dirty="0" err="1" smtClean="0"/>
              <a:t>ServerRoot</a:t>
            </a:r>
            <a:r>
              <a:rPr lang="en-US" dirty="0" smtClean="0"/>
              <a:t>   </a:t>
            </a:r>
            <a:r>
              <a:rPr lang="en-US" dirty="0"/>
              <a:t>"C:/Program Files/Apache Group/Apache"</a:t>
            </a:r>
          </a:p>
          <a:p>
            <a:r>
              <a:rPr lang="en-US" dirty="0" err="1"/>
              <a:t>ServerType</a:t>
            </a:r>
            <a:r>
              <a:rPr lang="en-US" dirty="0"/>
              <a:t> </a:t>
            </a:r>
            <a:r>
              <a:rPr lang="en-US" dirty="0" smtClean="0"/>
              <a:t>   standalone</a:t>
            </a:r>
            <a:endParaRPr lang="en-US" dirty="0"/>
          </a:p>
          <a:p>
            <a:r>
              <a:rPr lang="en-US" dirty="0" smtClean="0"/>
              <a:t>Port                 </a:t>
            </a:r>
            <a:r>
              <a:rPr lang="en-US" dirty="0"/>
              <a:t>80</a:t>
            </a:r>
          </a:p>
          <a:p>
            <a:r>
              <a:rPr lang="en-US" dirty="0" err="1"/>
              <a:t>KeepAlive</a:t>
            </a:r>
            <a:r>
              <a:rPr lang="en-US" dirty="0"/>
              <a:t> </a:t>
            </a:r>
            <a:r>
              <a:rPr lang="en-US" dirty="0" smtClean="0"/>
              <a:t>       On</a:t>
            </a:r>
            <a:endParaRPr lang="en-US" dirty="0"/>
          </a:p>
          <a:p>
            <a:r>
              <a:rPr lang="en-US" dirty="0" err="1"/>
              <a:t>MaxKeepAliveRequests</a:t>
            </a:r>
            <a:r>
              <a:rPr lang="en-US" dirty="0"/>
              <a:t> </a:t>
            </a:r>
            <a:r>
              <a:rPr lang="en-US" dirty="0" smtClean="0"/>
              <a:t>  100</a:t>
            </a:r>
            <a:endParaRPr lang="en-US" dirty="0"/>
          </a:p>
          <a:p>
            <a:r>
              <a:rPr lang="en-US" dirty="0" err="1"/>
              <a:t>KeepAliveTimeout</a:t>
            </a:r>
            <a:r>
              <a:rPr lang="en-US" dirty="0"/>
              <a:t> </a:t>
            </a:r>
            <a:r>
              <a:rPr lang="en-US" dirty="0" smtClean="0"/>
              <a:t>           15</a:t>
            </a:r>
            <a:endParaRPr lang="en-US" dirty="0"/>
          </a:p>
          <a:p>
            <a:r>
              <a:rPr lang="en-US" dirty="0" err="1"/>
              <a:t>MaxRequestsPerChild</a:t>
            </a:r>
            <a:r>
              <a:rPr lang="en-US" dirty="0"/>
              <a:t> </a:t>
            </a:r>
            <a:r>
              <a:rPr lang="en-US" dirty="0" smtClean="0"/>
              <a:t>     200</a:t>
            </a:r>
            <a:endParaRPr lang="en-US" dirty="0"/>
          </a:p>
          <a:p>
            <a:r>
              <a:rPr lang="en-US" dirty="0" smtClean="0"/>
              <a:t>Timeout                              </a:t>
            </a:r>
            <a:r>
              <a:rPr lang="en-US" dirty="0"/>
              <a:t>300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51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354053"/>
          </a:xfrm>
        </p:spPr>
        <p:txBody>
          <a:bodyPr>
            <a:normAutofit/>
          </a:bodyPr>
          <a:lstStyle/>
          <a:p>
            <a:r>
              <a:rPr lang="en-US" dirty="0"/>
              <a:t>At the same time, the server is supposed to break the connection if 15 seconds </a:t>
            </a:r>
            <a:r>
              <a:rPr lang="en-US" dirty="0" smtClean="0"/>
              <a:t>go by </a:t>
            </a:r>
            <a:r>
              <a:rPr lang="en-US" dirty="0"/>
              <a:t>without new requests.</a:t>
            </a:r>
          </a:p>
          <a:p>
            <a:r>
              <a:rPr lang="en-US" dirty="0"/>
              <a:t>Many servers make it possible to impose a limit on a number of requests </a:t>
            </a:r>
            <a:r>
              <a:rPr lang="en-US" dirty="0" smtClean="0"/>
              <a:t>processed without </a:t>
            </a:r>
            <a:r>
              <a:rPr lang="en-US" dirty="0"/>
              <a:t>restarting a child process.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limit was introduced for very </a:t>
            </a:r>
            <a:r>
              <a:rPr lang="en-US" dirty="0" smtClean="0"/>
              <a:t>pragmatic reasons—to </a:t>
            </a:r>
            <a:r>
              <a:rPr lang="en-US" dirty="0"/>
              <a:t>avoid prolonged use that results in leaking memory or other resources.</a:t>
            </a:r>
          </a:p>
          <a:p>
            <a:r>
              <a:rPr lang="en-US" dirty="0"/>
              <a:t>The nature of the HTTP protocol, with its independent requests and responses makes</a:t>
            </a:r>
          </a:p>
          <a:p>
            <a:r>
              <a:rPr lang="en-US" dirty="0"/>
              <a:t>it possible to avoid the problem simply by restarting the process. Finally, the </a:t>
            </a:r>
            <a:r>
              <a:rPr lang="en-US" dirty="0" smtClean="0"/>
              <a:t>timeout limits </a:t>
            </a:r>
            <a:r>
              <a:rPr lang="en-US" dirty="0"/>
              <a:t>processing time for individual requests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54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52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6589"/>
            <a:ext cx="10515600" cy="5190374"/>
          </a:xfrm>
        </p:spPr>
        <p:txBody>
          <a:bodyPr>
            <a:normAutofit/>
          </a:bodyPr>
          <a:lstStyle/>
          <a:p>
            <a:r>
              <a:rPr lang="en-US" dirty="0"/>
              <a:t>HTTP/1.1 is designed to support virtual hosting—the ability of a single server </a:t>
            </a:r>
            <a:r>
              <a:rPr lang="en-US" dirty="0" smtClean="0"/>
              <a:t>to accept </a:t>
            </a:r>
            <a:r>
              <a:rPr lang="en-US" dirty="0"/>
              <a:t>requests targeted to different domains (this of course requires setting </a:t>
            </a:r>
            <a:r>
              <a:rPr lang="en-US" dirty="0" smtClean="0"/>
              <a:t>DNS aliases).</a:t>
            </a:r>
          </a:p>
          <a:p>
            <a:r>
              <a:rPr lang="en-US" dirty="0" smtClean="0"/>
              <a:t> </a:t>
            </a:r>
            <a:r>
              <a:rPr lang="en-US" dirty="0"/>
              <a:t>It is quite useful when getting your favorite Internet Service Provider </a:t>
            </a:r>
            <a:r>
              <a:rPr lang="en-US" dirty="0" smtClean="0"/>
              <a:t>to host </a:t>
            </a:r>
            <a:r>
              <a:rPr lang="en-US" dirty="0"/>
              <a:t>your site.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Every </a:t>
            </a:r>
            <a:r>
              <a:rPr lang="en-US" dirty="0"/>
              <a:t>virtual host may be </a:t>
            </a:r>
            <a:r>
              <a:rPr lang="en-US" dirty="0" smtClean="0"/>
              <a:t>configured separately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After all, different virtual hosts still share the same physical resources.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9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Address resolution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727032"/>
          </a:xfrm>
        </p:spPr>
        <p:txBody>
          <a:bodyPr>
            <a:normAutofit/>
          </a:bodyPr>
          <a:lstStyle/>
          <a:p>
            <a:r>
              <a:rPr lang="en-US" dirty="0"/>
              <a:t>An HTTP request is an instruction to the server to perform specified actions. In </a:t>
            </a:r>
            <a:r>
              <a:rPr lang="en-US" dirty="0" smtClean="0"/>
              <a:t>fact, you </a:t>
            </a:r>
            <a:r>
              <a:rPr lang="en-US" dirty="0"/>
              <a:t>may think of HTTP as a language, HTTP request as a program, and the server </a:t>
            </a:r>
            <a:r>
              <a:rPr lang="en-US" dirty="0" smtClean="0"/>
              <a:t>as an </a:t>
            </a:r>
            <a:r>
              <a:rPr lang="en-US" dirty="0"/>
              <a:t>interpreter for the language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Requests are interpreted largely by specialized </a:t>
            </a:r>
            <a:r>
              <a:rPr lang="en-US" dirty="0" smtClean="0"/>
              <a:t>server modules </a:t>
            </a:r>
            <a:r>
              <a:rPr lang="en-US" dirty="0"/>
              <a:t>and by server applications.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the servlet runner is </a:t>
            </a:r>
            <a:r>
              <a:rPr lang="en-US" dirty="0" smtClean="0"/>
              <a:t>responsible for </a:t>
            </a:r>
            <a:r>
              <a:rPr lang="en-US" dirty="0"/>
              <a:t>interpreting session ids in Cookie headers and mapping them to </a:t>
            </a:r>
            <a:r>
              <a:rPr lang="en-US" dirty="0" smtClean="0"/>
              <a:t>server-side session </a:t>
            </a:r>
            <a:r>
              <a:rPr lang="en-US" dirty="0"/>
              <a:t>information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Application logic is normally responsible for interpreting </a:t>
            </a:r>
            <a:r>
              <a:rPr lang="en-US" dirty="0" smtClean="0"/>
              <a:t>URL</a:t>
            </a:r>
          </a:p>
          <a:p>
            <a:pPr marL="0" indent="0">
              <a:buNone/>
            </a:pPr>
            <a:r>
              <a:rPr lang="en-US" dirty="0" smtClean="0"/>
              <a:t>parameters, request bodies, and additional header information (e.g. </a:t>
            </a:r>
            <a:r>
              <a:rPr lang="en-US" dirty="0" err="1" smtClean="0"/>
              <a:t>Referer</a:t>
            </a:r>
            <a:r>
              <a:rPr lang="en-US" dirty="0" smtClean="0"/>
              <a:t>). 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02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32178"/>
            <a:ext cx="9601196" cy="903111"/>
          </a:xfrm>
        </p:spPr>
        <p:txBody>
          <a:bodyPr/>
          <a:lstStyle/>
          <a:p>
            <a:r>
              <a:rPr lang="en-US" dirty="0" smtClean="0"/>
              <a:t>Alias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96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</a:t>
            </a:r>
            <a:r>
              <a:rPr lang="en-US" dirty="0" smtClean="0"/>
              <a:t>n </a:t>
            </a:r>
            <a:r>
              <a:rPr lang="en-US" dirty="0"/>
              <a:t>alias refers to a directive or configuration setting that allows a different URL path to point to a specific directory or resource on the server. This means that when a request is made to a certain URL alias, the server will serve content from a different location than the default directory for that domain.</a:t>
            </a:r>
          </a:p>
          <a:p>
            <a:r>
              <a:rPr lang="en-US" dirty="0"/>
              <a:t>For example, let's say you have a website with the domain "example.com" and you want to serve content located in a directory called "images" when users visit "example.com/photos". You can set up an alias so that requests to "/photos" are directed to the "images" directory, allowing users to access the content without revealing the actual directory structure of your server.</a:t>
            </a:r>
          </a:p>
          <a:p>
            <a:r>
              <a:rPr lang="en-US" dirty="0"/>
              <a:t>Aliases are often used for organizing content, creating cleaner URLs, and managing redirects on a website. They provide flexibility in structuring the URL hierarchy while keeping the server's file system organized in a different manner.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00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9286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799221"/>
          </a:xfrm>
        </p:spPr>
        <p:txBody>
          <a:bodyPr>
            <a:normAutofit fontScale="47500" lnSpcReduction="20000"/>
          </a:bodyPr>
          <a:lstStyle/>
          <a:p>
            <a:r>
              <a:rPr lang="en-US" sz="3800" dirty="0"/>
              <a:t>The core server logic is responsible for the initial processing and routing </a:t>
            </a:r>
            <a:r>
              <a:rPr lang="en-US" sz="3800" dirty="0" smtClean="0"/>
              <a:t>of requests.</a:t>
            </a:r>
          </a:p>
          <a:p>
            <a:r>
              <a:rPr lang="en-US" sz="3800" dirty="0" smtClean="0"/>
              <a:t> </a:t>
            </a:r>
            <a:r>
              <a:rPr lang="en-US" sz="3800" dirty="0"/>
              <a:t>First and most important steps are to select the proper virtual host, </a:t>
            </a:r>
            <a:r>
              <a:rPr lang="en-US" sz="3800" dirty="0" smtClean="0"/>
              <a:t>resolve aliases</a:t>
            </a:r>
            <a:r>
              <a:rPr lang="en-US" sz="3800" dirty="0"/>
              <a:t>, analyze the URL, and choose the proper processing module. </a:t>
            </a:r>
            <a:endParaRPr lang="en-US" sz="3800" dirty="0" smtClean="0"/>
          </a:p>
          <a:p>
            <a:r>
              <a:rPr lang="en-US" sz="3800" dirty="0" smtClean="0"/>
              <a:t>In both sample URLs in Figure 4.16, www.neurozen.com is a virtual host. The server has to locate configuration statements for this virtual host and use them to perform address translation </a:t>
            </a:r>
          </a:p>
          <a:p>
            <a:r>
              <a:rPr lang="en-US" sz="3800" dirty="0"/>
              <a:t>1. http://www.neurozen.com/test?a=1&amp;b2</a:t>
            </a:r>
          </a:p>
          <a:p>
            <a:r>
              <a:rPr lang="en-US" sz="3800" dirty="0"/>
              <a:t>2. http://www.neurozen.com/images/news.gif</a:t>
            </a:r>
          </a:p>
          <a:p>
            <a:r>
              <a:rPr lang="en-US" sz="3800" dirty="0"/>
              <a:t>&lt;</a:t>
            </a:r>
            <a:r>
              <a:rPr lang="en-US" sz="3800" dirty="0" err="1"/>
              <a:t>VirtualHost</a:t>
            </a:r>
            <a:r>
              <a:rPr lang="en-US" sz="3800" dirty="0"/>
              <a:t> www.neurozen.com&gt;</a:t>
            </a:r>
          </a:p>
          <a:p>
            <a:r>
              <a:rPr lang="en-US" sz="3800" dirty="0" err="1"/>
              <a:t>ServerAdmin</a:t>
            </a:r>
            <a:r>
              <a:rPr lang="en-US" sz="3800" dirty="0"/>
              <a:t> webmaster@neurozen.com</a:t>
            </a:r>
          </a:p>
          <a:p>
            <a:r>
              <a:rPr lang="en-US" sz="3800" dirty="0"/>
              <a:t>Alias /test </a:t>
            </a:r>
            <a:r>
              <a:rPr lang="en-US" sz="3800" dirty="0" smtClean="0"/>
              <a:t>                      /</a:t>
            </a:r>
            <a:r>
              <a:rPr lang="en-US" sz="3800" dirty="0"/>
              <a:t>servlet/test</a:t>
            </a:r>
          </a:p>
          <a:p>
            <a:r>
              <a:rPr lang="en-US" sz="3800" dirty="0"/>
              <a:t>Alias /images </a:t>
            </a:r>
            <a:r>
              <a:rPr lang="en-US" sz="3800" dirty="0" smtClean="0"/>
              <a:t>              /</a:t>
            </a:r>
            <a:r>
              <a:rPr lang="en-US" sz="3800" dirty="0"/>
              <a:t>static/images</a:t>
            </a:r>
          </a:p>
          <a:p>
            <a:r>
              <a:rPr lang="en-US" sz="3800" dirty="0" err="1" smtClean="0"/>
              <a:t>DocumentRoot</a:t>
            </a:r>
            <a:r>
              <a:rPr lang="en-US" sz="3800" dirty="0" smtClean="0"/>
              <a:t>           </a:t>
            </a:r>
            <a:r>
              <a:rPr lang="en-US" sz="3800" dirty="0"/>
              <a:t>/www/docs/</a:t>
            </a:r>
            <a:r>
              <a:rPr lang="en-US" sz="3800" dirty="0" err="1"/>
              <a:t>neurozen</a:t>
            </a:r>
            <a:endParaRPr lang="en-US" sz="3800" dirty="0"/>
          </a:p>
          <a:p>
            <a:r>
              <a:rPr lang="en-US" sz="3800" dirty="0" err="1"/>
              <a:t>ServerName</a:t>
            </a:r>
            <a:r>
              <a:rPr lang="en-US" sz="3800" dirty="0"/>
              <a:t> </a:t>
            </a:r>
            <a:r>
              <a:rPr lang="en-US" sz="3800" dirty="0" smtClean="0"/>
              <a:t>                 www.neurozen.com</a:t>
            </a:r>
            <a:endParaRPr lang="en-US" sz="3800" dirty="0"/>
          </a:p>
          <a:p>
            <a:r>
              <a:rPr lang="en-US" sz="3800" dirty="0" err="1"/>
              <a:t>ErrorLog</a:t>
            </a:r>
            <a:r>
              <a:rPr lang="en-US" sz="3800" dirty="0"/>
              <a:t> </a:t>
            </a:r>
            <a:r>
              <a:rPr lang="en-US" sz="3800" dirty="0" smtClean="0"/>
              <a:t>                       logs/</a:t>
            </a:r>
            <a:r>
              <a:rPr lang="en-US" sz="3800" dirty="0" err="1" smtClean="0"/>
              <a:t>neurozen</a:t>
            </a:r>
            <a:r>
              <a:rPr lang="en-US" sz="3800" dirty="0" smtClean="0"/>
              <a:t>-error-log</a:t>
            </a:r>
            <a:endParaRPr lang="en-US" sz="3800" dirty="0"/>
          </a:p>
          <a:p>
            <a:r>
              <a:rPr lang="en-US" sz="3800" dirty="0" err="1" smtClean="0"/>
              <a:t>CustomLog</a:t>
            </a:r>
            <a:r>
              <a:rPr lang="en-US" sz="3800" dirty="0" smtClean="0"/>
              <a:t>                   </a:t>
            </a:r>
            <a:r>
              <a:rPr lang="en-US" sz="3800" dirty="0"/>
              <a:t>logs/</a:t>
            </a:r>
            <a:r>
              <a:rPr lang="en-US" sz="3800" dirty="0" err="1"/>
              <a:t>neurozen</a:t>
            </a:r>
            <a:r>
              <a:rPr lang="en-US" sz="3800" dirty="0"/>
              <a:t>-access-log common</a:t>
            </a:r>
          </a:p>
          <a:p>
            <a:r>
              <a:rPr lang="en-US" sz="3800" dirty="0"/>
              <a:t>&lt;/</a:t>
            </a:r>
            <a:r>
              <a:rPr lang="en-US" sz="3800" dirty="0" err="1"/>
              <a:t>VirtualHost</a:t>
            </a:r>
            <a:r>
              <a:rPr lang="en-US" sz="3800" dirty="0"/>
              <a:t>&gt;</a:t>
            </a:r>
            <a:r>
              <a:rPr lang="en-US" sz="3800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10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7242"/>
          </a:xfrm>
        </p:spPr>
        <p:txBody>
          <a:bodyPr>
            <a:normAutofit fontScale="90000"/>
          </a:bodyPr>
          <a:lstStyle/>
          <a:p>
            <a:r>
              <a:rPr lang="en-US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05" y="902368"/>
            <a:ext cx="10932695" cy="5751095"/>
          </a:xfrm>
        </p:spPr>
        <p:txBody>
          <a:bodyPr/>
          <a:lstStyle/>
          <a:p>
            <a:r>
              <a:rPr lang="en-US" dirty="0"/>
              <a:t>In the first URL, /test is defined to be an alias for /servlet/test. The server</a:t>
            </a:r>
          </a:p>
          <a:p>
            <a:r>
              <a:rPr lang="en-US" dirty="0"/>
              <a:t>would first resolve aliases and only then use module mappings to pass the URL</a:t>
            </a:r>
          </a:p>
          <a:p>
            <a:r>
              <a:rPr lang="en-US" dirty="0"/>
              <a:t>to the servlet runner that, in turn, invokes the </a:t>
            </a:r>
            <a:r>
              <a:rPr lang="en-US" i="1" dirty="0"/>
              <a:t>test </a:t>
            </a:r>
            <a:r>
              <a:rPr lang="en-US" dirty="0"/>
              <a:t>servlet. In the second URL</a:t>
            </a:r>
            <a:r>
              <a:rPr lang="en-US" dirty="0" smtClean="0"/>
              <a:t>, /</a:t>
            </a:r>
            <a:r>
              <a:rPr lang="en-US" dirty="0"/>
              <a:t>images is defined to be an alias for /static/images, which is not </a:t>
            </a:r>
            <a:r>
              <a:rPr lang="en-US" dirty="0" smtClean="0"/>
              <a:t>explicitly mapped </a:t>
            </a:r>
            <a:r>
              <a:rPr lang="en-US" dirty="0"/>
              <a:t>to a module and is assumed a static file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Consequently, the server </a:t>
            </a:r>
            <a:r>
              <a:rPr lang="en-US" dirty="0" smtClean="0"/>
              <a:t>translates /static/images </a:t>
            </a:r>
            <a:r>
              <a:rPr lang="en-US" dirty="0"/>
              <a:t>to the path starting at the document root and looks up the image</a:t>
            </a:r>
          </a:p>
          <a:p>
            <a:r>
              <a:rPr lang="en-US" dirty="0"/>
              <a:t>with the path /www/docs/</a:t>
            </a:r>
            <a:r>
              <a:rPr lang="en-US" dirty="0" err="1"/>
              <a:t>neurozen</a:t>
            </a:r>
            <a:r>
              <a:rPr lang="en-US" dirty="0"/>
              <a:t>/static/news.gif.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78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631"/>
          </a:xfrm>
        </p:spPr>
        <p:txBody>
          <a:bodyPr/>
          <a:lstStyle/>
          <a:p>
            <a:r>
              <a:rPr lang="en-US" b="1" dirty="0" smtClean="0"/>
              <a:t>Server Security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2756"/>
            <a:ext cx="10515600" cy="5463822"/>
          </a:xfrm>
        </p:spPr>
        <p:txBody>
          <a:bodyPr>
            <a:normAutofit/>
          </a:bodyPr>
          <a:lstStyle/>
          <a:p>
            <a:r>
              <a:rPr lang="en-US" dirty="0"/>
              <a:t>Throughout the history of the human race, there has been a struggle between </a:t>
            </a:r>
            <a:r>
              <a:rPr lang="en-US" dirty="0" smtClean="0"/>
              <a:t>fear and </a:t>
            </a:r>
            <a:r>
              <a:rPr lang="en-US" dirty="0"/>
              <a:t>greed.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the context of Internet programming, this tug of war takes the form</a:t>
            </a:r>
          </a:p>
          <a:p>
            <a:r>
              <a:rPr lang="en-US" dirty="0"/>
              <a:t>of the struggle between server security and the amount of inconvenience to </a:t>
            </a:r>
            <a:r>
              <a:rPr lang="en-US" dirty="0" smtClean="0"/>
              <a:t>server administrators </a:t>
            </a:r>
            <a:r>
              <a:rPr lang="en-US" dirty="0"/>
              <a:t>and application developers. </a:t>
            </a:r>
            <a:endParaRPr lang="en-US" dirty="0" smtClean="0"/>
          </a:p>
          <a:p>
            <a:r>
              <a:rPr lang="en-US" dirty="0" smtClean="0"/>
              <a:t>Server </a:t>
            </a:r>
            <a:r>
              <a:rPr lang="en-US" dirty="0"/>
              <a:t>security is about 80/20 compromises—attempts to achieve eighty percent of desired security for your servers at</a:t>
            </a:r>
          </a:p>
          <a:p>
            <a:r>
              <a:rPr lang="en-US" dirty="0"/>
              <a:t>the cost giving up twenty percent of convenience in building and maintaining applications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Of course, there exist degenerate cases when no security is enough, but </a:t>
            </a:r>
            <a:r>
              <a:rPr lang="en-US" dirty="0" smtClean="0"/>
              <a:t>that is </a:t>
            </a:r>
            <a:r>
              <a:rPr lang="en-US" dirty="0"/>
              <a:t>a separate discussion.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63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38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Securing the installation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609600"/>
            <a:ext cx="10845800" cy="5994400"/>
          </a:xfrm>
        </p:spPr>
        <p:txBody>
          <a:bodyPr/>
          <a:lstStyle/>
          <a:p>
            <a:r>
              <a:rPr lang="en-US" sz="3200" dirty="0"/>
              <a:t>HTTP servers are designed to respond to external requests. </a:t>
            </a:r>
            <a:endParaRPr lang="en-US" sz="3200" dirty="0" smtClean="0"/>
          </a:p>
          <a:p>
            <a:r>
              <a:rPr lang="en-US" sz="3200" dirty="0" smtClean="0"/>
              <a:t>Some </a:t>
            </a:r>
            <a:r>
              <a:rPr lang="en-US" sz="3200" dirty="0"/>
              <a:t>of the </a:t>
            </a:r>
            <a:r>
              <a:rPr lang="en-US" sz="3200" dirty="0" smtClean="0"/>
              <a:t>requests may </a:t>
            </a:r>
            <a:r>
              <a:rPr lang="en-US" sz="3200" dirty="0"/>
              <a:t>be malicious and jeopardize not only the integrity of the server, but of </a:t>
            </a:r>
            <a:r>
              <a:rPr lang="en-US" sz="3200" dirty="0" smtClean="0"/>
              <a:t>the entire </a:t>
            </a:r>
            <a:r>
              <a:rPr lang="en-US" sz="3200" dirty="0"/>
              <a:t>network. 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smtClean="0"/>
              <a:t>Before </a:t>
            </a:r>
            <a:r>
              <a:rPr lang="en-US" sz="3200" dirty="0"/>
              <a:t>we consider the steps necessary to minimize the effect of</a:t>
            </a:r>
          </a:p>
          <a:p>
            <a:r>
              <a:rPr lang="en-US" sz="3200" dirty="0"/>
              <a:t>such malicious requests, we need to make sure that it is not possible to </a:t>
            </a:r>
            <a:r>
              <a:rPr lang="en-US" sz="3200" dirty="0" smtClean="0"/>
              <a:t>jeopardize the </a:t>
            </a:r>
            <a:r>
              <a:rPr lang="en-US" sz="3200" dirty="0"/>
              <a:t>integrity of the server machine and corrupt the HTTP server installation.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6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Securing the Installatio</a:t>
            </a:r>
            <a:r>
              <a:rPr lang="en-US" b="1" dirty="0"/>
              <a:t>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obvious precaution is to minimize remote login access to the server </a:t>
            </a:r>
            <a:r>
              <a:rPr lang="en-US" dirty="0" smtClean="0"/>
              <a:t>machine—up </a:t>
            </a:r>
            <a:r>
              <a:rPr lang="en-US" dirty="0"/>
              <a:t>to disabling it completely </a:t>
            </a:r>
            <a:r>
              <a:rPr lang="en-US" dirty="0" smtClean="0"/>
              <a:t>.</a:t>
            </a:r>
          </a:p>
          <a:p>
            <a:r>
              <a:rPr lang="en-US" dirty="0"/>
              <a:t>If this is too drastic a precaution for what you need, at least make</a:t>
            </a:r>
          </a:p>
          <a:p>
            <a:r>
              <a:rPr lang="en-US" dirty="0"/>
              <a:t>sure that all attempts to access the system are monitored and logged, and all </a:t>
            </a:r>
            <a:r>
              <a:rPr lang="en-US" dirty="0" smtClean="0"/>
              <a:t>passwords are </a:t>
            </a:r>
            <a:r>
              <a:rPr lang="en-US" dirty="0"/>
              <a:t>crack-resilient. </a:t>
            </a:r>
            <a:endParaRPr lang="en-US" dirty="0" smtClean="0"/>
          </a:p>
          <a:p>
            <a:r>
              <a:rPr lang="en-US" dirty="0"/>
              <a:t>Every additional process that is running on the same machine and</a:t>
            </a:r>
          </a:p>
          <a:p>
            <a:r>
              <a:rPr lang="en-US" dirty="0"/>
              <a:t>serves outside requests adds to the risk—for example, </a:t>
            </a:r>
            <a:r>
              <a:rPr lang="en-US" i="1" dirty="0"/>
              <a:t>ftp </a:t>
            </a:r>
            <a:r>
              <a:rPr lang="en-US" dirty="0"/>
              <a:t>or </a:t>
            </a:r>
            <a:r>
              <a:rPr lang="en-US" i="1" dirty="0" err="1"/>
              <a:t>tftp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other words, it </a:t>
            </a:r>
            <a:r>
              <a:rPr lang="en-US" dirty="0" smtClean="0"/>
              <a:t>is better </a:t>
            </a:r>
            <a:r>
              <a:rPr lang="en-US" dirty="0"/>
              <a:t>not to run any additional processes on the same machine.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And do not neglect to check for obvious and trivial</a:t>
            </a:r>
          </a:p>
          <a:p>
            <a:r>
              <a:rPr lang="en-US" dirty="0"/>
              <a:t>problems—like file permissions on configuration and password files.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14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185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Dangerous Practices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444" y="936978"/>
            <a:ext cx="11074400" cy="5757333"/>
          </a:xfrm>
        </p:spPr>
        <p:txBody>
          <a:bodyPr/>
          <a:lstStyle/>
          <a:p>
            <a:r>
              <a:rPr lang="en-US" b="1" dirty="0"/>
              <a:t>The problem is that you can spend as much effort as you want </a:t>
            </a:r>
            <a:r>
              <a:rPr lang="en-US" b="1" dirty="0" smtClean="0"/>
              <a:t>securing</a:t>
            </a:r>
          </a:p>
          <a:p>
            <a:endParaRPr lang="en-US" b="1" dirty="0"/>
          </a:p>
          <a:p>
            <a:r>
              <a:rPr lang="en-US" b="1" dirty="0"/>
              <a:t>your HTTP server but it will not help if it is possible to establish an </a:t>
            </a:r>
            <a:r>
              <a:rPr lang="en-US" b="1" dirty="0" smtClean="0"/>
              <a:t>anonymous FTP </a:t>
            </a:r>
            <a:r>
              <a:rPr lang="en-US" b="1" dirty="0"/>
              <a:t>connection to the host machine and post an executable in a CGI directory. </a:t>
            </a:r>
            <a:endParaRPr lang="en-US" b="1" dirty="0" smtClean="0"/>
          </a:p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It stands to reason that an HTTP server should execute with permissions </a:t>
            </a:r>
            <a:r>
              <a:rPr lang="en-US" b="1" dirty="0" smtClean="0"/>
              <a:t>that don’t </a:t>
            </a:r>
            <a:r>
              <a:rPr lang="en-US" b="1" dirty="0"/>
              <a:t>give it access to files outside of the server directory structure. 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This </a:t>
            </a:r>
            <a:r>
              <a:rPr lang="en-US" b="1" dirty="0"/>
              <a:t>is </a:t>
            </a:r>
            <a:r>
              <a:rPr lang="en-US" b="1" dirty="0" smtClean="0"/>
              <a:t>why, if </a:t>
            </a:r>
            <a:r>
              <a:rPr lang="en-US" b="1" dirty="0"/>
              <a:t>you look at server configuration files, you may notice that the user id defaults </a:t>
            </a:r>
            <a:r>
              <a:rPr lang="en-US" b="1" dirty="0" smtClean="0"/>
              <a:t>to ‘nobody</a:t>
            </a:r>
            <a:r>
              <a:rPr lang="en-US" b="1" dirty="0"/>
              <a:t>’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68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r>
              <a:rPr lang="en-US" b="1" dirty="0">
                <a:latin typeface="Bahnschrift Condensed" panose="020B0502040204020203" pitchFamily="34" charset="0"/>
              </a:rPr>
              <a:t>Secure HTTP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689" y="1320800"/>
            <a:ext cx="11548533" cy="5271911"/>
          </a:xfrm>
        </p:spPr>
        <p:txBody>
          <a:bodyPr>
            <a:normAutofit/>
          </a:bodyPr>
          <a:lstStyle/>
          <a:p>
            <a:r>
              <a:rPr lang="en-US" dirty="0"/>
              <a:t>This is still not enough </a:t>
            </a:r>
            <a:r>
              <a:rPr lang="en-US" dirty="0" smtClean="0"/>
              <a:t>to guard </a:t>
            </a:r>
            <a:r>
              <a:rPr lang="en-US" dirty="0"/>
              <a:t>sensitive applications (e.g. credit card purchases, etc</a:t>
            </a:r>
            <a:r>
              <a:rPr lang="en-US" dirty="0" smtClean="0"/>
              <a:t>.).</a:t>
            </a:r>
          </a:p>
          <a:p>
            <a:r>
              <a:rPr lang="en-US" dirty="0" smtClean="0"/>
              <a:t> </a:t>
            </a:r>
            <a:r>
              <a:rPr lang="en-US" dirty="0"/>
              <a:t>Even if the server </a:t>
            </a:r>
            <a:r>
              <a:rPr lang="en-US" dirty="0" smtClean="0"/>
              <a:t>is safe</a:t>
            </a:r>
            <a:r>
              <a:rPr lang="en-US" dirty="0"/>
              <a:t>, HTTP messages containing sensitive information are still vulnerable. 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 smtClean="0"/>
              <a:t>most obvious </a:t>
            </a:r>
            <a:r>
              <a:rPr lang="en-US" dirty="0"/>
              <a:t>solution for guarding this information is, of course, encryption. HTTPS </a:t>
            </a:r>
            <a:r>
              <a:rPr lang="en-US" dirty="0" smtClean="0"/>
              <a:t>is the </a:t>
            </a:r>
            <a:r>
              <a:rPr lang="en-US" dirty="0"/>
              <a:t>secure version of the HTTP protocol. </a:t>
            </a:r>
            <a:endParaRPr lang="en-US" dirty="0" smtClean="0"/>
          </a:p>
          <a:p>
            <a:r>
              <a:rPr lang="en-US" dirty="0" smtClean="0"/>
              <a:t>All </a:t>
            </a:r>
            <a:r>
              <a:rPr lang="en-US" dirty="0"/>
              <a:t>HTTPS messages are the same </a:t>
            </a:r>
            <a:r>
              <a:rPr lang="en-US" dirty="0" smtClean="0"/>
              <a:t>except that </a:t>
            </a:r>
            <a:r>
              <a:rPr lang="en-US" dirty="0"/>
              <a:t>they are transmitted over a Secure Socket Layer (SSL) connection</a:t>
            </a:r>
            <a:r>
              <a:rPr lang="en-US" dirty="0" smtClean="0"/>
              <a:t>—</a:t>
            </a:r>
          </a:p>
          <a:p>
            <a:r>
              <a:rPr lang="en-US" dirty="0" smtClean="0"/>
              <a:t>Messages are </a:t>
            </a:r>
            <a:r>
              <a:rPr lang="en-US" dirty="0"/>
              <a:t>encrypted before the transmission and decrypted after being received by </a:t>
            </a:r>
            <a:r>
              <a:rPr lang="en-US" dirty="0" smtClean="0"/>
              <a:t>the server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37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540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Bahnschrift SemiBold Condensed" panose="020B0502040204020203" pitchFamily="34" charset="0"/>
              </a:rPr>
              <a:t>Secure HTTP</a:t>
            </a:r>
            <a:endParaRPr lang="en-US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9556"/>
            <a:ext cx="10515600" cy="5610577"/>
          </a:xfrm>
        </p:spPr>
        <p:txBody>
          <a:bodyPr>
            <a:normAutofit/>
          </a:bodyPr>
          <a:lstStyle/>
          <a:p>
            <a:r>
              <a:rPr lang="en-US" dirty="0"/>
              <a:t>The SSL protocol supports the use of a variety of different cryptographic algorithms to authenticate the server and the browser to each other, transmit certificates,</a:t>
            </a:r>
          </a:p>
          <a:p>
            <a:r>
              <a:rPr lang="en-US" dirty="0"/>
              <a:t>and establish session encryption keys.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SSL handshake protocol determines </a:t>
            </a:r>
            <a:r>
              <a:rPr lang="en-US" dirty="0" smtClean="0"/>
              <a:t>how the </a:t>
            </a:r>
            <a:r>
              <a:rPr lang="en-US" dirty="0"/>
              <a:t>server and the browser negotiate what encryption algorithm to use </a:t>
            </a:r>
            <a:r>
              <a:rPr lang="en-US" dirty="0" smtClean="0"/>
              <a:t>.</a:t>
            </a:r>
          </a:p>
          <a:p>
            <a:r>
              <a:rPr lang="en-US" dirty="0"/>
              <a:t>before you fill out a form to login to a site </a:t>
            </a:r>
            <a:r>
              <a:rPr lang="en-US" dirty="0" smtClean="0"/>
              <a:t>that makes </a:t>
            </a:r>
            <a:r>
              <a:rPr lang="en-US" dirty="0"/>
              <a:t>use of your sensitive information, check whether the action attribute on that</a:t>
            </a:r>
          </a:p>
          <a:p>
            <a:r>
              <a:rPr lang="en-US" dirty="0"/>
              <a:t>form references an HTTPS URL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If it does not—you should run away and </a:t>
            </a:r>
            <a:r>
              <a:rPr lang="en-US" dirty="0" smtClean="0"/>
              <a:t>never come </a:t>
            </a:r>
            <a:r>
              <a:rPr lang="en-US" dirty="0"/>
              <a:t>back.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5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989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panose="020B0A04020102020204" pitchFamily="34" charset="0"/>
              </a:rPr>
              <a:t>Firewalls and proxies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421" y="1185333"/>
            <a:ext cx="11164711" cy="5350934"/>
          </a:xfrm>
        </p:spPr>
        <p:txBody>
          <a:bodyPr/>
          <a:lstStyle/>
          <a:p>
            <a:r>
              <a:rPr lang="en-US" dirty="0"/>
              <a:t>Today, more than a third of all Internet sites are protected by firewalls.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idea </a:t>
            </a:r>
            <a:r>
              <a:rPr lang="en-US" dirty="0" smtClean="0"/>
              <a:t>is to </a:t>
            </a:r>
            <a:r>
              <a:rPr lang="en-US" dirty="0"/>
              <a:t>isolate machines on a Local Area Network (LAN) and expose them to the </a:t>
            </a:r>
            <a:r>
              <a:rPr lang="en-US" dirty="0" smtClean="0"/>
              <a:t>outside world </a:t>
            </a:r>
            <a:r>
              <a:rPr lang="en-US" dirty="0"/>
              <a:t>via a specialized gateway that screens network traffic.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gateway is </a:t>
            </a:r>
            <a:r>
              <a:rPr lang="en-US" dirty="0" smtClean="0"/>
              <a:t>what is </a:t>
            </a:r>
            <a:r>
              <a:rPr lang="en-US" dirty="0"/>
              <a:t>customarily referred to as a </a:t>
            </a:r>
            <a:r>
              <a:rPr lang="en-US" i="1" dirty="0"/>
              <a:t>firewall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>
                <a:latin typeface="Arial Black" panose="020B0A04020102020204" pitchFamily="34" charset="0"/>
              </a:rPr>
              <a:t>Firewall configurations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There exist many different firewall configurations that fall into two major categories:</a:t>
            </a:r>
          </a:p>
          <a:p>
            <a:r>
              <a:rPr lang="en-US" i="1" dirty="0"/>
              <a:t>dual-homed </a:t>
            </a:r>
            <a:r>
              <a:rPr lang="en-US" dirty="0"/>
              <a:t>gateways and </a:t>
            </a:r>
            <a:r>
              <a:rPr lang="en-US" i="1" dirty="0"/>
              <a:t>screened-host </a:t>
            </a:r>
            <a:r>
              <a:rPr lang="en-US" dirty="0"/>
              <a:t>gateways.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30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Dual-homed firewall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452533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/>
              <a:t>Dual-homed firewall is a computer with two different interface cards, one of which is connected to the LAN </a:t>
            </a:r>
            <a:r>
              <a:rPr lang="en-US" sz="3000" dirty="0" smtClean="0"/>
              <a:t>and one </a:t>
            </a:r>
            <a:r>
              <a:rPr lang="en-US" sz="3000" dirty="0"/>
              <a:t>to the outside world. </a:t>
            </a:r>
            <a:endParaRPr lang="en-US" sz="3000" dirty="0" smtClean="0"/>
          </a:p>
          <a:p>
            <a:r>
              <a:rPr lang="en-US" sz="3000" dirty="0"/>
              <a:t>With this architecture, there is no direct contact </a:t>
            </a:r>
            <a:r>
              <a:rPr lang="en-US" sz="3000" dirty="0" smtClean="0"/>
              <a:t>between the </a:t>
            </a:r>
            <a:r>
              <a:rPr lang="en-US" sz="3000" dirty="0"/>
              <a:t>LAN and the </a:t>
            </a:r>
            <a:r>
              <a:rPr lang="en-US" sz="3000" dirty="0" smtClean="0"/>
              <a:t>world.</a:t>
            </a:r>
          </a:p>
          <a:p>
            <a:r>
              <a:rPr lang="en-US" sz="3000" dirty="0" smtClean="0"/>
              <a:t> </a:t>
            </a:r>
            <a:r>
              <a:rPr lang="en-US" sz="3000" dirty="0"/>
              <a:t>so it is necessary to run a firewall proxy on the </a:t>
            </a:r>
            <a:r>
              <a:rPr lang="en-US" sz="3000" dirty="0" smtClean="0"/>
              <a:t>gateway machine </a:t>
            </a:r>
            <a:r>
              <a:rPr lang="en-US" sz="3000" dirty="0"/>
              <a:t>and make this proxy responsible for filtering network packets and </a:t>
            </a:r>
            <a:r>
              <a:rPr lang="en-US" sz="3000" dirty="0" smtClean="0"/>
              <a:t>passing them </a:t>
            </a:r>
            <a:r>
              <a:rPr lang="en-US" sz="3000" dirty="0"/>
              <a:t>between the interface cards. </a:t>
            </a:r>
            <a:endParaRPr lang="en-US" sz="3000" dirty="0" smtClean="0"/>
          </a:p>
          <a:p>
            <a:r>
              <a:rPr lang="en-US" sz="3000" dirty="0"/>
              <a:t>Passing every packet requires an explicit </a:t>
            </a:r>
            <a:r>
              <a:rPr lang="en-US" sz="3000" dirty="0" smtClean="0"/>
              <a:t>effort, and </a:t>
            </a:r>
            <a:r>
              <a:rPr lang="en-US" sz="3000" dirty="0"/>
              <a:t>no information is passed if the firewall proxy is down. </a:t>
            </a:r>
            <a:endParaRPr lang="en-US" sz="3000" dirty="0" smtClean="0"/>
          </a:p>
          <a:p>
            <a:r>
              <a:rPr lang="en-US" sz="3000" dirty="0" smtClean="0"/>
              <a:t>Such </a:t>
            </a:r>
            <a:r>
              <a:rPr lang="en-US" sz="3000" dirty="0"/>
              <a:t>configuration </a:t>
            </a:r>
            <a:r>
              <a:rPr lang="en-US" sz="3000" dirty="0" smtClean="0"/>
              <a:t>is very </a:t>
            </a:r>
            <a:r>
              <a:rPr lang="en-US" sz="3000" dirty="0"/>
              <a:t>restrictive and is used only in very secure installations. </a:t>
            </a:r>
            <a:br>
              <a:rPr lang="en-US" sz="3000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76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71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Screened-host gateways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889" y="970844"/>
            <a:ext cx="11085689" cy="5565423"/>
          </a:xfrm>
        </p:spPr>
        <p:txBody>
          <a:bodyPr/>
          <a:lstStyle/>
          <a:p>
            <a:r>
              <a:rPr lang="en-US" dirty="0"/>
              <a:t>Screened-host gateways are network routers that have the responsibility of </a:t>
            </a:r>
            <a:r>
              <a:rPr lang="en-US" dirty="0" smtClean="0"/>
              <a:t>filtering traffic </a:t>
            </a:r>
            <a:r>
              <a:rPr lang="en-US" dirty="0"/>
              <a:t>between the LAN and the outside world.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may be configured to </a:t>
            </a:r>
            <a:r>
              <a:rPr lang="en-US" dirty="0" smtClean="0"/>
              <a:t>screen network </a:t>
            </a:r>
            <a:r>
              <a:rPr lang="en-US" dirty="0"/>
              <a:t>packets based on source and destination addresses, ports, and other </a:t>
            </a:r>
            <a:r>
              <a:rPr lang="en-US" dirty="0" smtClean="0"/>
              <a:t>criteria.</a:t>
            </a:r>
          </a:p>
          <a:p>
            <a:r>
              <a:rPr lang="en-US" dirty="0"/>
              <a:t>Normally, the router is configured to pass through only network packets that </a:t>
            </a:r>
            <a:r>
              <a:rPr lang="en-US" dirty="0" smtClean="0"/>
              <a:t>are bound </a:t>
            </a:r>
            <a:r>
              <a:rPr lang="en-US" dirty="0"/>
              <a:t>for the firewall host and stops packets that are bound for other machines </a:t>
            </a:r>
            <a:r>
              <a:rPr lang="en-US" dirty="0" smtClean="0"/>
              <a:t>on the </a:t>
            </a:r>
            <a:r>
              <a:rPr lang="en-US" dirty="0"/>
              <a:t>LAN.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firewall host is responsible for running a configurable filtering proxy</a:t>
            </a:r>
          </a:p>
          <a:p>
            <a:r>
              <a:rPr lang="en-US" dirty="0"/>
              <a:t>that selectively passes through the network traffic.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26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HTTP proxies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373511"/>
          </a:xfrm>
        </p:spPr>
        <p:txBody>
          <a:bodyPr>
            <a:normAutofit fontScale="47500" lnSpcReduction="20000"/>
          </a:bodyPr>
          <a:lstStyle/>
          <a:p>
            <a:r>
              <a:rPr lang="en-US" sz="3600" dirty="0"/>
              <a:t>It is all well and good to create a firewall but what do you do if you </a:t>
            </a:r>
            <a:r>
              <a:rPr lang="en-US" sz="3600" dirty="0" smtClean="0"/>
              <a:t>need to </a:t>
            </a:r>
            <a:r>
              <a:rPr lang="en-US" sz="3600" dirty="0"/>
              <a:t>make your HTTP server visible to the outside world</a:t>
            </a:r>
            <a:r>
              <a:rPr lang="en-US" sz="3600" dirty="0" smtClean="0"/>
              <a:t>?</a:t>
            </a:r>
          </a:p>
          <a:p>
            <a:r>
              <a:rPr lang="en-US" sz="3600" dirty="0" smtClean="0"/>
              <a:t> </a:t>
            </a:r>
            <a:r>
              <a:rPr lang="en-US" sz="3600" dirty="0"/>
              <a:t>The seemingly </a:t>
            </a:r>
            <a:r>
              <a:rPr lang="en-US" sz="3600" dirty="0" smtClean="0"/>
              <a:t>easy answer—running </a:t>
            </a:r>
            <a:r>
              <a:rPr lang="en-US" sz="3600" dirty="0"/>
              <a:t>it on the firewall machine—is not a good one </a:t>
            </a:r>
            <a:r>
              <a:rPr lang="en-US" sz="3600" dirty="0" smtClean="0"/>
              <a:t>.</a:t>
            </a:r>
          </a:p>
          <a:p>
            <a:endParaRPr lang="en-US" sz="3600" dirty="0" smtClean="0"/>
          </a:p>
          <a:p>
            <a:r>
              <a:rPr lang="en-US" sz="3600" b="1" dirty="0"/>
              <a:t>Access Control</a:t>
            </a:r>
            <a:r>
              <a:rPr lang="en-US" sz="3600" dirty="0"/>
              <a:t>: HTTP proxies can enforce access controls by filtering and blocking access to certain websites or content based on defined policies. This helps in preventing access to malicious or inappropriate content</a:t>
            </a:r>
            <a:r>
              <a:rPr lang="en-US" sz="3600" dirty="0" smtClean="0"/>
              <a:t>.</a:t>
            </a:r>
          </a:p>
          <a:p>
            <a:endParaRPr lang="en-US" sz="3600" dirty="0"/>
          </a:p>
          <a:p>
            <a:r>
              <a:rPr lang="en-US" sz="3600" b="1" dirty="0"/>
              <a:t>Anonymity</a:t>
            </a:r>
            <a:r>
              <a:rPr lang="en-US" sz="3600" dirty="0"/>
              <a:t>: Proxies can be used to hide the client's IP address from the server, providing a level of anonymity. This can help protect user privacy and prevent tracking</a:t>
            </a:r>
            <a:r>
              <a:rPr lang="en-US" sz="3600" dirty="0" smtClean="0"/>
              <a:t>.</a:t>
            </a:r>
          </a:p>
          <a:p>
            <a:endParaRPr lang="en-US" sz="3600" dirty="0"/>
          </a:p>
          <a:p>
            <a:r>
              <a:rPr lang="en-US" sz="3600" b="1" dirty="0"/>
              <a:t>Content Filtering</a:t>
            </a:r>
            <a:r>
              <a:rPr lang="en-US" sz="3600" dirty="0"/>
              <a:t>: Proxies can scan and filter incoming and outgoing traffic for malware, viruses, and other malicious content, thereby enhancing security by blocking potentially harmful elements</a:t>
            </a:r>
            <a:r>
              <a:rPr lang="en-US" sz="3600" dirty="0" smtClean="0"/>
              <a:t>.</a:t>
            </a:r>
          </a:p>
          <a:p>
            <a:endParaRPr lang="en-US" sz="3600" dirty="0"/>
          </a:p>
          <a:p>
            <a:r>
              <a:rPr lang="en-US" sz="3600" b="1" dirty="0"/>
              <a:t>Caching</a:t>
            </a:r>
            <a:r>
              <a:rPr lang="en-US" sz="3600" dirty="0"/>
              <a:t>: Proxies can cache frequently accessed web content, reducing bandwidth usage and speeding up access to websites. This can indirectly improve security by reducing the exposure to external threats.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05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848</TotalTime>
  <Words>2114</Words>
  <Application>Microsoft Office PowerPoint</Application>
  <PresentationFormat>Widescreen</PresentationFormat>
  <Paragraphs>159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Algerian</vt:lpstr>
      <vt:lpstr>Arial</vt:lpstr>
      <vt:lpstr>Arial Black</vt:lpstr>
      <vt:lpstr>Arial Rounded MT Bold</vt:lpstr>
      <vt:lpstr>Bahnschrift Condensed</vt:lpstr>
      <vt:lpstr>Bahnschrift SemiBold Condensed</vt:lpstr>
      <vt:lpstr>Garamond</vt:lpstr>
      <vt:lpstr>Organic</vt:lpstr>
      <vt:lpstr>Server Configuration And P3P</vt:lpstr>
      <vt:lpstr>What Is P3P</vt:lpstr>
      <vt:lpstr>How P3P worked</vt:lpstr>
      <vt:lpstr>Why P3P is Obsolete</vt:lpstr>
      <vt:lpstr>PowerPoint Presentation</vt:lpstr>
      <vt:lpstr>Directory structure  </vt:lpstr>
      <vt:lpstr>Directory structure  </vt:lpstr>
      <vt:lpstr>Execution  </vt:lpstr>
      <vt:lpstr>Execution</vt:lpstr>
      <vt:lpstr>PowerPoint Presentation</vt:lpstr>
      <vt:lpstr>PowerPoint Presentation</vt:lpstr>
      <vt:lpstr>Address resolution </vt:lpstr>
      <vt:lpstr>Alias</vt:lpstr>
      <vt:lpstr>PowerPoint Presentation</vt:lpstr>
      <vt:lpstr> </vt:lpstr>
      <vt:lpstr>Server Security</vt:lpstr>
      <vt:lpstr>Securing the installation  </vt:lpstr>
      <vt:lpstr>Securing the Installation</vt:lpstr>
      <vt:lpstr>Dangerous Practices</vt:lpstr>
      <vt:lpstr>Secure HTTP </vt:lpstr>
      <vt:lpstr>Secure HTTP</vt:lpstr>
      <vt:lpstr>Firewalls and proxies </vt:lpstr>
      <vt:lpstr>Dual-homed firewall </vt:lpstr>
      <vt:lpstr>Screened-host gateways  </vt:lpstr>
      <vt:lpstr>HTTP proxies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Configuration</dc:title>
  <dc:creator>Windows User</dc:creator>
  <cp:lastModifiedBy>CGS COMPUTERS</cp:lastModifiedBy>
  <cp:revision>23</cp:revision>
  <dcterms:created xsi:type="dcterms:W3CDTF">2024-02-18T16:19:35Z</dcterms:created>
  <dcterms:modified xsi:type="dcterms:W3CDTF">2025-12-02T09:54:40Z</dcterms:modified>
</cp:coreProperties>
</file>