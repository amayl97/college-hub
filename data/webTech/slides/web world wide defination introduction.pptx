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5" r:id="rId11"/>
    <p:sldId id="265" r:id="rId12"/>
    <p:sldId id="266" r:id="rId13"/>
    <p:sldId id="286" r:id="rId14"/>
    <p:sldId id="267" r:id="rId15"/>
    <p:sldId id="268" r:id="rId16"/>
    <p:sldId id="269" r:id="rId17"/>
    <p:sldId id="270" r:id="rId18"/>
    <p:sldId id="272" r:id="rId19"/>
    <p:sldId id="273" r:id="rId20"/>
    <p:sldId id="274" r:id="rId21"/>
    <p:sldId id="276" r:id="rId22"/>
    <p:sldId id="277" r:id="rId23"/>
    <p:sldId id="280" r:id="rId24"/>
    <p:sldId id="281"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4" d="100"/>
          <a:sy n="84" d="100"/>
        </p:scale>
        <p:origin x="1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8BFAA8-8011-47D2-BF8F-F01D1E64E07F}"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92359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8BFAA8-8011-47D2-BF8F-F01D1E64E07F}"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64500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B8BFAA8-8011-47D2-BF8F-F01D1E64E07F}"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342902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8BFAA8-8011-47D2-BF8F-F01D1E64E07F}"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2338042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8BFAA8-8011-47D2-BF8F-F01D1E64E07F}" type="datetimeFigureOut">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0883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8BFAA8-8011-47D2-BF8F-F01D1E64E07F}" type="datetimeFigureOut">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50774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8BFAA8-8011-47D2-BF8F-F01D1E64E07F}" type="datetimeFigureOut">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2885871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B8BFAA8-8011-47D2-BF8F-F01D1E64E07F}"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4049671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B8BFAA8-8011-47D2-BF8F-F01D1E64E07F}"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65970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8BFAA8-8011-47D2-BF8F-F01D1E64E07F}"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1247107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8BFAA8-8011-47D2-BF8F-F01D1E64E07F}"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1268FC-BEEB-4B36-9E32-A5208B2B2CDF}" type="slidenum">
              <a:rPr lang="en-US" smtClean="0"/>
              <a:t>‹#›</a:t>
            </a:fld>
            <a:endParaRPr lang="en-US"/>
          </a:p>
        </p:txBody>
      </p:sp>
    </p:spTree>
    <p:extLst>
      <p:ext uri="{BB962C8B-B14F-4D97-AF65-F5344CB8AC3E}">
        <p14:creationId xmlns:p14="http://schemas.microsoft.com/office/powerpoint/2010/main" val="203614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BFAA8-8011-47D2-BF8F-F01D1E64E07F}" type="datetimeFigureOut">
              <a:rPr lang="en-US" smtClean="0"/>
              <a:t>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1268FC-BEEB-4B36-9E32-A5208B2B2CDF}" type="slidenum">
              <a:rPr lang="en-US" smtClean="0"/>
              <a:t>‹#›</a:t>
            </a:fld>
            <a:endParaRPr lang="en-US"/>
          </a:p>
        </p:txBody>
      </p:sp>
    </p:spTree>
    <p:extLst>
      <p:ext uri="{BB962C8B-B14F-4D97-AF65-F5344CB8AC3E}">
        <p14:creationId xmlns:p14="http://schemas.microsoft.com/office/powerpoint/2010/main" val="3416381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
            </a:r>
            <a:br>
              <a:rPr lang="en-US" dirty="0"/>
            </a:br>
            <a:r>
              <a:rPr lang="en-US" dirty="0"/>
              <a:t> </a:t>
            </a:r>
            <a:r>
              <a:rPr lang="en-US" b="1" dirty="0"/>
              <a:t>Introduction: </a:t>
            </a:r>
            <a:r>
              <a:rPr lang="en-US" dirty="0"/>
              <a:t>Web Applications, TCP/IP Application Services. 	</a:t>
            </a:r>
            <a:br>
              <a:rPr lang="en-US" dirty="0"/>
            </a:br>
            <a:endParaRPr lang="en-US" dirty="0"/>
          </a:p>
        </p:txBody>
      </p:sp>
      <p:sp>
        <p:nvSpPr>
          <p:cNvPr id="3" name="Subtitle 2"/>
          <p:cNvSpPr>
            <a:spLocks noGrp="1"/>
          </p:cNvSpPr>
          <p:nvPr>
            <p:ph type="subTitle" idx="1"/>
          </p:nvPr>
        </p:nvSpPr>
        <p:spPr/>
        <p:txBody>
          <a:bodyPr/>
          <a:lstStyle/>
          <a:p>
            <a:r>
              <a:rPr lang="en-US" dirty="0" smtClean="0"/>
              <a:t>Web Engineering</a:t>
            </a:r>
            <a:endParaRPr lang="en-US" dirty="0"/>
          </a:p>
        </p:txBody>
      </p:sp>
    </p:spTree>
    <p:extLst>
      <p:ext uri="{BB962C8B-B14F-4D97-AF65-F5344CB8AC3E}">
        <p14:creationId xmlns:p14="http://schemas.microsoft.com/office/powerpoint/2010/main" val="32252838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US" b="1" dirty="0" smtClean="0"/>
              <a:t>Introduction: </a:t>
            </a:r>
            <a:r>
              <a:rPr lang="en-US" dirty="0" smtClean="0"/>
              <a:t>Web Applications</a:t>
            </a:r>
            <a:endParaRPr lang="en-US" dirty="0"/>
          </a:p>
        </p:txBody>
      </p:sp>
      <p:sp>
        <p:nvSpPr>
          <p:cNvPr id="3" name="Content Placeholder 2"/>
          <p:cNvSpPr>
            <a:spLocks noGrp="1"/>
          </p:cNvSpPr>
          <p:nvPr>
            <p:ph idx="1"/>
          </p:nvPr>
        </p:nvSpPr>
        <p:spPr>
          <a:xfrm>
            <a:off x="395111" y="1016000"/>
            <a:ext cx="10958689" cy="5588000"/>
          </a:xfrm>
        </p:spPr>
        <p:txBody>
          <a:bodyPr>
            <a:normAutofit fontScale="85000" lnSpcReduction="20000"/>
          </a:bodyPr>
          <a:lstStyle/>
          <a:p>
            <a:r>
              <a:rPr lang="en-US" b="1" dirty="0"/>
              <a:t>THE WEB IN PERSPECTIVE</a:t>
            </a:r>
          </a:p>
          <a:p>
            <a:r>
              <a:rPr lang="en-US" dirty="0"/>
              <a:t>A little more than a decade ago at CERN (the scientific research laboratory </a:t>
            </a:r>
            <a:r>
              <a:rPr lang="en-US" dirty="0" smtClean="0"/>
              <a:t>near Geneva</a:t>
            </a:r>
            <a:r>
              <a:rPr lang="en-US" dirty="0"/>
              <a:t>, Switzerland), Tim Berners-Lee presented a proposal for an </a:t>
            </a:r>
            <a:r>
              <a:rPr lang="en-US" dirty="0" smtClean="0"/>
              <a:t>information management </a:t>
            </a:r>
            <a:r>
              <a:rPr lang="en-US" dirty="0"/>
              <a:t>system that would enable the sharing of knowledge and resources </a:t>
            </a:r>
            <a:r>
              <a:rPr lang="en-US" dirty="0" smtClean="0"/>
              <a:t>over a </a:t>
            </a:r>
            <a:r>
              <a:rPr lang="en-US" dirty="0"/>
              <a:t>computer network</a:t>
            </a:r>
            <a:r>
              <a:rPr lang="en-US" sz="3400" dirty="0"/>
              <a:t>.</a:t>
            </a:r>
          </a:p>
          <a:p>
            <a:pPr marL="0" indent="0">
              <a:buNone/>
            </a:pPr>
            <a:r>
              <a:rPr lang="en-US" sz="3100" dirty="0"/>
              <a:t>The system he proposed has propagated itself into what can truly be called </a:t>
            </a:r>
            <a:r>
              <a:rPr lang="en-US" sz="3100" dirty="0" smtClean="0"/>
              <a:t>a </a:t>
            </a:r>
            <a:r>
              <a:rPr lang="en-US" sz="3100" i="1" dirty="0" smtClean="0"/>
              <a:t>World </a:t>
            </a:r>
            <a:r>
              <a:rPr lang="en-US" sz="3100" i="1" dirty="0"/>
              <a:t>Wide Web</a:t>
            </a:r>
            <a:r>
              <a:rPr lang="en-US" sz="3100" dirty="0"/>
              <a:t>, as people all over the world use it for a wide variety of purposes:</a:t>
            </a:r>
          </a:p>
          <a:p>
            <a:pPr marL="0" indent="0">
              <a:buNone/>
            </a:pPr>
            <a:r>
              <a:rPr lang="en-US" dirty="0"/>
              <a:t>• Educational institutions and research laboratories were among the very first </a:t>
            </a:r>
            <a:r>
              <a:rPr lang="en-US" dirty="0" smtClean="0"/>
              <a:t>users of </a:t>
            </a:r>
            <a:r>
              <a:rPr lang="en-US" dirty="0"/>
              <a:t>the Web, employing it for sharing documents and other resources </a:t>
            </a:r>
            <a:r>
              <a:rPr lang="en-US" dirty="0" smtClean="0"/>
              <a:t>across the </a:t>
            </a:r>
            <a:r>
              <a:rPr lang="en-US" dirty="0"/>
              <a:t>Internet.</a:t>
            </a:r>
          </a:p>
          <a:p>
            <a:pPr marL="0" indent="0">
              <a:buNone/>
            </a:pPr>
            <a:r>
              <a:rPr lang="en-US" dirty="0"/>
              <a:t>• Individuals today use the Web (and the underlying Internet technologies that </a:t>
            </a:r>
            <a:r>
              <a:rPr lang="en-US" dirty="0" smtClean="0"/>
              <a:t>support it</a:t>
            </a:r>
            <a:r>
              <a:rPr lang="en-US" dirty="0"/>
              <a:t>) as an instantaneous international postal service, as a worldwide </a:t>
            </a:r>
            <a:r>
              <a:rPr lang="en-US" dirty="0" smtClean="0"/>
              <a:t>community bulletin </a:t>
            </a:r>
            <a:r>
              <a:rPr lang="en-US" dirty="0"/>
              <a:t>board for posting virtual photo albums, and as a venue for holding </a:t>
            </a:r>
            <a:r>
              <a:rPr lang="en-US" dirty="0" smtClean="0"/>
              <a:t>global yard </a:t>
            </a:r>
            <a:r>
              <a:rPr lang="en-US" dirty="0"/>
              <a:t>sales.</a:t>
            </a:r>
          </a:p>
          <a:p>
            <a:pPr marL="0" indent="0">
              <a:buNone/>
            </a:pPr>
            <a:r>
              <a:rPr lang="en-US" sz="3100" dirty="0"/>
              <a:t>• Businesses engage in </a:t>
            </a:r>
            <a:r>
              <a:rPr lang="en-US" sz="3100" i="1" dirty="0"/>
              <a:t>e-commerce</a:t>
            </a:r>
            <a:r>
              <a:rPr lang="en-US" sz="3100" dirty="0"/>
              <a:t>, offering individuals a medium for buying </a:t>
            </a:r>
            <a:r>
              <a:rPr lang="en-US" sz="3100" dirty="0" smtClean="0"/>
              <a:t>and selling </a:t>
            </a:r>
            <a:r>
              <a:rPr lang="en-US" sz="3100" dirty="0"/>
              <a:t>goods and services over the net. They also communicate with other </a:t>
            </a:r>
            <a:r>
              <a:rPr lang="en-US" sz="3100" dirty="0" smtClean="0"/>
              <a:t>businesses through </a:t>
            </a:r>
            <a:r>
              <a:rPr lang="en-US" sz="3100" i="1" dirty="0"/>
              <a:t>B</a:t>
            </a:r>
            <a:r>
              <a:rPr lang="en-US" sz="3100" dirty="0"/>
              <a:t>2</a:t>
            </a:r>
            <a:r>
              <a:rPr lang="en-US" sz="3100" i="1" dirty="0"/>
              <a:t>B </a:t>
            </a:r>
            <a:r>
              <a:rPr lang="en-US" sz="3100" dirty="0"/>
              <a:t>(business-to-business) data exchanges, where companies </a:t>
            </a:r>
            <a:r>
              <a:rPr lang="en-US" sz="3100" dirty="0" smtClean="0"/>
              <a:t>can provide </a:t>
            </a:r>
            <a:r>
              <a:rPr lang="en-US" sz="3100" dirty="0"/>
              <a:t>product catalogues, inventories, and sales records to other companies.</a:t>
            </a:r>
          </a:p>
        </p:txBody>
      </p:sp>
    </p:spTree>
    <p:extLst>
      <p:ext uri="{BB962C8B-B14F-4D97-AF65-F5344CB8AC3E}">
        <p14:creationId xmlns:p14="http://schemas.microsoft.com/office/powerpoint/2010/main" val="35584679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2519"/>
          </a:xfrm>
        </p:spPr>
        <p:txBody>
          <a:bodyPr>
            <a:normAutofit fontScale="90000"/>
          </a:bodyPr>
          <a:lstStyle/>
          <a:p>
            <a:r>
              <a:rPr lang="en-US" b="1" dirty="0"/>
              <a:t>THE ORIGINS OF THE WEB</a:t>
            </a:r>
            <a:endParaRPr lang="en-US" dirty="0"/>
          </a:p>
        </p:txBody>
      </p:sp>
      <p:sp>
        <p:nvSpPr>
          <p:cNvPr id="3" name="Content Placeholder 2"/>
          <p:cNvSpPr>
            <a:spLocks noGrp="1"/>
          </p:cNvSpPr>
          <p:nvPr>
            <p:ph idx="1"/>
          </p:nvPr>
        </p:nvSpPr>
        <p:spPr>
          <a:xfrm>
            <a:off x="838200" y="869244"/>
            <a:ext cx="10515600" cy="5307719"/>
          </a:xfrm>
        </p:spPr>
        <p:txBody>
          <a:bodyPr>
            <a:normAutofit/>
          </a:bodyPr>
          <a:lstStyle/>
          <a:p>
            <a:r>
              <a:rPr lang="en-US" dirty="0"/>
              <a:t>Tim Berners-Lee originally promoted </a:t>
            </a:r>
            <a:r>
              <a:rPr lang="en-US" dirty="0" err="1"/>
              <a:t>theWorldWideWeb</a:t>
            </a:r>
            <a:r>
              <a:rPr lang="en-US" dirty="0"/>
              <a:t> as a virtual library, a document</a:t>
            </a:r>
          </a:p>
          <a:p>
            <a:r>
              <a:rPr lang="en-US" dirty="0"/>
              <a:t>control system for sharing information resources among researchers. Online</a:t>
            </a:r>
          </a:p>
          <a:p>
            <a:r>
              <a:rPr lang="en-US" dirty="0"/>
              <a:t>documents could be accessed via a unique document address, a </a:t>
            </a:r>
            <a:r>
              <a:rPr lang="en-US" i="1" dirty="0"/>
              <a:t>Universal Resource</a:t>
            </a:r>
          </a:p>
          <a:p>
            <a:r>
              <a:rPr lang="en-US" i="1" dirty="0"/>
              <a:t>Locator </a:t>
            </a:r>
            <a:r>
              <a:rPr lang="en-US" dirty="0"/>
              <a:t>(URL). These documents could be cross-referenced via </a:t>
            </a:r>
            <a:r>
              <a:rPr lang="en-US" i="1" dirty="0"/>
              <a:t>hypertext links</a:t>
            </a:r>
            <a:r>
              <a:rPr lang="en-US" dirty="0" smtClean="0"/>
              <a:t>.</a:t>
            </a:r>
            <a:endParaRPr lang="en-US" dirty="0"/>
          </a:p>
        </p:txBody>
      </p:sp>
    </p:spTree>
    <p:extLst>
      <p:ext uri="{BB962C8B-B14F-4D97-AF65-F5344CB8AC3E}">
        <p14:creationId xmlns:p14="http://schemas.microsoft.com/office/powerpoint/2010/main" val="26048263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0253"/>
          </a:xfrm>
        </p:spPr>
        <p:txBody>
          <a:bodyPr>
            <a:normAutofit fontScale="90000"/>
          </a:bodyPr>
          <a:lstStyle/>
          <a:p>
            <a:r>
              <a:rPr lang="en-US" b="1" dirty="0"/>
              <a:t>FROM WEB PAGES TO WEB </a:t>
            </a:r>
            <a:r>
              <a:rPr lang="en-US" sz="3600" b="1" dirty="0"/>
              <a:t>SITES</a:t>
            </a:r>
            <a:endParaRPr lang="en-US" sz="3600" dirty="0"/>
          </a:p>
        </p:txBody>
      </p:sp>
      <p:sp>
        <p:nvSpPr>
          <p:cNvPr id="3" name="Content Placeholder 2"/>
          <p:cNvSpPr>
            <a:spLocks noGrp="1"/>
          </p:cNvSpPr>
          <p:nvPr>
            <p:ph idx="1"/>
          </p:nvPr>
        </p:nvSpPr>
        <p:spPr>
          <a:xfrm>
            <a:off x="270933" y="835378"/>
            <a:ext cx="11082867" cy="5926666"/>
          </a:xfrm>
        </p:spPr>
        <p:txBody>
          <a:bodyPr>
            <a:normAutofit/>
          </a:bodyPr>
          <a:lstStyle/>
          <a:p>
            <a:r>
              <a:rPr lang="en-US" dirty="0"/>
              <a:t>The explosively exponential growth of the Web can at least partially be attributed </a:t>
            </a:r>
            <a:r>
              <a:rPr lang="en-US" dirty="0" smtClean="0"/>
              <a:t>to its </a:t>
            </a:r>
            <a:r>
              <a:rPr lang="en-US" dirty="0"/>
              <a:t>grass roots proliferation as a tool for </a:t>
            </a:r>
            <a:r>
              <a:rPr lang="en-US" i="1" dirty="0"/>
              <a:t>personal publishing</a:t>
            </a:r>
            <a:r>
              <a:rPr lang="en-US" dirty="0"/>
              <a:t>. The fundamental </a:t>
            </a:r>
            <a:r>
              <a:rPr lang="en-US" dirty="0" smtClean="0"/>
              <a:t>technology behind </a:t>
            </a:r>
            <a:r>
              <a:rPr lang="en-US" dirty="0"/>
              <a:t>the Web is relatively simple. </a:t>
            </a:r>
            <a:endParaRPr lang="en-US" dirty="0" smtClean="0"/>
          </a:p>
          <a:p>
            <a:r>
              <a:rPr lang="en-US" dirty="0" smtClean="0"/>
              <a:t>A </a:t>
            </a:r>
            <a:r>
              <a:rPr lang="en-US" dirty="0"/>
              <a:t>computer connected to the </a:t>
            </a:r>
            <a:r>
              <a:rPr lang="en-US" dirty="0" smtClean="0"/>
              <a:t>Internet, running </a:t>
            </a:r>
            <a:r>
              <a:rPr lang="en-US" dirty="0"/>
              <a:t>a </a:t>
            </a:r>
            <a:r>
              <a:rPr lang="en-US" i="1" dirty="0"/>
              <a:t>Web server</a:t>
            </a:r>
            <a:r>
              <a:rPr lang="en-US" dirty="0"/>
              <a:t>, was all that was necessary to serve documents. Both </a:t>
            </a:r>
            <a:r>
              <a:rPr lang="en-US" dirty="0" smtClean="0"/>
              <a:t>CERN and </a:t>
            </a:r>
            <a:r>
              <a:rPr lang="en-US" dirty="0"/>
              <a:t>the National Center for Supercomputer Applications (NCSA) at the </a:t>
            </a:r>
            <a:r>
              <a:rPr lang="en-US" dirty="0" smtClean="0"/>
              <a:t>University of </a:t>
            </a:r>
            <a:r>
              <a:rPr lang="en-US" dirty="0"/>
              <a:t>Illinois had developed freely available Web server software. </a:t>
            </a:r>
            <a:endParaRPr lang="en-US" dirty="0" smtClean="0"/>
          </a:p>
          <a:p>
            <a:r>
              <a:rPr lang="en-US" dirty="0" smtClean="0"/>
              <a:t>A </a:t>
            </a:r>
            <a:r>
              <a:rPr lang="en-US" dirty="0"/>
              <a:t>small amount </a:t>
            </a:r>
            <a:r>
              <a:rPr lang="en-US" dirty="0" smtClean="0"/>
              <a:t>of </a:t>
            </a:r>
            <a:r>
              <a:rPr lang="en-US" i="1" dirty="0" smtClean="0"/>
              <a:t>HTML </a:t>
            </a:r>
            <a:r>
              <a:rPr lang="en-US" dirty="0"/>
              <a:t>knowledge (and the proper computing resources) got you something </a:t>
            </a:r>
            <a:r>
              <a:rPr lang="en-US" dirty="0" smtClean="0"/>
              <a:t>that could </a:t>
            </a:r>
            <a:r>
              <a:rPr lang="en-US" dirty="0"/>
              <a:t>be called a </a:t>
            </a:r>
            <a:r>
              <a:rPr lang="en-US" i="1" dirty="0"/>
              <a:t>Web site</a:t>
            </a:r>
            <a:r>
              <a:rPr lang="en-US" dirty="0"/>
              <a:t>.</a:t>
            </a:r>
          </a:p>
        </p:txBody>
      </p:sp>
    </p:spTree>
    <p:extLst>
      <p:ext uri="{BB962C8B-B14F-4D97-AF65-F5344CB8AC3E}">
        <p14:creationId xmlns:p14="http://schemas.microsoft.com/office/powerpoint/2010/main" val="6904104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9942"/>
          </a:xfrm>
        </p:spPr>
        <p:txBody>
          <a:bodyPr>
            <a:normAutofit fontScale="90000"/>
          </a:bodyPr>
          <a:lstStyle/>
          <a:p>
            <a:endParaRPr lang="en-US" dirty="0"/>
          </a:p>
        </p:txBody>
      </p:sp>
      <p:sp>
        <p:nvSpPr>
          <p:cNvPr id="3" name="Content Placeholder 2"/>
          <p:cNvSpPr>
            <a:spLocks noGrp="1"/>
          </p:cNvSpPr>
          <p:nvPr>
            <p:ph idx="1"/>
          </p:nvPr>
        </p:nvSpPr>
        <p:spPr>
          <a:xfrm>
            <a:off x="485422" y="846667"/>
            <a:ext cx="11176000" cy="5746044"/>
          </a:xfrm>
        </p:spPr>
        <p:txBody>
          <a:bodyPr>
            <a:normAutofit/>
          </a:bodyPr>
          <a:lstStyle/>
          <a:p>
            <a:r>
              <a:rPr lang="en-US" dirty="0"/>
              <a:t>There is a big difference between a Web page and a Web </a:t>
            </a:r>
            <a:r>
              <a:rPr lang="en-US" i="1" dirty="0"/>
              <a:t>site</a:t>
            </a:r>
            <a:r>
              <a:rPr lang="en-US" dirty="0"/>
              <a:t>. A Web site is </a:t>
            </a:r>
            <a:r>
              <a:rPr lang="en-US" dirty="0" smtClean="0"/>
              <a:t>more than </a:t>
            </a:r>
            <a:r>
              <a:rPr lang="en-US" dirty="0"/>
              <a:t>just a group of Web pages that happen to be connected to each other </a:t>
            </a:r>
            <a:r>
              <a:rPr lang="en-US" dirty="0" smtClean="0"/>
              <a:t>through hypertext </a:t>
            </a:r>
            <a:r>
              <a:rPr lang="en-US" dirty="0"/>
              <a:t>links.</a:t>
            </a:r>
          </a:p>
          <a:p>
            <a:r>
              <a:rPr lang="en-US" dirty="0"/>
              <a:t>At the lowest level, there are </a:t>
            </a:r>
            <a:r>
              <a:rPr lang="en-US" b="1" i="1" dirty="0"/>
              <a:t>content-related </a:t>
            </a:r>
            <a:r>
              <a:rPr lang="en-US" b="1" dirty="0"/>
              <a:t>concerns</a:t>
            </a:r>
            <a:r>
              <a:rPr lang="en-US" dirty="0"/>
              <a:t>. Maintaining </a:t>
            </a:r>
            <a:r>
              <a:rPr lang="en-US" dirty="0" smtClean="0"/>
              <a:t>thematic consistency </a:t>
            </a:r>
            <a:r>
              <a:rPr lang="en-US" dirty="0"/>
              <a:t>of content is important in giving a site some degree of identity.</a:t>
            </a:r>
          </a:p>
          <a:p>
            <a:r>
              <a:rPr lang="en-US" dirty="0"/>
              <a:t>There are also </a:t>
            </a:r>
            <a:r>
              <a:rPr lang="en-US" b="1" i="1" dirty="0"/>
              <a:t>aesthetic </a:t>
            </a:r>
            <a:r>
              <a:rPr lang="en-US" b="1" dirty="0"/>
              <a:t>concerns</a:t>
            </a:r>
            <a:r>
              <a:rPr lang="en-US" dirty="0"/>
              <a:t>. In addition to having thematically-related </a:t>
            </a:r>
            <a:r>
              <a:rPr lang="en-US" dirty="0" smtClean="0"/>
              <a:t>content, a </a:t>
            </a:r>
            <a:r>
              <a:rPr lang="en-US" dirty="0"/>
              <a:t>Web site should also have a common look and feel across all of its pages, </a:t>
            </a:r>
            <a:r>
              <a:rPr lang="en-US" dirty="0" smtClean="0"/>
              <a:t>so that </a:t>
            </a:r>
            <a:r>
              <a:rPr lang="en-US" dirty="0"/>
              <a:t>site visitors know they are looking at a particular Web site. </a:t>
            </a:r>
            <a:endParaRPr lang="en-US" dirty="0" smtClean="0"/>
          </a:p>
          <a:p>
            <a:r>
              <a:rPr lang="en-US" dirty="0" smtClean="0"/>
              <a:t>This </a:t>
            </a:r>
            <a:r>
              <a:rPr lang="en-US" dirty="0"/>
              <a:t>means </a:t>
            </a:r>
            <a:r>
              <a:rPr lang="en-US" dirty="0" smtClean="0"/>
              <a:t>utilizing a </a:t>
            </a:r>
            <a:r>
              <a:rPr lang="en-US" dirty="0"/>
              <a:t>common style across the site: page layout, graphic design, and </a:t>
            </a:r>
            <a:r>
              <a:rPr lang="en-US" dirty="0" smtClean="0"/>
              <a:t>typographical elements </a:t>
            </a:r>
            <a:r>
              <a:rPr lang="en-US" dirty="0"/>
              <a:t>should reflect that style.</a:t>
            </a:r>
          </a:p>
        </p:txBody>
      </p:sp>
    </p:spTree>
    <p:extLst>
      <p:ext uri="{BB962C8B-B14F-4D97-AF65-F5344CB8AC3E}">
        <p14:creationId xmlns:p14="http://schemas.microsoft.com/office/powerpoint/2010/main" val="1637179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2519"/>
          </a:xfrm>
        </p:spPr>
        <p:txBody>
          <a:bodyPr>
            <a:normAutofit fontScale="90000"/>
          </a:bodyPr>
          <a:lstStyle/>
          <a:p>
            <a:endParaRPr lang="en-US" dirty="0"/>
          </a:p>
        </p:txBody>
      </p:sp>
      <p:sp>
        <p:nvSpPr>
          <p:cNvPr id="3" name="Content Placeholder 2"/>
          <p:cNvSpPr>
            <a:spLocks noGrp="1"/>
          </p:cNvSpPr>
          <p:nvPr>
            <p:ph idx="1"/>
          </p:nvPr>
        </p:nvSpPr>
        <p:spPr>
          <a:xfrm>
            <a:off x="462844" y="1320800"/>
            <a:ext cx="11367912" cy="5373511"/>
          </a:xfrm>
        </p:spPr>
        <p:txBody>
          <a:bodyPr/>
          <a:lstStyle/>
          <a:p>
            <a:r>
              <a:rPr lang="en-US" dirty="0"/>
              <a:t>There are also </a:t>
            </a:r>
            <a:r>
              <a:rPr lang="en-US" b="1" i="1" dirty="0"/>
              <a:t>architectural </a:t>
            </a:r>
            <a:r>
              <a:rPr lang="en-US" b="1" dirty="0"/>
              <a:t>concerns</a:t>
            </a:r>
            <a:r>
              <a:rPr lang="en-US" dirty="0" smtClean="0"/>
              <a:t>.</a:t>
            </a:r>
          </a:p>
          <a:p>
            <a:r>
              <a:rPr lang="en-US" dirty="0" smtClean="0"/>
              <a:t> </a:t>
            </a:r>
            <a:r>
              <a:rPr lang="en-US" dirty="0"/>
              <a:t>As a site grows in size and </a:t>
            </a:r>
            <a:r>
              <a:rPr lang="en-US" dirty="0" smtClean="0"/>
              <a:t>becomes more </a:t>
            </a:r>
            <a:r>
              <a:rPr lang="en-US" dirty="0"/>
              <a:t>complex, it becomes critically important to organize its content properly. </a:t>
            </a:r>
            <a:endParaRPr lang="en-US" dirty="0" smtClean="0"/>
          </a:p>
          <a:p>
            <a:r>
              <a:rPr lang="en-US" dirty="0" smtClean="0"/>
              <a:t>This includes </a:t>
            </a:r>
            <a:r>
              <a:rPr lang="en-US" dirty="0"/>
              <a:t>not just the layout of content on individual pages, but also the </a:t>
            </a:r>
            <a:r>
              <a:rPr lang="en-US" dirty="0" smtClean="0"/>
              <a:t>interconnections between </a:t>
            </a:r>
            <a:r>
              <a:rPr lang="en-US" dirty="0"/>
              <a:t>the pages themselves</a:t>
            </a:r>
            <a:r>
              <a:rPr lang="en-US" dirty="0" smtClean="0"/>
              <a:t>.</a:t>
            </a:r>
          </a:p>
          <a:p>
            <a:pPr marL="0" indent="0">
              <a:buNone/>
            </a:pPr>
            <a:endParaRPr lang="en-US" dirty="0"/>
          </a:p>
        </p:txBody>
      </p:sp>
    </p:spTree>
    <p:extLst>
      <p:ext uri="{BB962C8B-B14F-4D97-AF65-F5344CB8AC3E}">
        <p14:creationId xmlns:p14="http://schemas.microsoft.com/office/powerpoint/2010/main" val="12134183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4742"/>
          </a:xfrm>
        </p:spPr>
        <p:txBody>
          <a:bodyPr>
            <a:normAutofit fontScale="90000"/>
          </a:bodyPr>
          <a:lstStyle/>
          <a:p>
            <a:r>
              <a:rPr lang="en-US" b="1" dirty="0"/>
              <a:t>FROM WEB SITES TO WEB APPLICATIONS</a:t>
            </a:r>
            <a:endParaRPr lang="en-US" dirty="0"/>
          </a:p>
        </p:txBody>
      </p:sp>
      <p:sp>
        <p:nvSpPr>
          <p:cNvPr id="3" name="Content Placeholder 2"/>
          <p:cNvSpPr>
            <a:spLocks noGrp="1"/>
          </p:cNvSpPr>
          <p:nvPr>
            <p:ph idx="1"/>
          </p:nvPr>
        </p:nvSpPr>
        <p:spPr>
          <a:xfrm>
            <a:off x="349956" y="925689"/>
            <a:ext cx="11003844" cy="5667022"/>
          </a:xfrm>
        </p:spPr>
        <p:txBody>
          <a:bodyPr>
            <a:normAutofit/>
          </a:bodyPr>
          <a:lstStyle/>
          <a:p>
            <a:r>
              <a:rPr lang="en-US" dirty="0"/>
              <a:t>Initially, what people shared over the Internet consisted mostly of static </a:t>
            </a:r>
            <a:r>
              <a:rPr lang="en-US" dirty="0" smtClean="0"/>
              <a:t>information found </a:t>
            </a:r>
            <a:r>
              <a:rPr lang="en-US" dirty="0"/>
              <a:t>in files. </a:t>
            </a:r>
            <a:endParaRPr lang="en-US" dirty="0" smtClean="0"/>
          </a:p>
          <a:p>
            <a:r>
              <a:rPr lang="en-US" dirty="0" smtClean="0"/>
              <a:t>They </a:t>
            </a:r>
            <a:r>
              <a:rPr lang="en-US" dirty="0"/>
              <a:t>might edit these files and update their content, but there </a:t>
            </a:r>
            <a:r>
              <a:rPr lang="en-US" dirty="0" smtClean="0"/>
              <a:t>were few </a:t>
            </a:r>
            <a:r>
              <a:rPr lang="en-US" dirty="0"/>
              <a:t>truly </a:t>
            </a:r>
            <a:r>
              <a:rPr lang="en-US" i="1" dirty="0"/>
              <a:t>dynamic </a:t>
            </a:r>
            <a:r>
              <a:rPr lang="en-US" dirty="0"/>
              <a:t>information services on the Internet. Granted, there were a </a:t>
            </a:r>
            <a:r>
              <a:rPr lang="en-US" dirty="0" smtClean="0"/>
              <a:t>few exceptions</a:t>
            </a:r>
            <a:r>
              <a:rPr lang="en-US" dirty="0"/>
              <a:t>: search applications for finding files found on FTP archives and </a:t>
            </a:r>
            <a:r>
              <a:rPr lang="en-US" dirty="0" smtClean="0"/>
              <a:t>Gopher servers.</a:t>
            </a:r>
            <a:endParaRPr lang="en-US" dirty="0"/>
          </a:p>
          <a:p>
            <a:r>
              <a:rPr lang="en-US" dirty="0" smtClean="0"/>
              <a:t> </a:t>
            </a:r>
            <a:r>
              <a:rPr lang="en-US" dirty="0"/>
              <a:t>services that provided dynamic information directly, like the </a:t>
            </a:r>
            <a:r>
              <a:rPr lang="en-US" dirty="0" smtClean="0"/>
              <a:t>weather, or </a:t>
            </a:r>
            <a:r>
              <a:rPr lang="en-US" dirty="0"/>
              <a:t>the availability of cans from a soda dispensing machine. (One of the first </a:t>
            </a:r>
            <a:r>
              <a:rPr lang="en-US" dirty="0" smtClean="0"/>
              <a:t>Web applications </a:t>
            </a:r>
            <a:r>
              <a:rPr lang="en-US" dirty="0"/>
              <a:t>that Tim Berners-Lee demonstrated at CERN was a gateway for </a:t>
            </a:r>
            <a:r>
              <a:rPr lang="en-US" dirty="0" smtClean="0"/>
              <a:t>looking up </a:t>
            </a:r>
            <a:r>
              <a:rPr lang="en-US" dirty="0"/>
              <a:t>numbers from a phone book database using a Web browser.)</a:t>
            </a:r>
          </a:p>
        </p:txBody>
      </p:sp>
    </p:spTree>
    <p:extLst>
      <p:ext uri="{BB962C8B-B14F-4D97-AF65-F5344CB8AC3E}">
        <p14:creationId xmlns:p14="http://schemas.microsoft.com/office/powerpoint/2010/main" val="36924969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1853"/>
          </a:xfrm>
        </p:spPr>
        <p:txBody>
          <a:bodyPr>
            <a:normAutofit fontScale="90000"/>
          </a:bodyPr>
          <a:lstStyle/>
          <a:p>
            <a:r>
              <a:rPr lang="en-US" b="1" dirty="0"/>
              <a:t>Definition of a Web Application</a:t>
            </a:r>
            <a:endParaRPr lang="en-US" dirty="0"/>
          </a:p>
        </p:txBody>
      </p:sp>
      <p:sp>
        <p:nvSpPr>
          <p:cNvPr id="3" name="Content Placeholder 2"/>
          <p:cNvSpPr>
            <a:spLocks noGrp="1"/>
          </p:cNvSpPr>
          <p:nvPr>
            <p:ph idx="1"/>
          </p:nvPr>
        </p:nvSpPr>
        <p:spPr>
          <a:xfrm>
            <a:off x="259643" y="1038578"/>
            <a:ext cx="11717867" cy="5599289"/>
          </a:xfrm>
        </p:spPr>
        <p:txBody>
          <a:bodyPr/>
          <a:lstStyle/>
          <a:p>
            <a:r>
              <a:rPr lang="en-US" dirty="0"/>
              <a:t>What is a ‘Web application?’ By definition, it is something more than just a ‘Web site.’</a:t>
            </a:r>
          </a:p>
          <a:p>
            <a:r>
              <a:rPr lang="en-US" dirty="0"/>
              <a:t>It is a </a:t>
            </a:r>
            <a:r>
              <a:rPr lang="en-US" i="1" dirty="0"/>
              <a:t>client/server </a:t>
            </a:r>
            <a:r>
              <a:rPr lang="en-US" dirty="0"/>
              <a:t>application that uses a Web browser as its client program, and performs</a:t>
            </a:r>
          </a:p>
          <a:p>
            <a:r>
              <a:rPr lang="en-US" dirty="0"/>
              <a:t>an interactive service by connecting with servers over the Internet (or Intranet).</a:t>
            </a:r>
          </a:p>
          <a:p>
            <a:r>
              <a:rPr lang="en-US" dirty="0"/>
              <a:t>A Web site simply delivers content from static files. A Web application </a:t>
            </a:r>
            <a:r>
              <a:rPr lang="en-US" dirty="0" smtClean="0"/>
              <a:t>presents dynamically </a:t>
            </a:r>
            <a:r>
              <a:rPr lang="en-US" dirty="0"/>
              <a:t>tailored content based on request parameters, tracked user behaviors, </a:t>
            </a:r>
            <a:r>
              <a:rPr lang="en-US" dirty="0" smtClean="0"/>
              <a:t>and security </a:t>
            </a:r>
            <a:r>
              <a:rPr lang="en-US" dirty="0"/>
              <a:t>considerations.</a:t>
            </a:r>
          </a:p>
        </p:txBody>
      </p:sp>
    </p:spTree>
    <p:extLst>
      <p:ext uri="{BB962C8B-B14F-4D97-AF65-F5344CB8AC3E}">
        <p14:creationId xmlns:p14="http://schemas.microsoft.com/office/powerpoint/2010/main" val="18555105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b="1" dirty="0"/>
              <a:t>Principles of web application design</a:t>
            </a:r>
            <a:endParaRPr lang="en-US" dirty="0"/>
          </a:p>
        </p:txBody>
      </p:sp>
      <p:sp>
        <p:nvSpPr>
          <p:cNvPr id="3" name="Content Placeholder 2"/>
          <p:cNvSpPr>
            <a:spLocks noGrp="1"/>
          </p:cNvSpPr>
          <p:nvPr>
            <p:ph idx="1"/>
          </p:nvPr>
        </p:nvSpPr>
        <p:spPr>
          <a:xfrm>
            <a:off x="838200" y="993422"/>
            <a:ext cx="10515600" cy="5183541"/>
          </a:xfrm>
        </p:spPr>
        <p:txBody>
          <a:bodyPr>
            <a:normAutofit lnSpcReduction="10000"/>
          </a:bodyPr>
          <a:lstStyle/>
          <a:p>
            <a:r>
              <a:rPr lang="en-US" dirty="0"/>
              <a:t>We mean the core set of protocols and languages associated with Web applications.</a:t>
            </a:r>
          </a:p>
          <a:p>
            <a:r>
              <a:rPr lang="en-US" dirty="0"/>
              <a:t>This includes, of course, </a:t>
            </a:r>
            <a:r>
              <a:rPr lang="en-US" i="1" dirty="0"/>
              <a:t>HTTP </a:t>
            </a:r>
            <a:r>
              <a:rPr lang="en-US" dirty="0" smtClean="0"/>
              <a:t>(</a:t>
            </a:r>
            <a:r>
              <a:rPr lang="en-US" i="1" dirty="0" smtClean="0"/>
              <a:t>Hypertext </a:t>
            </a:r>
            <a:r>
              <a:rPr lang="en-US" i="1" dirty="0"/>
              <a:t>Transfer Protocol</a:t>
            </a:r>
            <a:r>
              <a:rPr lang="en-US" dirty="0"/>
              <a:t>) and </a:t>
            </a:r>
            <a:r>
              <a:rPr lang="en-US" i="1" dirty="0"/>
              <a:t>HTML</a:t>
            </a:r>
          </a:p>
          <a:p>
            <a:r>
              <a:rPr lang="en-US" dirty="0" smtClean="0"/>
              <a:t>(</a:t>
            </a:r>
            <a:r>
              <a:rPr lang="en-US" i="1" dirty="0" smtClean="0"/>
              <a:t>Hypertext </a:t>
            </a:r>
            <a:r>
              <a:rPr lang="en-US" i="1" dirty="0"/>
              <a:t>Markup Language</a:t>
            </a:r>
            <a:r>
              <a:rPr lang="en-US" dirty="0"/>
              <a:t>), which are fundamental to the creation and </a:t>
            </a:r>
            <a:r>
              <a:rPr lang="en-US" dirty="0" smtClean="0"/>
              <a:t>transmission of </a:t>
            </a:r>
            <a:r>
              <a:rPr lang="en-US" dirty="0"/>
              <a:t>Web pages</a:t>
            </a:r>
            <a:r>
              <a:rPr lang="en-US" dirty="0" smtClean="0"/>
              <a:t>.</a:t>
            </a:r>
          </a:p>
          <a:p>
            <a:r>
              <a:rPr lang="en-US" dirty="0" smtClean="0"/>
              <a:t> </a:t>
            </a:r>
            <a:r>
              <a:rPr lang="en-US" dirty="0"/>
              <a:t>It also includes the older Internet protocols like </a:t>
            </a:r>
            <a:r>
              <a:rPr lang="en-US" i="1" dirty="0"/>
              <a:t>Telnet </a:t>
            </a:r>
            <a:r>
              <a:rPr lang="en-US" dirty="0"/>
              <a:t>and</a:t>
            </a:r>
          </a:p>
          <a:p>
            <a:r>
              <a:rPr lang="en-US" i="1" dirty="0"/>
              <a:t>FTP</a:t>
            </a:r>
            <a:r>
              <a:rPr lang="en-US" dirty="0"/>
              <a:t>, protocols used for message transfer like </a:t>
            </a:r>
            <a:r>
              <a:rPr lang="en-US" i="1" dirty="0"/>
              <a:t>SMTP </a:t>
            </a:r>
            <a:r>
              <a:rPr lang="en-US" dirty="0"/>
              <a:t>and </a:t>
            </a:r>
            <a:r>
              <a:rPr lang="en-US" i="1" dirty="0"/>
              <a:t>IMAP</a:t>
            </a:r>
            <a:r>
              <a:rPr lang="en-US" dirty="0"/>
              <a:t>, plus advanced </a:t>
            </a:r>
            <a:r>
              <a:rPr lang="en-US" dirty="0" smtClean="0"/>
              <a:t>protocols and </a:t>
            </a:r>
            <a:r>
              <a:rPr lang="en-US" dirty="0"/>
              <a:t>languages like </a:t>
            </a:r>
            <a:r>
              <a:rPr lang="en-US" i="1" dirty="0"/>
              <a:t>XML</a:t>
            </a:r>
            <a:r>
              <a:rPr lang="en-US" dirty="0" smtClean="0"/>
              <a:t>.</a:t>
            </a:r>
          </a:p>
          <a:p>
            <a:r>
              <a:rPr lang="en-US" dirty="0" smtClean="0"/>
              <a:t> </a:t>
            </a:r>
            <a:r>
              <a:rPr lang="en-US" dirty="0"/>
              <a:t>Additionally, it includes knowledge of </a:t>
            </a:r>
            <a:r>
              <a:rPr lang="en-US" i="1" dirty="0" smtClean="0"/>
              <a:t>databases </a:t>
            </a:r>
            <a:r>
              <a:rPr lang="en-US" dirty="0" smtClean="0"/>
              <a:t>a</a:t>
            </a:r>
            <a:r>
              <a:rPr lang="en-US" dirty="0" smtClean="0"/>
              <a:t>nd </a:t>
            </a:r>
            <a:r>
              <a:rPr lang="en-US" i="1" dirty="0"/>
              <a:t>multimedia </a:t>
            </a:r>
            <a:r>
              <a:rPr lang="en-US" dirty="0"/>
              <a:t>presentation, </a:t>
            </a:r>
            <a:endParaRPr lang="en-US" dirty="0" smtClean="0"/>
          </a:p>
          <a:p>
            <a:r>
              <a:rPr lang="en-US" dirty="0" smtClean="0"/>
              <a:t>since </a:t>
            </a:r>
            <a:r>
              <a:rPr lang="en-US" dirty="0"/>
              <a:t>many sophisticated Web applications make </a:t>
            </a:r>
            <a:r>
              <a:rPr lang="en-US" dirty="0" smtClean="0"/>
              <a:t>use of </a:t>
            </a:r>
            <a:r>
              <a:rPr lang="en-US" dirty="0"/>
              <a:t>these technologies extensively</a:t>
            </a:r>
            <a:r>
              <a:rPr lang="en-US" dirty="0" smtClean="0"/>
              <a:t>.</a:t>
            </a:r>
            <a:endParaRPr lang="en-US" dirty="0"/>
          </a:p>
        </p:txBody>
      </p:sp>
    </p:spTree>
    <p:extLst>
      <p:ext uri="{BB962C8B-B14F-4D97-AF65-F5344CB8AC3E}">
        <p14:creationId xmlns:p14="http://schemas.microsoft.com/office/powerpoint/2010/main" val="35232637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ideal </a:t>
            </a:r>
            <a:r>
              <a:rPr lang="en-US" i="1" dirty="0"/>
              <a:t>Web application architect </a:t>
            </a:r>
            <a:r>
              <a:rPr lang="en-US" dirty="0"/>
              <a:t>must in some sense be a ‘jack of all trades’.</a:t>
            </a:r>
          </a:p>
          <a:p>
            <a:r>
              <a:rPr lang="en-US" dirty="0"/>
              <a:t>People who design Web applications must understand not only HTTP and </a:t>
            </a:r>
            <a:r>
              <a:rPr lang="en-US" dirty="0" smtClean="0"/>
              <a:t>HTML, but </a:t>
            </a:r>
            <a:r>
              <a:rPr lang="en-US" dirty="0"/>
              <a:t>the other underlying Internet protocols as well. </a:t>
            </a:r>
            <a:endParaRPr lang="en-US" dirty="0" smtClean="0"/>
          </a:p>
          <a:p>
            <a:r>
              <a:rPr lang="en-US" dirty="0" smtClean="0"/>
              <a:t>They </a:t>
            </a:r>
            <a:r>
              <a:rPr lang="en-US" dirty="0"/>
              <a:t>must be familiar </a:t>
            </a:r>
            <a:r>
              <a:rPr lang="en-US" dirty="0" smtClean="0"/>
              <a:t>with JavaScript</a:t>
            </a:r>
            <a:r>
              <a:rPr lang="en-US" dirty="0"/>
              <a:t>, XML, relational databases, graphic design and multimedia. </a:t>
            </a:r>
            <a:endParaRPr lang="en-US" dirty="0" smtClean="0"/>
          </a:p>
          <a:p>
            <a:r>
              <a:rPr lang="en-US" dirty="0" smtClean="0"/>
              <a:t>They must be </a:t>
            </a:r>
            <a:r>
              <a:rPr lang="en-US" dirty="0"/>
              <a:t>well versed in application server technology, and have a strong background </a:t>
            </a:r>
            <a:r>
              <a:rPr lang="en-US" dirty="0" smtClean="0"/>
              <a:t>in information </a:t>
            </a:r>
            <a:r>
              <a:rPr lang="en-US" dirty="0"/>
              <a:t>architecture.</a:t>
            </a:r>
          </a:p>
          <a:p>
            <a:endParaRPr lang="en-US" dirty="0"/>
          </a:p>
        </p:txBody>
      </p:sp>
    </p:spTree>
    <p:extLst>
      <p:ext uri="{BB962C8B-B14F-4D97-AF65-F5344CB8AC3E}">
        <p14:creationId xmlns:p14="http://schemas.microsoft.com/office/powerpoint/2010/main" val="5902260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7008"/>
          </a:xfrm>
        </p:spPr>
        <p:txBody>
          <a:bodyPr>
            <a:normAutofit fontScale="90000"/>
          </a:bodyPr>
          <a:lstStyle/>
          <a:p>
            <a:r>
              <a:rPr lang="en-US" dirty="0" smtClean="0"/>
              <a:t>TCP/IP Application Services</a:t>
            </a:r>
            <a:endParaRPr lang="en-US" dirty="0"/>
          </a:p>
        </p:txBody>
      </p:sp>
      <p:sp>
        <p:nvSpPr>
          <p:cNvPr id="3" name="Content Placeholder 2"/>
          <p:cNvSpPr>
            <a:spLocks noGrp="1"/>
          </p:cNvSpPr>
          <p:nvPr>
            <p:ph idx="1"/>
          </p:nvPr>
        </p:nvSpPr>
        <p:spPr>
          <a:xfrm>
            <a:off x="270933" y="1106311"/>
            <a:ext cx="11627556" cy="5588000"/>
          </a:xfrm>
        </p:spPr>
        <p:txBody>
          <a:bodyPr>
            <a:normAutofit lnSpcReduction="10000"/>
          </a:bodyPr>
          <a:lstStyle/>
          <a:p>
            <a:r>
              <a:rPr lang="en-US" dirty="0"/>
              <a:t>The </a:t>
            </a:r>
            <a:r>
              <a:rPr lang="en-US" dirty="0" smtClean="0"/>
              <a:t>protocols behind </a:t>
            </a:r>
            <a:r>
              <a:rPr lang="en-US" dirty="0"/>
              <a:t>the ARPANET evolved over time into the </a:t>
            </a:r>
            <a:r>
              <a:rPr lang="en-US" i="1" dirty="0"/>
              <a:t>TCP/IP Protocol Suite</a:t>
            </a:r>
            <a:r>
              <a:rPr lang="en-US" dirty="0"/>
              <a:t>, a </a:t>
            </a:r>
            <a:r>
              <a:rPr lang="en-US" dirty="0" smtClean="0"/>
              <a:t>layered taxonomy </a:t>
            </a:r>
            <a:r>
              <a:rPr lang="en-US" dirty="0"/>
              <a:t>of data communications protocols. The name TCP/IP refers to two of </a:t>
            </a:r>
            <a:r>
              <a:rPr lang="en-US" dirty="0" smtClean="0"/>
              <a:t>the most </a:t>
            </a:r>
            <a:r>
              <a:rPr lang="en-US" dirty="0"/>
              <a:t>important protocols within the suite: </a:t>
            </a:r>
            <a:endParaRPr lang="en-US" dirty="0" smtClean="0"/>
          </a:p>
          <a:p>
            <a:r>
              <a:rPr lang="en-US" dirty="0" smtClean="0"/>
              <a:t>TCP </a:t>
            </a:r>
            <a:r>
              <a:rPr lang="en-US" dirty="0"/>
              <a:t>(</a:t>
            </a:r>
            <a:r>
              <a:rPr lang="en-US" i="1" dirty="0"/>
              <a:t>Transmission Control Protocol</a:t>
            </a:r>
            <a:r>
              <a:rPr lang="en-US" dirty="0"/>
              <a:t>) </a:t>
            </a:r>
            <a:r>
              <a:rPr lang="en-US" dirty="0" smtClean="0"/>
              <a:t>and IP </a:t>
            </a:r>
            <a:r>
              <a:rPr lang="en-US" dirty="0"/>
              <a:t>(</a:t>
            </a:r>
            <a:r>
              <a:rPr lang="en-US" i="1" dirty="0"/>
              <a:t>Internet Protocol </a:t>
            </a:r>
            <a:r>
              <a:rPr lang="en-US" dirty="0"/>
              <a:t>), but the suite is comprised of many other significant </a:t>
            </a:r>
            <a:r>
              <a:rPr lang="en-US" dirty="0" smtClean="0"/>
              <a:t>protocols and </a:t>
            </a:r>
            <a:r>
              <a:rPr lang="en-US" dirty="0"/>
              <a:t>services</a:t>
            </a:r>
            <a:r>
              <a:rPr lang="en-US" dirty="0" smtClean="0"/>
              <a:t>.</a:t>
            </a:r>
          </a:p>
          <a:p>
            <a:r>
              <a:rPr lang="en-US" b="1" dirty="0"/>
              <a:t>Layers</a:t>
            </a:r>
          </a:p>
          <a:p>
            <a:r>
              <a:rPr lang="en-US" dirty="0"/>
              <a:t>The protocol layers associated with TCP/IP (above the ‘layer’ of physical </a:t>
            </a:r>
            <a:r>
              <a:rPr lang="en-US" dirty="0" smtClean="0"/>
              <a:t>interconnection) are</a:t>
            </a:r>
            <a:r>
              <a:rPr lang="en-US" dirty="0"/>
              <a:t>:</a:t>
            </a:r>
          </a:p>
          <a:p>
            <a:r>
              <a:rPr lang="en-US" dirty="0"/>
              <a:t>1. the </a:t>
            </a:r>
            <a:r>
              <a:rPr lang="en-US" i="1" dirty="0"/>
              <a:t>Network Interface </a:t>
            </a:r>
            <a:r>
              <a:rPr lang="en-US" dirty="0"/>
              <a:t>layer,</a:t>
            </a:r>
          </a:p>
          <a:p>
            <a:r>
              <a:rPr lang="en-US" dirty="0"/>
              <a:t>2. the </a:t>
            </a:r>
            <a:r>
              <a:rPr lang="en-US" i="1" dirty="0"/>
              <a:t>Internet </a:t>
            </a:r>
            <a:r>
              <a:rPr lang="en-US" dirty="0"/>
              <a:t>layer,</a:t>
            </a:r>
          </a:p>
          <a:p>
            <a:r>
              <a:rPr lang="en-US" dirty="0"/>
              <a:t>3. the </a:t>
            </a:r>
            <a:r>
              <a:rPr lang="en-US" i="1" dirty="0"/>
              <a:t>Transport </a:t>
            </a:r>
            <a:r>
              <a:rPr lang="en-US" dirty="0" smtClean="0"/>
              <a:t>layer</a:t>
            </a:r>
            <a:endParaRPr lang="en-US" dirty="0"/>
          </a:p>
          <a:p>
            <a:r>
              <a:rPr lang="en-US" dirty="0"/>
              <a:t>4. the </a:t>
            </a:r>
            <a:r>
              <a:rPr lang="en-US" i="1" dirty="0"/>
              <a:t>Application </a:t>
            </a:r>
            <a:r>
              <a:rPr lang="en-US" dirty="0" smtClean="0"/>
              <a:t>layer</a:t>
            </a:r>
            <a:endParaRPr lang="en-US" dirty="0"/>
          </a:p>
        </p:txBody>
      </p:sp>
    </p:spTree>
    <p:extLst>
      <p:ext uri="{BB962C8B-B14F-4D97-AF65-F5344CB8AC3E}">
        <p14:creationId xmlns:p14="http://schemas.microsoft.com/office/powerpoint/2010/main" val="41504563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34786"/>
          </a:xfrm>
        </p:spPr>
        <p:txBody>
          <a:bodyPr>
            <a:normAutofit fontScale="90000"/>
          </a:bodyPr>
          <a:lstStyle/>
          <a:p>
            <a:endParaRPr lang="en-US" dirty="0"/>
          </a:p>
        </p:txBody>
      </p:sp>
      <p:sp>
        <p:nvSpPr>
          <p:cNvPr id="3" name="Content Placeholder 2"/>
          <p:cNvSpPr>
            <a:spLocks noGrp="1"/>
          </p:cNvSpPr>
          <p:nvPr>
            <p:ph idx="1"/>
          </p:nvPr>
        </p:nvSpPr>
        <p:spPr>
          <a:xfrm>
            <a:off x="838200" y="790222"/>
            <a:ext cx="10515600" cy="5386741"/>
          </a:xfrm>
        </p:spPr>
        <p:txBody>
          <a:bodyPr>
            <a:normAutofit/>
          </a:bodyPr>
          <a:lstStyle/>
          <a:p>
            <a:r>
              <a:rPr lang="en-US" dirty="0"/>
              <a:t>The </a:t>
            </a:r>
            <a:r>
              <a:rPr lang="en-US" i="1" dirty="0"/>
              <a:t>Network Interface layer </a:t>
            </a:r>
            <a:r>
              <a:rPr lang="en-US" dirty="0"/>
              <a:t>is the layer responsible for the lowest level of </a:t>
            </a:r>
            <a:r>
              <a:rPr lang="en-US" dirty="0" smtClean="0"/>
              <a:t>data transmission </a:t>
            </a:r>
            <a:r>
              <a:rPr lang="en-US" dirty="0"/>
              <a:t>within TCP/IP, facilitating communication with the underlying </a:t>
            </a:r>
            <a:r>
              <a:rPr lang="en-US" dirty="0" smtClean="0"/>
              <a:t>physical network</a:t>
            </a:r>
            <a:r>
              <a:rPr lang="en-US" dirty="0"/>
              <a:t>.</a:t>
            </a:r>
          </a:p>
          <a:p>
            <a:r>
              <a:rPr lang="en-US" dirty="0"/>
              <a:t>The </a:t>
            </a:r>
            <a:r>
              <a:rPr lang="en-US" i="1" dirty="0"/>
              <a:t>Internet layer </a:t>
            </a:r>
            <a:r>
              <a:rPr lang="en-US" dirty="0"/>
              <a:t>provides the mechanisms for intersystem </a:t>
            </a:r>
            <a:r>
              <a:rPr lang="en-US" dirty="0" smtClean="0"/>
              <a:t>communications, controlling </a:t>
            </a:r>
            <a:r>
              <a:rPr lang="en-US" dirty="0"/>
              <a:t>message routing, validity checking, and message header </a:t>
            </a:r>
            <a:r>
              <a:rPr lang="en-US" dirty="0" smtClean="0"/>
              <a:t>composition/decomposition</a:t>
            </a:r>
            <a:r>
              <a:rPr lang="en-US" dirty="0"/>
              <a:t>. The protocol known as IP (which stands, oddly enough, </a:t>
            </a:r>
            <a:r>
              <a:rPr lang="en-US" dirty="0" smtClean="0"/>
              <a:t>for Internet </a:t>
            </a:r>
            <a:r>
              <a:rPr lang="en-US" dirty="0"/>
              <a:t>Protocol) operates on this layer, as does </a:t>
            </a:r>
            <a:r>
              <a:rPr lang="en-US" i="1" dirty="0"/>
              <a:t>ICMP </a:t>
            </a:r>
            <a:r>
              <a:rPr lang="en-US" dirty="0"/>
              <a:t>(the </a:t>
            </a:r>
            <a:r>
              <a:rPr lang="en-US" i="1" dirty="0"/>
              <a:t>Internet Control </a:t>
            </a:r>
            <a:r>
              <a:rPr lang="en-US" i="1" dirty="0" smtClean="0"/>
              <a:t>Message Protocol</a:t>
            </a:r>
            <a:r>
              <a:rPr lang="en-US" dirty="0"/>
              <a:t>). </a:t>
            </a:r>
            <a:endParaRPr lang="en-US" dirty="0" smtClean="0"/>
          </a:p>
          <a:p>
            <a:r>
              <a:rPr lang="en-US" dirty="0" smtClean="0"/>
              <a:t>ICMP </a:t>
            </a:r>
            <a:r>
              <a:rPr lang="en-US" dirty="0"/>
              <a:t>handles the transmission of control and error </a:t>
            </a:r>
            <a:r>
              <a:rPr lang="en-US" dirty="0" smtClean="0"/>
              <a:t>messages between </a:t>
            </a:r>
            <a:r>
              <a:rPr lang="en-US" dirty="0"/>
              <a:t>systems. </a:t>
            </a:r>
            <a:r>
              <a:rPr lang="en-US" i="1" dirty="0"/>
              <a:t>Ping </a:t>
            </a:r>
            <a:r>
              <a:rPr lang="en-US" dirty="0"/>
              <a:t>is an Internet service that operates through </a:t>
            </a:r>
            <a:r>
              <a:rPr lang="en-US" dirty="0" smtClean="0"/>
              <a:t>ICMP. The </a:t>
            </a:r>
            <a:r>
              <a:rPr lang="en-US" i="1" dirty="0"/>
              <a:t>Transport layer </a:t>
            </a:r>
            <a:r>
              <a:rPr lang="en-US" dirty="0"/>
              <a:t>provides message transport services between </a:t>
            </a:r>
            <a:r>
              <a:rPr lang="en-US" dirty="0" smtClean="0"/>
              <a:t>applications running </a:t>
            </a:r>
            <a:r>
              <a:rPr lang="en-US" dirty="0"/>
              <a:t>on remote systems. This is the layer in which TCP (the </a:t>
            </a:r>
            <a:r>
              <a:rPr lang="en-US" i="1" dirty="0"/>
              <a:t>Transmission </a:t>
            </a:r>
            <a:r>
              <a:rPr lang="en-US" i="1" dirty="0" smtClean="0"/>
              <a:t>Control Protocol</a:t>
            </a:r>
            <a:r>
              <a:rPr lang="en-US" dirty="0"/>
              <a:t>) operates. </a:t>
            </a:r>
            <a:endParaRPr lang="en-US" dirty="0" smtClean="0"/>
          </a:p>
        </p:txBody>
      </p:sp>
    </p:spTree>
    <p:extLst>
      <p:ext uri="{BB962C8B-B14F-4D97-AF65-F5344CB8AC3E}">
        <p14:creationId xmlns:p14="http://schemas.microsoft.com/office/powerpoint/2010/main" val="41845429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TCP provides reliable, connection-oriented message transport.</a:t>
            </a:r>
          </a:p>
          <a:p>
            <a:r>
              <a:rPr lang="en-US" dirty="0"/>
              <a:t>Most of the well-known Internet services make use of TCP as their foundation</a:t>
            </a:r>
            <a:r>
              <a:rPr lang="en-US" dirty="0" smtClean="0"/>
              <a:t>.</a:t>
            </a:r>
          </a:p>
          <a:p>
            <a:r>
              <a:rPr lang="en-US" dirty="0" smtClean="0"/>
              <a:t>However</a:t>
            </a:r>
            <a:r>
              <a:rPr lang="en-US" dirty="0"/>
              <a:t>, some services that do not require the reliability (and overhead) associated with TCP make use of </a:t>
            </a:r>
            <a:r>
              <a:rPr lang="en-US" i="1" dirty="0"/>
              <a:t>UDP </a:t>
            </a:r>
            <a:r>
              <a:rPr lang="en-US" dirty="0"/>
              <a:t>(which stands for </a:t>
            </a:r>
            <a:r>
              <a:rPr lang="en-US" i="1" dirty="0"/>
              <a:t>User Datagram Protocol</a:t>
            </a:r>
            <a:r>
              <a:rPr lang="en-US" dirty="0"/>
              <a:t>).</a:t>
            </a:r>
          </a:p>
          <a:p>
            <a:r>
              <a:rPr lang="en-US" dirty="0"/>
              <a:t>For instance, streaming audio and video services would gladly sacrifice a few lost packets to get faster performance out of their data streams, so these services often operate over UDP, which trades reliability for performance.</a:t>
            </a:r>
          </a:p>
          <a:p>
            <a:r>
              <a:rPr lang="en-US" dirty="0"/>
              <a:t>The </a:t>
            </a:r>
            <a:r>
              <a:rPr lang="en-US" i="1" dirty="0"/>
              <a:t>Application layer </a:t>
            </a:r>
            <a:r>
              <a:rPr lang="en-US" dirty="0"/>
              <a:t>is the highest level within the TCP/IP protocol stack. It is</a:t>
            </a:r>
          </a:p>
          <a:p>
            <a:r>
              <a:rPr lang="en-US" dirty="0"/>
              <a:t>within this layer that most of the services we associate with ‘the Internet’ operate.</a:t>
            </a:r>
          </a:p>
          <a:p>
            <a:endParaRPr lang="en-US" dirty="0"/>
          </a:p>
        </p:txBody>
      </p:sp>
    </p:spTree>
    <p:extLst>
      <p:ext uri="{BB962C8B-B14F-4D97-AF65-F5344CB8AC3E}">
        <p14:creationId xmlns:p14="http://schemas.microsoft.com/office/powerpoint/2010/main" val="41081620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36386"/>
          </a:xfrm>
        </p:spPr>
        <p:txBody>
          <a:bodyPr>
            <a:normAutofit fontScale="90000"/>
          </a:bodyPr>
          <a:lstStyle/>
          <a:p>
            <a:endParaRPr lang="en-US" dirty="0"/>
          </a:p>
        </p:txBody>
      </p:sp>
      <p:sp>
        <p:nvSpPr>
          <p:cNvPr id="3" name="Content Placeholder 2"/>
          <p:cNvSpPr>
            <a:spLocks noGrp="1"/>
          </p:cNvSpPr>
          <p:nvPr>
            <p:ph idx="1"/>
          </p:nvPr>
        </p:nvSpPr>
        <p:spPr>
          <a:xfrm>
            <a:off x="440267" y="880533"/>
            <a:ext cx="10913533" cy="5689600"/>
          </a:xfrm>
        </p:spPr>
        <p:txBody>
          <a:bodyPr>
            <a:normAutofit lnSpcReduction="10000"/>
          </a:bodyPr>
          <a:lstStyle/>
          <a:p>
            <a:r>
              <a:rPr lang="en-US" b="1" dirty="0"/>
              <a:t>TCP/IP Overview:</a:t>
            </a:r>
            <a:r>
              <a:rPr lang="en-US" dirty="0"/>
              <a:t> Transmission Control Protocol (TCP) and Internet Protocol (IP) are the foundational protocols of the internet. TCP ensures reliable data delivery between devices, while IP is responsible for addressing and routing packets of data across networks.</a:t>
            </a:r>
          </a:p>
          <a:p>
            <a:r>
              <a:rPr lang="en-US" b="1" dirty="0"/>
              <a:t>Application Layer Protocols:</a:t>
            </a:r>
            <a:r>
              <a:rPr lang="en-US" dirty="0"/>
              <a:t> TCP/IP includes a suite of protocols at the application layer that facilitate communication between software applications. Some prominent ones include:</a:t>
            </a:r>
          </a:p>
          <a:p>
            <a:pPr lvl="1"/>
            <a:r>
              <a:rPr lang="en-US" b="1" dirty="0"/>
              <a:t>Hypertext Transfer Protocol (HTTP):</a:t>
            </a:r>
            <a:r>
              <a:rPr lang="en-US" dirty="0"/>
              <a:t> Facilitates the transfer of hypertext, commonly used for accessing and retrieving web pages.</a:t>
            </a:r>
          </a:p>
          <a:p>
            <a:pPr lvl="1"/>
            <a:r>
              <a:rPr lang="en-US" b="1" dirty="0"/>
              <a:t>File Transfer Protocol (FTP):</a:t>
            </a:r>
            <a:r>
              <a:rPr lang="en-US" dirty="0"/>
              <a:t> Enables the transfer of files between computers on a network.</a:t>
            </a:r>
          </a:p>
          <a:p>
            <a:pPr lvl="1"/>
            <a:r>
              <a:rPr lang="en-US" b="1" dirty="0"/>
              <a:t>Simple Mail Transfer Protocol (SMTP):</a:t>
            </a:r>
            <a:r>
              <a:rPr lang="en-US" dirty="0"/>
              <a:t> Manages the sending of emails between servers.</a:t>
            </a:r>
          </a:p>
          <a:p>
            <a:pPr lvl="1"/>
            <a:r>
              <a:rPr lang="en-US" b="1" dirty="0"/>
              <a:t>Post Office Protocol (POP) and Internet Message Access Protocol (IMAP):</a:t>
            </a:r>
            <a:r>
              <a:rPr lang="en-US" dirty="0"/>
              <a:t> Used for retrieving emails from a server to a client.</a:t>
            </a:r>
          </a:p>
          <a:p>
            <a:endParaRPr lang="en-US" dirty="0"/>
          </a:p>
        </p:txBody>
      </p:sp>
    </p:spTree>
    <p:extLst>
      <p:ext uri="{BB962C8B-B14F-4D97-AF65-F5344CB8AC3E}">
        <p14:creationId xmlns:p14="http://schemas.microsoft.com/office/powerpoint/2010/main" val="32872826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7319"/>
          </a:xfrm>
        </p:spPr>
        <p:txBody>
          <a:bodyPr/>
          <a:lstStyle/>
          <a:p>
            <a:r>
              <a:rPr lang="en-US" dirty="0"/>
              <a:t>Hypertext Transfer Protocol (HTTP)</a:t>
            </a:r>
          </a:p>
        </p:txBody>
      </p:sp>
      <p:sp>
        <p:nvSpPr>
          <p:cNvPr id="3" name="Content Placeholder 2"/>
          <p:cNvSpPr>
            <a:spLocks noGrp="1"/>
          </p:cNvSpPr>
          <p:nvPr>
            <p:ph idx="1"/>
          </p:nvPr>
        </p:nvSpPr>
        <p:spPr>
          <a:xfrm>
            <a:off x="838200" y="1072444"/>
            <a:ext cx="10515600" cy="5520267"/>
          </a:xfrm>
        </p:spPr>
        <p:txBody>
          <a:bodyPr/>
          <a:lstStyle/>
          <a:p>
            <a:r>
              <a:rPr lang="en-US" dirty="0"/>
              <a:t>Hypertext Transfer Protocol (HTTP) is a fundamental protocol of the internet that is used for communication between web browsers and servers. It is an application layer protocol in the TCP/IP protocol suite and serves as the foundation for data communication on the World Wide Web. </a:t>
            </a:r>
          </a:p>
          <a:p>
            <a:r>
              <a:rPr lang="en-US" b="1" dirty="0"/>
              <a:t>Communication Model:</a:t>
            </a:r>
            <a:endParaRPr lang="en-US" dirty="0"/>
          </a:p>
          <a:p>
            <a:r>
              <a:rPr lang="en-US" b="1" dirty="0"/>
              <a:t>Client-Server Architecture:</a:t>
            </a:r>
            <a:r>
              <a:rPr lang="en-US" dirty="0"/>
              <a:t> HTTP follows a client-server model, where the client (typically a web browser) sends requests to the server, and the server responds with the requested resources (e.g., HTML pages, images, or other files).</a:t>
            </a:r>
          </a:p>
          <a:p>
            <a:endParaRPr lang="en-US" dirty="0"/>
          </a:p>
        </p:txBody>
      </p:sp>
    </p:spTree>
    <p:extLst>
      <p:ext uri="{BB962C8B-B14F-4D97-AF65-F5344CB8AC3E}">
        <p14:creationId xmlns:p14="http://schemas.microsoft.com/office/powerpoint/2010/main" val="24756970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dirty="0"/>
              <a:t>File Transfer Protocol (FTP)</a:t>
            </a:r>
          </a:p>
        </p:txBody>
      </p:sp>
      <p:sp>
        <p:nvSpPr>
          <p:cNvPr id="3" name="Content Placeholder 2"/>
          <p:cNvSpPr>
            <a:spLocks noGrp="1"/>
          </p:cNvSpPr>
          <p:nvPr>
            <p:ph idx="1"/>
          </p:nvPr>
        </p:nvSpPr>
        <p:spPr>
          <a:xfrm>
            <a:off x="838200" y="1004711"/>
            <a:ext cx="10515600" cy="5172252"/>
          </a:xfrm>
        </p:spPr>
        <p:txBody>
          <a:bodyPr/>
          <a:lstStyle/>
          <a:p>
            <a:r>
              <a:rPr lang="en-US" dirty="0"/>
              <a:t>File Transfer Protocol (FTP) is a standard network protocol used for the transfer of files between a client and a server on a computer network. It operates on the application layer of the OSI model and uses a client-server architecture. The primary purpose of FTP is to enable the exchange of files over a TCP/IP-based network. Here are the key aspects of File Transfer Protocol</a:t>
            </a:r>
            <a:r>
              <a:rPr lang="en-US" dirty="0" smtClean="0"/>
              <a:t>:</a:t>
            </a:r>
          </a:p>
          <a:p>
            <a:r>
              <a:rPr lang="en-US" b="1" dirty="0"/>
              <a:t>Client-Server Architecture:</a:t>
            </a:r>
            <a:endParaRPr lang="en-US" dirty="0"/>
          </a:p>
          <a:p>
            <a:r>
              <a:rPr lang="en-US" b="1" dirty="0"/>
              <a:t>Client:</a:t>
            </a:r>
            <a:r>
              <a:rPr lang="en-US" dirty="0"/>
              <a:t> The user or system that initiates the file transfer by making requests to the FTP server.</a:t>
            </a:r>
          </a:p>
          <a:p>
            <a:r>
              <a:rPr lang="en-US" b="1" dirty="0"/>
              <a:t>Server:</a:t>
            </a:r>
            <a:r>
              <a:rPr lang="en-US" dirty="0"/>
              <a:t> The system that hosts the files and responds to client requests, facilitating file transfers.</a:t>
            </a:r>
          </a:p>
          <a:p>
            <a:endParaRPr lang="en-US" dirty="0"/>
          </a:p>
        </p:txBody>
      </p:sp>
    </p:spTree>
    <p:extLst>
      <p:ext uri="{BB962C8B-B14F-4D97-AF65-F5344CB8AC3E}">
        <p14:creationId xmlns:p14="http://schemas.microsoft.com/office/powerpoint/2010/main" val="75778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3142"/>
          </a:xfrm>
        </p:spPr>
        <p:txBody>
          <a:bodyPr>
            <a:normAutofit fontScale="90000"/>
          </a:bodyPr>
          <a:lstStyle/>
          <a:p>
            <a:endParaRPr lang="en-US" dirty="0"/>
          </a:p>
        </p:txBody>
      </p:sp>
      <p:sp>
        <p:nvSpPr>
          <p:cNvPr id="3" name="Content Placeholder 2"/>
          <p:cNvSpPr>
            <a:spLocks noGrp="1"/>
          </p:cNvSpPr>
          <p:nvPr>
            <p:ph idx="1"/>
          </p:nvPr>
        </p:nvSpPr>
        <p:spPr>
          <a:xfrm>
            <a:off x="838200" y="1038578"/>
            <a:ext cx="10515600" cy="5138385"/>
          </a:xfrm>
        </p:spPr>
        <p:txBody>
          <a:bodyPr/>
          <a:lstStyle/>
          <a:p>
            <a:r>
              <a:rPr lang="en-US" b="1" dirty="0"/>
              <a:t>Connection Modes:</a:t>
            </a:r>
            <a:endParaRPr lang="en-US" dirty="0"/>
          </a:p>
          <a:p>
            <a:r>
              <a:rPr lang="en-US" b="1" dirty="0"/>
              <a:t>Active Mode:</a:t>
            </a:r>
            <a:r>
              <a:rPr lang="en-US" dirty="0"/>
              <a:t> In active mode FTP, the client opens a random port for data transfer, and the server connects to that port. This mode may face issues with firewalls and network address translation (NAT) setups because the server initiates the connection.</a:t>
            </a:r>
          </a:p>
          <a:p>
            <a:r>
              <a:rPr lang="en-US" b="1" dirty="0"/>
              <a:t>Passive Mode:</a:t>
            </a:r>
            <a:r>
              <a:rPr lang="en-US" dirty="0"/>
              <a:t> In passive mode FTP, the client initiates both the control and data connections. The server opens a random port for data transfer, and the client connects to that port. Passive mode is often preferred for its compatibility with modern networking setups.</a:t>
            </a:r>
          </a:p>
          <a:p>
            <a:endParaRPr lang="en-US" dirty="0"/>
          </a:p>
        </p:txBody>
      </p:sp>
    </p:spTree>
    <p:extLst>
      <p:ext uri="{BB962C8B-B14F-4D97-AF65-F5344CB8AC3E}">
        <p14:creationId xmlns:p14="http://schemas.microsoft.com/office/powerpoint/2010/main" val="35346728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8608"/>
          </a:xfrm>
        </p:spPr>
        <p:txBody>
          <a:bodyPr/>
          <a:lstStyle/>
          <a:p>
            <a:r>
              <a:rPr lang="en-US" b="1" dirty="0"/>
              <a:t>SMTP (Simple Mail Transfer Protocol):</a:t>
            </a:r>
            <a:endParaRPr lang="en-US" dirty="0"/>
          </a:p>
        </p:txBody>
      </p:sp>
      <p:sp>
        <p:nvSpPr>
          <p:cNvPr id="3" name="Content Placeholder 2"/>
          <p:cNvSpPr>
            <a:spLocks noGrp="1"/>
          </p:cNvSpPr>
          <p:nvPr>
            <p:ph idx="1"/>
          </p:nvPr>
        </p:nvSpPr>
        <p:spPr>
          <a:xfrm>
            <a:off x="838200" y="1174044"/>
            <a:ext cx="10515600" cy="5002919"/>
          </a:xfrm>
        </p:spPr>
        <p:txBody>
          <a:bodyPr/>
          <a:lstStyle/>
          <a:p>
            <a:r>
              <a:rPr lang="en-US" dirty="0"/>
              <a:t>SMTP, or Simple Mail Transfer Protocol, is a standard communication protocol used for the transmission of electronic mail (email) over the internet. It is an application layer protocol that enables the sending of emails from a client to a server or between servers. Here are the key features and concepts associated with SMTP:</a:t>
            </a:r>
          </a:p>
          <a:p>
            <a:r>
              <a:rPr lang="en-US" b="1" dirty="0"/>
              <a:t>Email Transmission:</a:t>
            </a:r>
            <a:endParaRPr lang="en-US" dirty="0"/>
          </a:p>
          <a:p>
            <a:pPr lvl="1"/>
            <a:r>
              <a:rPr lang="en-US" dirty="0"/>
              <a:t>SMTP is responsible for sending outgoing emails. It works by transferring messages from the sender's email client or server to the recipient's email server.</a:t>
            </a:r>
          </a:p>
          <a:p>
            <a:pPr lvl="1"/>
            <a:r>
              <a:rPr lang="en-US" dirty="0"/>
              <a:t>It uses a store-and-forward mechanism, where the email server temporarily stores the email and forwards it to the recipient's server when it is available.</a:t>
            </a:r>
          </a:p>
          <a:p>
            <a:endParaRPr lang="en-US" dirty="0"/>
          </a:p>
        </p:txBody>
      </p:sp>
    </p:spTree>
    <p:extLst>
      <p:ext uri="{BB962C8B-B14F-4D97-AF65-F5344CB8AC3E}">
        <p14:creationId xmlns:p14="http://schemas.microsoft.com/office/powerpoint/2010/main" val="23979013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6697"/>
          </a:xfrm>
        </p:spPr>
        <p:txBody>
          <a:bodyPr>
            <a:normAutofit fontScale="90000"/>
          </a:bodyPr>
          <a:lstStyle/>
          <a:p>
            <a:endParaRPr lang="en-US" dirty="0"/>
          </a:p>
        </p:txBody>
      </p:sp>
      <p:sp>
        <p:nvSpPr>
          <p:cNvPr id="3" name="Content Placeholder 2"/>
          <p:cNvSpPr>
            <a:spLocks noGrp="1"/>
          </p:cNvSpPr>
          <p:nvPr>
            <p:ph idx="1"/>
          </p:nvPr>
        </p:nvSpPr>
        <p:spPr>
          <a:xfrm>
            <a:off x="838200" y="982133"/>
            <a:ext cx="10515600" cy="5194830"/>
          </a:xfrm>
        </p:spPr>
        <p:txBody>
          <a:bodyPr>
            <a:normAutofit/>
          </a:bodyPr>
          <a:lstStyle/>
          <a:p>
            <a:r>
              <a:rPr lang="en-US" b="1" dirty="0" smtClean="0"/>
              <a:t>Port </a:t>
            </a:r>
            <a:r>
              <a:rPr lang="en-US" b="1" dirty="0"/>
              <a:t>Number:</a:t>
            </a:r>
            <a:endParaRPr lang="en-US" dirty="0"/>
          </a:p>
          <a:p>
            <a:pPr lvl="1"/>
            <a:r>
              <a:rPr lang="en-US" dirty="0"/>
              <a:t>SMTP typically uses port 25 for communication between email clients and servers. However, for secure communication, SMTP over TLS/SSL may use port 587.</a:t>
            </a:r>
          </a:p>
          <a:p>
            <a:r>
              <a:rPr lang="en-US" b="1" dirty="0"/>
              <a:t>Authentication:</a:t>
            </a:r>
            <a:endParaRPr lang="en-US" dirty="0"/>
          </a:p>
          <a:p>
            <a:pPr lvl="1"/>
            <a:r>
              <a:rPr lang="en-US" dirty="0"/>
              <a:t>SMTP authentication is crucial for preventing unauthorized access. It requires users to provide valid credentials (username and password) to send emails through the server.</a:t>
            </a:r>
          </a:p>
          <a:p>
            <a:endParaRPr lang="en-US" dirty="0"/>
          </a:p>
        </p:txBody>
      </p:sp>
    </p:spTree>
    <p:extLst>
      <p:ext uri="{BB962C8B-B14F-4D97-AF65-F5344CB8AC3E}">
        <p14:creationId xmlns:p14="http://schemas.microsoft.com/office/powerpoint/2010/main" val="22987375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b="1" dirty="0"/>
              <a:t>POP (Post Office Protocol):</a:t>
            </a:r>
            <a:endParaRPr lang="en-US" dirty="0"/>
          </a:p>
        </p:txBody>
      </p:sp>
      <p:sp>
        <p:nvSpPr>
          <p:cNvPr id="3" name="Content Placeholder 2"/>
          <p:cNvSpPr>
            <a:spLocks noGrp="1"/>
          </p:cNvSpPr>
          <p:nvPr>
            <p:ph idx="1"/>
          </p:nvPr>
        </p:nvSpPr>
        <p:spPr>
          <a:xfrm>
            <a:off x="838200" y="1016000"/>
            <a:ext cx="10515600" cy="5160963"/>
          </a:xfrm>
        </p:spPr>
        <p:txBody>
          <a:bodyPr>
            <a:normAutofit lnSpcReduction="10000"/>
          </a:bodyPr>
          <a:lstStyle/>
          <a:p>
            <a:r>
              <a:rPr lang="en-US" dirty="0"/>
              <a:t>POP, or Post Office Protocol, is an application layer protocol used for retrieving emails from a mail server. There are two main versions: POP2 and POP3, with POP3 being the more widely used version. Here are the key aspects of POP:</a:t>
            </a:r>
          </a:p>
          <a:p>
            <a:r>
              <a:rPr lang="en-US" b="1" dirty="0"/>
              <a:t>Email Retrieval:</a:t>
            </a:r>
            <a:endParaRPr lang="en-US" dirty="0"/>
          </a:p>
          <a:p>
            <a:pPr lvl="1"/>
            <a:r>
              <a:rPr lang="en-US" dirty="0"/>
              <a:t>POP allows email clients to retrieve messages from a mail server. Once retrieved, the messages are usually deleted from the server, and a local copy is stored on the user's device.</a:t>
            </a:r>
          </a:p>
          <a:p>
            <a:r>
              <a:rPr lang="en-US" b="1" dirty="0"/>
              <a:t>Authentication:</a:t>
            </a:r>
            <a:endParaRPr lang="en-US" dirty="0"/>
          </a:p>
          <a:p>
            <a:pPr lvl="1"/>
            <a:r>
              <a:rPr lang="en-US" dirty="0"/>
              <a:t>Similar to SMTP, POP requires authentication to access an email account. Users need to provide a valid username and password to retrieve their emails.</a:t>
            </a:r>
          </a:p>
          <a:p>
            <a:r>
              <a:rPr lang="en-US" b="1" dirty="0"/>
              <a:t>Port Number:</a:t>
            </a:r>
            <a:endParaRPr lang="en-US" dirty="0"/>
          </a:p>
          <a:p>
            <a:pPr lvl="1"/>
            <a:r>
              <a:rPr lang="en-US" dirty="0"/>
              <a:t>POP typically uses port 110 for unencrypted communication. For secure communication, POP3 over TLS/SSL uses port 995.</a:t>
            </a:r>
          </a:p>
          <a:p>
            <a:endParaRPr lang="en-US" dirty="0"/>
          </a:p>
        </p:txBody>
      </p:sp>
    </p:spTree>
    <p:extLst>
      <p:ext uri="{BB962C8B-B14F-4D97-AF65-F5344CB8AC3E}">
        <p14:creationId xmlns:p14="http://schemas.microsoft.com/office/powerpoint/2010/main" val="38465242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2164"/>
          </a:xfrm>
        </p:spPr>
        <p:txBody>
          <a:bodyPr>
            <a:normAutofit fontScale="90000"/>
          </a:bodyPr>
          <a:lstStyle/>
          <a:p>
            <a:r>
              <a:rPr lang="en-US" dirty="0" smtClean="0"/>
              <a:t>Socket Communication</a:t>
            </a:r>
            <a:endParaRPr lang="en-US" dirty="0"/>
          </a:p>
        </p:txBody>
      </p:sp>
      <p:sp>
        <p:nvSpPr>
          <p:cNvPr id="3" name="Content Placeholder 2"/>
          <p:cNvSpPr>
            <a:spLocks noGrp="1"/>
          </p:cNvSpPr>
          <p:nvPr>
            <p:ph idx="1"/>
          </p:nvPr>
        </p:nvSpPr>
        <p:spPr>
          <a:xfrm>
            <a:off x="838200" y="1140178"/>
            <a:ext cx="10515600" cy="5036785"/>
          </a:xfrm>
        </p:spPr>
        <p:txBody>
          <a:bodyPr>
            <a:normAutofit/>
          </a:bodyPr>
          <a:lstStyle/>
          <a:p>
            <a:r>
              <a:rPr lang="en-US" sz="2400" dirty="0"/>
              <a:t>Socket communication is a fundamental concept in network programming that enables communication between two processes (applications or services) running on different devices over a network. Sockets provide a standard mechanism for processes on different devices to establish a connection, exchange data, and communicate with each other. This communication can occur within the same computer (inter-process communication) or over a network (inter-device communication</a:t>
            </a:r>
            <a:r>
              <a:rPr lang="en-US" sz="2400" dirty="0" smtClean="0"/>
              <a:t>).</a:t>
            </a:r>
          </a:p>
          <a:p>
            <a:r>
              <a:rPr lang="en-US" sz="2400" b="1" dirty="0"/>
              <a:t>Definition of a Socket:</a:t>
            </a:r>
            <a:endParaRPr lang="en-US" sz="2400" dirty="0"/>
          </a:p>
          <a:p>
            <a:r>
              <a:rPr lang="en-US" sz="2400" dirty="0"/>
              <a:t>A socket is a software endpoint that establishes a communication link between two processes. It consists of an IP address and a port number, allowing processes on different devices to connect to each other.</a:t>
            </a:r>
          </a:p>
          <a:p>
            <a:endParaRPr lang="en-US" dirty="0"/>
          </a:p>
        </p:txBody>
      </p:sp>
    </p:spTree>
    <p:extLst>
      <p:ext uri="{BB962C8B-B14F-4D97-AF65-F5344CB8AC3E}">
        <p14:creationId xmlns:p14="http://schemas.microsoft.com/office/powerpoint/2010/main" val="9034786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2519"/>
          </a:xfrm>
        </p:spPr>
        <p:txBody>
          <a:bodyPr>
            <a:normAutofit fontScale="90000"/>
          </a:bodyPr>
          <a:lstStyle/>
          <a:p>
            <a:r>
              <a:rPr lang="en-US" b="1" dirty="0"/>
              <a:t>Types of Sockets:</a:t>
            </a:r>
            <a:endParaRPr lang="en-US" dirty="0"/>
          </a:p>
        </p:txBody>
      </p:sp>
      <p:sp>
        <p:nvSpPr>
          <p:cNvPr id="3" name="Content Placeholder 2"/>
          <p:cNvSpPr>
            <a:spLocks noGrp="1"/>
          </p:cNvSpPr>
          <p:nvPr>
            <p:ph idx="1"/>
          </p:nvPr>
        </p:nvSpPr>
        <p:spPr>
          <a:xfrm>
            <a:off x="564444" y="925689"/>
            <a:ext cx="10789356" cy="5712178"/>
          </a:xfrm>
        </p:spPr>
        <p:txBody>
          <a:bodyPr>
            <a:normAutofit fontScale="85000" lnSpcReduction="20000"/>
          </a:bodyPr>
          <a:lstStyle/>
          <a:p>
            <a:endParaRPr lang="en-US" dirty="0"/>
          </a:p>
          <a:p>
            <a:pPr lvl="1"/>
            <a:r>
              <a:rPr lang="en-US" b="1" dirty="0"/>
              <a:t>Stream Sockets (TCP):</a:t>
            </a:r>
            <a:r>
              <a:rPr lang="en-US" dirty="0"/>
              <a:t> These provide a reliable, connection-oriented communication channel. TCP (Transmission Control Protocol) ensures that data is delivered in the correct order and without loss.</a:t>
            </a:r>
          </a:p>
          <a:p>
            <a:pPr lvl="1"/>
            <a:r>
              <a:rPr lang="en-US" b="1" dirty="0"/>
              <a:t>Datagram Sockets (UDP):</a:t>
            </a:r>
            <a:r>
              <a:rPr lang="en-US" dirty="0"/>
              <a:t> These provide a connectionless, unreliable communication channel. UDP (User Datagram Protocol) is faster but does not guarantee the order or reliability of data delivery.</a:t>
            </a:r>
          </a:p>
          <a:p>
            <a:r>
              <a:rPr lang="en-US" b="1" dirty="0"/>
              <a:t>Socket Communication Steps:</a:t>
            </a:r>
            <a:endParaRPr lang="en-US" dirty="0"/>
          </a:p>
          <a:p>
            <a:pPr lvl="1"/>
            <a:r>
              <a:rPr lang="en-US" b="1" dirty="0"/>
              <a:t>Socket Creation:</a:t>
            </a:r>
            <a:r>
              <a:rPr lang="en-US" dirty="0"/>
              <a:t> The processes create sockets to establish communication. This involves specifying the socket type, IP address, and port number.</a:t>
            </a:r>
          </a:p>
          <a:p>
            <a:pPr lvl="1"/>
            <a:r>
              <a:rPr lang="en-US" b="1" dirty="0"/>
              <a:t>Binding:</a:t>
            </a:r>
            <a:r>
              <a:rPr lang="en-US" dirty="0"/>
              <a:t> The server process binds its socket to a specific IP address and port number, making it reachable by clients.</a:t>
            </a:r>
          </a:p>
          <a:p>
            <a:pPr lvl="1"/>
            <a:r>
              <a:rPr lang="en-US" b="1" dirty="0"/>
              <a:t>Listening (for Servers):</a:t>
            </a:r>
            <a:r>
              <a:rPr lang="en-US" dirty="0"/>
              <a:t> The server socket enters a listening state, waiting for incoming connection requests from clients.</a:t>
            </a:r>
          </a:p>
          <a:p>
            <a:pPr lvl="1"/>
            <a:r>
              <a:rPr lang="en-US" b="1" dirty="0"/>
              <a:t>Connection Establishment (for Clients):</a:t>
            </a:r>
            <a:r>
              <a:rPr lang="en-US" dirty="0"/>
              <a:t> The client process initiates a connection by specifying the server's IP address and port number.</a:t>
            </a:r>
          </a:p>
          <a:p>
            <a:pPr lvl="1"/>
            <a:r>
              <a:rPr lang="en-US" b="1" dirty="0"/>
              <a:t>Acceptance (for Servers):</a:t>
            </a:r>
            <a:r>
              <a:rPr lang="en-US" dirty="0"/>
              <a:t> The server accepts incoming connection requests, creating a new socket dedicated to communication with the specific client.</a:t>
            </a:r>
          </a:p>
          <a:p>
            <a:pPr lvl="1"/>
            <a:r>
              <a:rPr lang="en-US" b="1" dirty="0"/>
              <a:t>Data Transfer:</a:t>
            </a:r>
            <a:r>
              <a:rPr lang="en-US" dirty="0"/>
              <a:t> Both processes can send and receive data through their respective sockets using read and write operations</a:t>
            </a:r>
            <a:r>
              <a:rPr lang="en-US" dirty="0" smtClean="0"/>
              <a:t>.</a:t>
            </a:r>
          </a:p>
          <a:p>
            <a:pPr lvl="1"/>
            <a:r>
              <a:rPr lang="en-US" b="1" dirty="0"/>
              <a:t>Closing Connections:</a:t>
            </a:r>
            <a:r>
              <a:rPr lang="en-US" dirty="0"/>
              <a:t> Either party can initiate the closure of the connection when the communication is complete.</a:t>
            </a:r>
          </a:p>
          <a:p>
            <a:endParaRPr lang="en-US" dirty="0"/>
          </a:p>
        </p:txBody>
      </p:sp>
    </p:spTree>
    <p:extLst>
      <p:ext uri="{BB962C8B-B14F-4D97-AF65-F5344CB8AC3E}">
        <p14:creationId xmlns:p14="http://schemas.microsoft.com/office/powerpoint/2010/main" val="2725128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9942"/>
          </a:xfrm>
        </p:spPr>
        <p:txBody>
          <a:bodyPr>
            <a:normAutofit fontScale="90000"/>
          </a:bodyPr>
          <a:lstStyle/>
          <a:p>
            <a:r>
              <a:rPr lang="en-US" b="1" dirty="0"/>
              <a:t>BUILDING BLOCKS OF THE WEB</a:t>
            </a:r>
            <a:endParaRPr lang="en-US" dirty="0"/>
          </a:p>
        </p:txBody>
      </p:sp>
      <p:sp>
        <p:nvSpPr>
          <p:cNvPr id="3" name="Content Placeholder 2"/>
          <p:cNvSpPr>
            <a:spLocks noGrp="1"/>
          </p:cNvSpPr>
          <p:nvPr>
            <p:ph idx="1"/>
          </p:nvPr>
        </p:nvSpPr>
        <p:spPr>
          <a:xfrm>
            <a:off x="838200" y="846667"/>
            <a:ext cx="10515600" cy="5330296"/>
          </a:xfrm>
        </p:spPr>
        <p:txBody>
          <a:bodyPr>
            <a:normAutofit fontScale="85000" lnSpcReduction="10000"/>
          </a:bodyPr>
          <a:lstStyle/>
          <a:p>
            <a:r>
              <a:rPr lang="en-US" dirty="0"/>
              <a:t>There were three basic components devised by Tim Berners-Lee comprising the</a:t>
            </a:r>
          </a:p>
          <a:p>
            <a:r>
              <a:rPr lang="en-US" dirty="0"/>
              <a:t>essence of Web technology:</a:t>
            </a:r>
          </a:p>
          <a:p>
            <a:r>
              <a:rPr lang="en-US" dirty="0"/>
              <a:t>1. A markup language for formatting hypertext documents.</a:t>
            </a:r>
          </a:p>
          <a:p>
            <a:r>
              <a:rPr lang="en-US" dirty="0"/>
              <a:t>2. A uniform notation scheme for addressing accessible resources over the network.</a:t>
            </a:r>
          </a:p>
          <a:p>
            <a:r>
              <a:rPr lang="en-US" dirty="0"/>
              <a:t>3. A protocol for transporting messages over the network</a:t>
            </a:r>
            <a:r>
              <a:rPr lang="en-US" dirty="0" smtClean="0"/>
              <a:t>.</a:t>
            </a:r>
          </a:p>
          <a:p>
            <a:r>
              <a:rPr lang="en-US" dirty="0"/>
              <a:t>The markup language that allowed cross-referencing of documents via hyperlinks was</a:t>
            </a:r>
          </a:p>
          <a:p>
            <a:r>
              <a:rPr lang="en-US" dirty="0"/>
              <a:t>the </a:t>
            </a:r>
            <a:r>
              <a:rPr lang="en-US" i="1" dirty="0" smtClean="0"/>
              <a:t>Hyper Text </a:t>
            </a:r>
            <a:r>
              <a:rPr lang="en-US" i="1" dirty="0"/>
              <a:t>Markup Language </a:t>
            </a:r>
            <a:r>
              <a:rPr lang="en-US" dirty="0"/>
              <a:t>(HTML).We shall discuss HTML in a </a:t>
            </a:r>
            <a:r>
              <a:rPr lang="en-US" dirty="0" smtClean="0"/>
              <a:t>later.</a:t>
            </a:r>
            <a:endParaRPr lang="en-US" dirty="0"/>
          </a:p>
          <a:p>
            <a:r>
              <a:rPr lang="en-US" dirty="0"/>
              <a:t>The uniform notation scheme is called the </a:t>
            </a:r>
            <a:r>
              <a:rPr lang="en-US" i="1" dirty="0"/>
              <a:t>Uniform Resource Identifier </a:t>
            </a:r>
            <a:r>
              <a:rPr lang="en-US" dirty="0"/>
              <a:t>(URI).</a:t>
            </a:r>
          </a:p>
          <a:p>
            <a:r>
              <a:rPr lang="en-US" dirty="0"/>
              <a:t>For historic reasons, it is most often referred to as the </a:t>
            </a:r>
            <a:r>
              <a:rPr lang="en-US" i="1" dirty="0"/>
              <a:t>Uniform Resource Locator</a:t>
            </a:r>
          </a:p>
          <a:p>
            <a:pPr marL="0" indent="0">
              <a:buNone/>
            </a:pPr>
            <a:r>
              <a:rPr lang="en-US" dirty="0"/>
              <a:t>(URL).</a:t>
            </a:r>
          </a:p>
        </p:txBody>
      </p:sp>
    </p:spTree>
    <p:extLst>
      <p:ext uri="{BB962C8B-B14F-4D97-AF65-F5344CB8AC3E}">
        <p14:creationId xmlns:p14="http://schemas.microsoft.com/office/powerpoint/2010/main" val="1529116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4119"/>
          </a:xfrm>
        </p:spPr>
        <p:txBody>
          <a:bodyPr>
            <a:normAutofit fontScale="90000"/>
          </a:bodyPr>
          <a:lstStyle/>
          <a:p>
            <a:endParaRPr lang="en-US"/>
          </a:p>
        </p:txBody>
      </p:sp>
      <p:sp>
        <p:nvSpPr>
          <p:cNvPr id="3" name="Content Placeholder 2"/>
          <p:cNvSpPr>
            <a:spLocks noGrp="1"/>
          </p:cNvSpPr>
          <p:nvPr>
            <p:ph idx="1"/>
          </p:nvPr>
        </p:nvSpPr>
        <p:spPr/>
        <p:txBody>
          <a:bodyPr>
            <a:normAutofit/>
          </a:bodyPr>
          <a:lstStyle/>
          <a:p>
            <a:r>
              <a:rPr lang="en-US" dirty="0"/>
              <a:t>HTTP is a core foundation of the World Wide Web. It was designed for transporting</a:t>
            </a:r>
          </a:p>
          <a:p>
            <a:r>
              <a:rPr lang="en-US" dirty="0"/>
              <a:t>specialized messages over the network. The simplicity of the protocol does </a:t>
            </a:r>
            <a:r>
              <a:rPr lang="en-US" dirty="0" smtClean="0"/>
              <a:t>not always </a:t>
            </a:r>
            <a:r>
              <a:rPr lang="en-US" dirty="0"/>
              <a:t>apply to HTTP interactions, which are complicated in the context of </a:t>
            </a:r>
            <a:r>
              <a:rPr lang="en-US" dirty="0" smtClean="0"/>
              <a:t>sophisticated Web </a:t>
            </a:r>
            <a:r>
              <a:rPr lang="en-US" dirty="0"/>
              <a:t>applications. </a:t>
            </a:r>
            <a:endParaRPr lang="en-US" dirty="0" smtClean="0"/>
          </a:p>
          <a:p>
            <a:r>
              <a:rPr lang="en-US" dirty="0" smtClean="0"/>
              <a:t>This </a:t>
            </a:r>
            <a:r>
              <a:rPr lang="en-US" dirty="0"/>
              <a:t>will become apparent when we discuss the </a:t>
            </a:r>
            <a:r>
              <a:rPr lang="en-US" dirty="0" smtClean="0"/>
              <a:t>complex interactions </a:t>
            </a:r>
            <a:r>
              <a:rPr lang="en-US" dirty="0"/>
              <a:t>between HTML, XML, and web server technologies (e.g. servlets </a:t>
            </a:r>
            <a:r>
              <a:rPr lang="en-US" dirty="0" smtClean="0"/>
              <a:t>and Java </a:t>
            </a:r>
            <a:r>
              <a:rPr lang="en-US" dirty="0"/>
              <a:t>Server Pages)</a:t>
            </a:r>
          </a:p>
        </p:txBody>
      </p:sp>
    </p:spTree>
    <p:extLst>
      <p:ext uri="{BB962C8B-B14F-4D97-AF65-F5344CB8AC3E}">
        <p14:creationId xmlns:p14="http://schemas.microsoft.com/office/powerpoint/2010/main" val="22426076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3142"/>
          </a:xfrm>
        </p:spPr>
        <p:txBody>
          <a:bodyPr>
            <a:normAutofit fontScale="90000"/>
          </a:bodyPr>
          <a:lstStyle/>
          <a:p>
            <a:r>
              <a:rPr lang="en-US" b="1" dirty="0"/>
              <a:t>THE UNIFORM RESOURCE LOCATOR</a:t>
            </a:r>
            <a:endParaRPr lang="en-US" dirty="0"/>
          </a:p>
        </p:txBody>
      </p:sp>
      <p:sp>
        <p:nvSpPr>
          <p:cNvPr id="3" name="Content Placeholder 2"/>
          <p:cNvSpPr>
            <a:spLocks noGrp="1"/>
          </p:cNvSpPr>
          <p:nvPr>
            <p:ph idx="1"/>
          </p:nvPr>
        </p:nvSpPr>
        <p:spPr>
          <a:xfrm>
            <a:off x="838200" y="948268"/>
            <a:ext cx="10515600" cy="5228695"/>
          </a:xfrm>
        </p:spPr>
        <p:txBody>
          <a:bodyPr>
            <a:normAutofit fontScale="85000" lnSpcReduction="20000"/>
          </a:bodyPr>
          <a:lstStyle/>
          <a:p>
            <a:r>
              <a:rPr lang="en-US" dirty="0"/>
              <a:t>Here is the generalized notation associated with URLs:</a:t>
            </a:r>
          </a:p>
          <a:p>
            <a:r>
              <a:rPr lang="en-US" dirty="0"/>
              <a:t>scheme://host[:port#]/path/</a:t>
            </a:r>
            <a:r>
              <a:rPr lang="en-US" i="1" dirty="0"/>
              <a:t>. . .</a:t>
            </a:r>
            <a:r>
              <a:rPr lang="en-US" dirty="0"/>
              <a:t>/[;</a:t>
            </a:r>
            <a:r>
              <a:rPr lang="en-US" dirty="0" err="1"/>
              <a:t>url-params</a:t>
            </a:r>
            <a:r>
              <a:rPr lang="en-US" dirty="0"/>
              <a:t>][?query-string][#anchor]</a:t>
            </a:r>
          </a:p>
          <a:p>
            <a:r>
              <a:rPr lang="en-US" dirty="0"/>
              <a:t>Let us break a URL down into its component parts:</a:t>
            </a:r>
          </a:p>
          <a:p>
            <a:r>
              <a:rPr lang="en-US" dirty="0" smtClean="0"/>
              <a:t>•</a:t>
            </a:r>
            <a:r>
              <a:rPr lang="en-US" b="1" i="1" dirty="0"/>
              <a:t>scheme</a:t>
            </a:r>
            <a:r>
              <a:rPr lang="en-US" dirty="0"/>
              <a:t>—this portion of the URL designates the underlying protocol to be used</a:t>
            </a:r>
          </a:p>
          <a:p>
            <a:r>
              <a:rPr lang="en-US" dirty="0"/>
              <a:t>(e.g. ‘http’ or ‘ftp’). This is the portion of the URL preceding the colon and </a:t>
            </a:r>
            <a:r>
              <a:rPr lang="en-US" dirty="0" smtClean="0"/>
              <a:t>two forward </a:t>
            </a:r>
            <a:r>
              <a:rPr lang="en-US" dirty="0"/>
              <a:t>slashes.</a:t>
            </a:r>
          </a:p>
          <a:p>
            <a:r>
              <a:rPr lang="en-US" dirty="0"/>
              <a:t>• </a:t>
            </a:r>
            <a:r>
              <a:rPr lang="en-US" b="1" i="1" dirty="0"/>
              <a:t>host</a:t>
            </a:r>
            <a:r>
              <a:rPr lang="en-US" dirty="0"/>
              <a:t>—this is either the name of the IP address for the web server being </a:t>
            </a:r>
            <a:r>
              <a:rPr lang="en-US" dirty="0" smtClean="0"/>
              <a:t>accessed. This </a:t>
            </a:r>
            <a:r>
              <a:rPr lang="en-US" dirty="0"/>
              <a:t>is usually the part of the URL immediately following the colon and </a:t>
            </a:r>
            <a:r>
              <a:rPr lang="en-US" dirty="0" smtClean="0"/>
              <a:t>two forward </a:t>
            </a:r>
            <a:r>
              <a:rPr lang="en-US" dirty="0"/>
              <a:t>slashes.</a:t>
            </a:r>
          </a:p>
          <a:p>
            <a:r>
              <a:rPr lang="en-US" dirty="0"/>
              <a:t>• </a:t>
            </a:r>
            <a:r>
              <a:rPr lang="en-US" b="1" i="1" dirty="0"/>
              <a:t>port#</a:t>
            </a:r>
            <a:r>
              <a:rPr lang="en-US" b="1" dirty="0"/>
              <a:t>—</a:t>
            </a:r>
            <a:r>
              <a:rPr lang="en-US" dirty="0"/>
              <a:t>this is an optional portion of the URL designating the port number that</a:t>
            </a:r>
          </a:p>
          <a:p>
            <a:r>
              <a:rPr lang="en-US" dirty="0"/>
              <a:t>the target web server listens to. (The default port number for HTTP servers is 80,</a:t>
            </a:r>
          </a:p>
          <a:p>
            <a:r>
              <a:rPr lang="en-US" dirty="0"/>
              <a:t>but some configurations are set up to use an alternate port number. When they</a:t>
            </a:r>
          </a:p>
          <a:p>
            <a:r>
              <a:rPr lang="en-US" dirty="0"/>
              <a:t>do, that number must be specified in the URL.) The port number, if it appears,</a:t>
            </a:r>
          </a:p>
          <a:p>
            <a:r>
              <a:rPr lang="en-US" dirty="0"/>
              <a:t>is found right after a colon that immediately follows the server name or address.</a:t>
            </a:r>
          </a:p>
        </p:txBody>
      </p:sp>
    </p:spTree>
    <p:extLst>
      <p:ext uri="{BB962C8B-B14F-4D97-AF65-F5344CB8AC3E}">
        <p14:creationId xmlns:p14="http://schemas.microsoft.com/office/powerpoint/2010/main" val="27021956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12208"/>
          </a:xfrm>
        </p:spPr>
        <p:txBody>
          <a:bodyPr>
            <a:normAutofit fontScale="90000"/>
          </a:bodyPr>
          <a:lstStyle/>
          <a:p>
            <a:endParaRPr lang="en-US" dirty="0"/>
          </a:p>
        </p:txBody>
      </p:sp>
      <p:sp>
        <p:nvSpPr>
          <p:cNvPr id="3" name="Content Placeholder 2"/>
          <p:cNvSpPr>
            <a:spLocks noGrp="1"/>
          </p:cNvSpPr>
          <p:nvPr>
            <p:ph idx="1"/>
          </p:nvPr>
        </p:nvSpPr>
        <p:spPr>
          <a:xfrm>
            <a:off x="838200" y="857956"/>
            <a:ext cx="10515600" cy="5319007"/>
          </a:xfrm>
        </p:spPr>
        <p:txBody>
          <a:bodyPr>
            <a:normAutofit lnSpcReduction="10000"/>
          </a:bodyPr>
          <a:lstStyle/>
          <a:p>
            <a:r>
              <a:rPr lang="en-US" b="1" i="1" dirty="0"/>
              <a:t>path</a:t>
            </a:r>
            <a:r>
              <a:rPr lang="en-US" dirty="0"/>
              <a:t>—logically speaking, this is the file system path from the ‘root’ </a:t>
            </a:r>
            <a:r>
              <a:rPr lang="en-US" dirty="0" smtClean="0"/>
              <a:t>directory of </a:t>
            </a:r>
            <a:r>
              <a:rPr lang="en-US" dirty="0"/>
              <a:t>the server to the desired document. (In practice, web servers may make </a:t>
            </a:r>
            <a:r>
              <a:rPr lang="en-US" dirty="0" smtClean="0"/>
              <a:t>use of </a:t>
            </a:r>
            <a:r>
              <a:rPr lang="en-US" dirty="0"/>
              <a:t>aliasing to point to documents, gateways, and services that are not </a:t>
            </a:r>
            <a:r>
              <a:rPr lang="en-US" dirty="0" smtClean="0"/>
              <a:t>explicitly accessible </a:t>
            </a:r>
            <a:r>
              <a:rPr lang="en-US" dirty="0"/>
              <a:t>from the server’s root directory.) </a:t>
            </a:r>
            <a:endParaRPr lang="en-US" dirty="0" smtClean="0"/>
          </a:p>
          <a:p>
            <a:r>
              <a:rPr lang="en-US" dirty="0" smtClean="0"/>
              <a:t>The </a:t>
            </a:r>
            <a:r>
              <a:rPr lang="en-US" dirty="0"/>
              <a:t>path immediately follows </a:t>
            </a:r>
            <a:r>
              <a:rPr lang="en-US" dirty="0" smtClean="0"/>
              <a:t>the server </a:t>
            </a:r>
            <a:r>
              <a:rPr lang="en-US" dirty="0"/>
              <a:t>and port number portions of the URL, and by definition </a:t>
            </a:r>
            <a:r>
              <a:rPr lang="en-US" i="1" dirty="0"/>
              <a:t>includes </a:t>
            </a:r>
            <a:r>
              <a:rPr lang="en-US" dirty="0"/>
              <a:t>that </a:t>
            </a:r>
            <a:r>
              <a:rPr lang="en-US" dirty="0" smtClean="0"/>
              <a:t>first forward </a:t>
            </a:r>
            <a:r>
              <a:rPr lang="en-US" dirty="0"/>
              <a:t>slash</a:t>
            </a:r>
            <a:r>
              <a:rPr lang="en-US" dirty="0" smtClean="0"/>
              <a:t>.</a:t>
            </a:r>
            <a:endParaRPr lang="en-US" b="1" dirty="0"/>
          </a:p>
          <a:p>
            <a:r>
              <a:rPr lang="en-US" dirty="0" smtClean="0"/>
              <a:t>• </a:t>
            </a:r>
            <a:r>
              <a:rPr lang="en-US" b="1" i="1" dirty="0"/>
              <a:t>query-string</a:t>
            </a:r>
            <a:r>
              <a:rPr lang="en-US" dirty="0"/>
              <a:t>—this optional portion of the URL contains other dynamic parameters</a:t>
            </a:r>
          </a:p>
          <a:p>
            <a:r>
              <a:rPr lang="en-US" dirty="0"/>
              <a:t>associated with the request. Usually, these parameters are produced as </a:t>
            </a:r>
            <a:r>
              <a:rPr lang="en-US" dirty="0" smtClean="0"/>
              <a:t>the result </a:t>
            </a:r>
            <a:r>
              <a:rPr lang="en-US" dirty="0"/>
              <a:t>of user-entered variables in HTML forms. If present, the query </a:t>
            </a:r>
            <a:r>
              <a:rPr lang="en-US" dirty="0" smtClean="0"/>
              <a:t>string follows </a:t>
            </a:r>
            <a:r>
              <a:rPr lang="en-US" dirty="0"/>
              <a:t>a question mark in the URL. Equal signs (=) separate the </a:t>
            </a:r>
            <a:r>
              <a:rPr lang="en-US" dirty="0" smtClean="0"/>
              <a:t>parameters from </a:t>
            </a:r>
            <a:r>
              <a:rPr lang="en-US" dirty="0"/>
              <a:t>their values, and ampersands (&amp;) mark the boundaries between </a:t>
            </a:r>
            <a:r>
              <a:rPr lang="en-US" dirty="0" smtClean="0"/>
              <a:t>parameter value</a:t>
            </a:r>
            <a:r>
              <a:rPr lang="en-US" dirty="0"/>
              <a:t> </a:t>
            </a:r>
            <a:r>
              <a:rPr lang="en-US" dirty="0" smtClean="0"/>
              <a:t>pairs</a:t>
            </a:r>
            <a:r>
              <a:rPr lang="en-US" dirty="0"/>
              <a:t>.</a:t>
            </a:r>
          </a:p>
        </p:txBody>
      </p:sp>
    </p:spTree>
    <p:extLst>
      <p:ext uri="{BB962C8B-B14F-4D97-AF65-F5344CB8AC3E}">
        <p14:creationId xmlns:p14="http://schemas.microsoft.com/office/powerpoint/2010/main" val="15377841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57364"/>
          </a:xfrm>
        </p:spPr>
        <p:txBody>
          <a:bodyPr>
            <a:normAutofit fontScale="90000"/>
          </a:bodyPr>
          <a:lstStyle/>
          <a:p>
            <a:endParaRPr lang="en-US" dirty="0"/>
          </a:p>
        </p:txBody>
      </p:sp>
      <p:sp>
        <p:nvSpPr>
          <p:cNvPr id="3" name="Content Placeholder 2"/>
          <p:cNvSpPr>
            <a:spLocks noGrp="1"/>
          </p:cNvSpPr>
          <p:nvPr>
            <p:ph idx="1"/>
          </p:nvPr>
        </p:nvSpPr>
        <p:spPr>
          <a:xfrm>
            <a:off x="838200" y="835378"/>
            <a:ext cx="10515600" cy="5341585"/>
          </a:xfrm>
        </p:spPr>
        <p:txBody>
          <a:bodyPr>
            <a:normAutofit/>
          </a:bodyPr>
          <a:lstStyle/>
          <a:p>
            <a:r>
              <a:rPr lang="en-US" i="1" dirty="0"/>
              <a:t>anchor</a:t>
            </a:r>
            <a:r>
              <a:rPr lang="en-US" dirty="0"/>
              <a:t>—this optional portion of the URL is a reference to a positional marker</a:t>
            </a:r>
          </a:p>
          <a:p>
            <a:r>
              <a:rPr lang="en-US" dirty="0"/>
              <a:t>within the requested document, like a bookmark. If present, it follows a </a:t>
            </a:r>
            <a:r>
              <a:rPr lang="en-US" dirty="0" smtClean="0"/>
              <a:t>hash mark </a:t>
            </a:r>
            <a:r>
              <a:rPr lang="en-US" dirty="0"/>
              <a:t>or pound sign (‘#’).</a:t>
            </a:r>
          </a:p>
          <a:p>
            <a:r>
              <a:rPr lang="en-US" dirty="0"/>
              <a:t>The breakout of a sample URL into components is illustrated below:</a:t>
            </a:r>
          </a:p>
          <a:p>
            <a:r>
              <a:rPr lang="en-US" b="1" dirty="0"/>
              <a:t>http://www.mywebsite.com/sj/test;id=8079?name=sviergn&amp;x=true#stuff</a:t>
            </a:r>
          </a:p>
          <a:p>
            <a:r>
              <a:rPr lang="en-US" b="1" dirty="0"/>
              <a:t>SCHEME</a:t>
            </a:r>
            <a:r>
              <a:rPr lang="en-US" dirty="0"/>
              <a:t> = http</a:t>
            </a:r>
          </a:p>
          <a:p>
            <a:r>
              <a:rPr lang="en-US" b="1" dirty="0"/>
              <a:t>HOST</a:t>
            </a:r>
            <a:r>
              <a:rPr lang="en-US" dirty="0"/>
              <a:t> = www.mywebsite.com</a:t>
            </a:r>
          </a:p>
          <a:p>
            <a:r>
              <a:rPr lang="en-US" b="1" dirty="0"/>
              <a:t>PATH</a:t>
            </a:r>
            <a:r>
              <a:rPr lang="en-US" dirty="0"/>
              <a:t> = /</a:t>
            </a:r>
            <a:r>
              <a:rPr lang="en-US" dirty="0" err="1"/>
              <a:t>sj</a:t>
            </a:r>
            <a:r>
              <a:rPr lang="en-US" dirty="0"/>
              <a:t>/test</a:t>
            </a:r>
          </a:p>
          <a:p>
            <a:pPr marL="0" indent="0">
              <a:buNone/>
            </a:pPr>
            <a:r>
              <a:rPr lang="en-US" b="1" dirty="0" smtClean="0"/>
              <a:t>.QUERY </a:t>
            </a:r>
            <a:r>
              <a:rPr lang="en-US" b="1" dirty="0"/>
              <a:t>STRING</a:t>
            </a:r>
            <a:r>
              <a:rPr lang="en-US" dirty="0"/>
              <a:t> = name=</a:t>
            </a:r>
            <a:r>
              <a:rPr lang="en-US" dirty="0" err="1"/>
              <a:t>sviergn&amp;x</a:t>
            </a:r>
            <a:r>
              <a:rPr lang="en-US" dirty="0"/>
              <a:t>=true</a:t>
            </a:r>
          </a:p>
          <a:p>
            <a:endParaRPr lang="en-US" dirty="0"/>
          </a:p>
        </p:txBody>
      </p:sp>
    </p:spTree>
    <p:extLst>
      <p:ext uri="{BB962C8B-B14F-4D97-AF65-F5344CB8AC3E}">
        <p14:creationId xmlns:p14="http://schemas.microsoft.com/office/powerpoint/2010/main" val="40219498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3029</Words>
  <Application>Microsoft Office PowerPoint</Application>
  <PresentationFormat>Widescreen</PresentationFormat>
  <Paragraphs>153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  Introduction: Web Applications, TCP/IP Application Services.   </vt:lpstr>
      <vt:lpstr>Introduction: Web Applications</vt:lpstr>
      <vt:lpstr>THE ORIGINS OF THE WEB</vt:lpstr>
      <vt:lpstr>FROM WEB PAGES TO WEB SITES</vt:lpstr>
      <vt:lpstr>PowerPoint Presentation</vt:lpstr>
      <vt:lpstr>PowerPoint Presentation</vt:lpstr>
      <vt:lpstr>FROM WEB SITES TO WEB APPLICATIONS</vt:lpstr>
      <vt:lpstr>Definition of a Web Application</vt:lpstr>
      <vt:lpstr>Principles of web application design</vt:lpstr>
      <vt:lpstr>PowerPoint Presentation</vt:lpstr>
      <vt:lpstr>TCP/IP Application Services</vt:lpstr>
      <vt:lpstr>PowerPoint Presentation</vt:lpstr>
      <vt:lpstr>PowerPoint Presentation</vt:lpstr>
      <vt:lpstr>PowerPoint Presentation</vt:lpstr>
      <vt:lpstr>Hypertext Transfer Protocol (HTTP)</vt:lpstr>
      <vt:lpstr>File Transfer Protocol (FTP)</vt:lpstr>
      <vt:lpstr>PowerPoint Presentation</vt:lpstr>
      <vt:lpstr>SMTP (Simple Mail Transfer Protocol):</vt:lpstr>
      <vt:lpstr>PowerPoint Presentation</vt:lpstr>
      <vt:lpstr>POP (Post Office Protocol):</vt:lpstr>
      <vt:lpstr>Socket Communication</vt:lpstr>
      <vt:lpstr>Types of Sockets:</vt:lpstr>
      <vt:lpstr>BUILDING BLOCKS OF THE WEB</vt:lpstr>
      <vt:lpstr>PowerPoint Presentation</vt:lpstr>
      <vt:lpstr>THE UNIFORM RESOURCE LOCATOR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Web Applications, TCP/IP Application Services.</dc:title>
  <dc:creator>Windows User</dc:creator>
  <cp:lastModifiedBy>CGS COMPUTERS</cp:lastModifiedBy>
  <cp:revision>17</cp:revision>
  <dcterms:created xsi:type="dcterms:W3CDTF">2024-01-07T15:20:56Z</dcterms:created>
  <dcterms:modified xsi:type="dcterms:W3CDTF">2025-10-07T09:33:43Z</dcterms:modified>
</cp:coreProperties>
</file>