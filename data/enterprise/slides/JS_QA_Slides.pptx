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31520"/>
            <a:ext cx="1280160" cy="12801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  <a:effectLst>
            <a:outerShdw blurRad="152400" dist="508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731520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4731"/>
                </a:solidFill>
              </a:rPr>
              <a:t>JS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011680" y="777240"/>
            <a:ext cx="6858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ADE80"/>
                </a:solidFill>
              </a:rPr>
              <a:t>JavaScript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1280160"/>
            <a:ext cx="6858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Question &amp; Answer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011680" y="1965960"/>
            <a:ext cx="6858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86EFAC"/>
                </a:solidFill>
              </a:rPr>
              <a:t>Code Exercises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2743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17520"/>
            <a:ext cx="54864" cy="3200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6EFAC"/>
                </a:solidFill>
              </a:rPr>
              <a:t>Movie Ticket Pricing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54864" cy="3200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6EFAC"/>
                </a:solidFill>
              </a:rPr>
              <a:t>Grade Calculator with if-else if-else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EFAC"/>
                </a:solidFill>
              </a:rPr>
              <a:t>Interactive JavaScript Programming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DE80"/>
                </a:solidFill>
              </a:rPr>
              <a:t>Q1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274320"/>
            <a:ext cx="27432" cy="3657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Movie Ticket Pricing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13816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1A4731"/>
                </a:solidFill>
              </a:rPr>
              <a:t>Write a JavaScript program that calculates the price of a movie ticket based on a person's age.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4731"/>
                </a:solidFill>
              </a:rPr>
              <a:t>Pricing Rules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4E8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88920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4731"/>
                </a:solidFill>
              </a:rPr>
              <a:t>Age &lt; 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788920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FREE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27889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</a:rPr>
              <a:t>Baby / Toddler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91256"/>
            <a:ext cx="8412480" cy="365760"/>
          </a:xfrm>
          <a:prstGeom prst="rect">
            <a:avLst/>
          </a:prstGeom>
          <a:solidFill>
            <a:srgbClr val="DCFCE7"/>
          </a:solidFill>
          <a:ln w="6350">
            <a:solidFill>
              <a:srgbClr val="C4E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191256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4731"/>
                </a:solidFill>
              </a:rPr>
              <a:t>Age 5 – 12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191256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$5.00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0" y="3191256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</a:rPr>
              <a:t>Child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593592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4E8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93592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4731"/>
                </a:solidFill>
              </a:rPr>
              <a:t>Age 13 – 17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593592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$7.00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3593592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</a:rPr>
              <a:t>Teen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995928"/>
            <a:ext cx="8412480" cy="365760"/>
          </a:xfrm>
          <a:prstGeom prst="rect">
            <a:avLst/>
          </a:prstGeom>
          <a:solidFill>
            <a:srgbClr val="DCFCE7"/>
          </a:solidFill>
          <a:ln w="6350">
            <a:solidFill>
              <a:srgbClr val="C4E8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95928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4731"/>
                </a:solidFill>
              </a:rPr>
              <a:t>Age 18 – 64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26080" y="3995928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$12.00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399592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</a:rPr>
              <a:t>Adult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4398264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4E8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98264"/>
            <a:ext cx="2286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4731"/>
                </a:solidFill>
              </a:rPr>
              <a:t>Age 65+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26080" y="4398264"/>
            <a:ext cx="1828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$8.00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4398264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</a:rPr>
              <a:t>Senior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D20"/>
          </a:solidFill>
          <a:ln w="12700">
            <a:solidFill>
              <a:srgbClr val="0F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0"/>
            <a:ext cx="7315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ADE80"/>
                </a:solidFill>
              </a:rPr>
              <a:t>Movie Ticket Price Calculator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</a:t>
            </a:r>
            <a:r>
              <a:rPr lang="en-US" sz="1000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getTicketPrice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(age) {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(age &lt; 5) {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FEF0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"FREE"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 else if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(age &gt;= 5 &amp;&amp; age &lt;= 12) {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FEF0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"$5.00"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 else if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(age &gt;= 13 &amp;&amp; age &lt;= 17) 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FEF0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"$7.00"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 else if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(age &gt;= 18 &amp;&amp; age &lt;= 64) {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FEF0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"$12.00"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 else 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FEF0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"$8.00"</a:t>
            </a:r>
            <a:r>
              <a:rPr lang="en-US" sz="1000" dirty="0">
                <a:solidFill>
                  <a:srgbClr val="6B7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   // Senior 65+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console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.log(getTicketPrice(</a:t>
            </a:r>
            <a:r>
              <a:rPr lang="en-US" sz="100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3</a:t>
            </a:r>
            <a:r>
              <a:rPr lang="en-US" sz="1000" dirty="0">
                <a:solidFill>
                  <a:srgbClr val="6B7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));   // FREE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console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.log(getTicketPrice(</a:t>
            </a:r>
            <a:r>
              <a:rPr lang="en-US" sz="100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10</a:t>
            </a:r>
            <a:r>
              <a:rPr lang="en-US" sz="1000" dirty="0">
                <a:solidFill>
                  <a:srgbClr val="6B7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));  // $5.00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console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.log(getTicketPrice(</a:t>
            </a:r>
            <a:r>
              <a:rPr lang="en-US" sz="100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25</a:t>
            </a:r>
            <a:r>
              <a:rPr lang="en-US" sz="1000" dirty="0">
                <a:solidFill>
                  <a:srgbClr val="6B7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  <a:sym typeface="+mn-ea"/>
              </a:rPr>
              <a:t>));  // $12.00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4731"/>
          </a:solidFill>
          <a:ln w="12700">
            <a:solidFill>
              <a:srgbClr val="1A47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DE80"/>
                </a:solidFill>
              </a:rPr>
              <a:t>Q2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274320"/>
            <a:ext cx="27432" cy="36576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0"/>
            <a:ext cx="7772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Grade Calculator — checkGrade( 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A4731"/>
                </a:solidFill>
              </a:rPr>
              <a:t>Write a JavaScript function called </a:t>
            </a:r>
            <a:r>
              <a:rPr lang="en-US" sz="1500" b="1" dirty="0">
                <a:solidFill>
                  <a:srgbClr val="16A34A"/>
                </a:solidFill>
              </a:rPr>
              <a:t>checkGrade</a:t>
            </a:r>
            <a:r>
              <a:rPr lang="en-US" sz="1500" dirty="0">
                <a:solidFill>
                  <a:srgbClr val="1A4731"/>
                </a:solidFill>
              </a:rPr>
              <a:t> that takes a student's score (0–100) and returns a letter grade using </a:t>
            </a:r>
            <a:r>
              <a:rPr lang="en-US" sz="1500" b="1" dirty="0">
                <a:solidFill>
                  <a:srgbClr val="16A34A"/>
                </a:solidFill>
              </a:rPr>
              <a:t>if-else if-else</a:t>
            </a:r>
            <a:r>
              <a:rPr lang="en-US" sz="1500" dirty="0">
                <a:solidFill>
                  <a:srgbClr val="1A4731"/>
                </a:solidFill>
              </a:rPr>
              <a:t> logic.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4731"/>
                </a:solidFill>
              </a:rPr>
              <a:t>Grading Criteria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4E8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651760"/>
            <a:ext cx="27432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651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2E16"/>
                </a:solidFill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6060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4731"/>
                </a:solidFill>
              </a:rPr>
              <a:t>90 – 100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0" y="260604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</a:rPr>
              <a:t>Excellent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008376"/>
            <a:ext cx="8412480" cy="365760"/>
          </a:xfrm>
          <a:prstGeom prst="rect">
            <a:avLst/>
          </a:prstGeom>
          <a:solidFill>
            <a:srgbClr val="DCFCE7"/>
          </a:solidFill>
          <a:ln w="6350">
            <a:solidFill>
              <a:srgbClr val="C4E8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054096"/>
            <a:ext cx="27432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540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2E16"/>
                </a:solidFill>
              </a:rPr>
              <a:t>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008376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4731"/>
                </a:solidFill>
              </a:rPr>
              <a:t>80 – 89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3008376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</a:rPr>
              <a:t>Good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410712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4E8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456432"/>
            <a:ext cx="274320" cy="2743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564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2E16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10712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4731"/>
                </a:solidFill>
              </a:rPr>
              <a:t>70 – 79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3410712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</a:rPr>
              <a:t>Average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813048"/>
            <a:ext cx="8412480" cy="365760"/>
          </a:xfrm>
          <a:prstGeom prst="rect">
            <a:avLst/>
          </a:prstGeom>
          <a:solidFill>
            <a:srgbClr val="DCFCE7"/>
          </a:solidFill>
          <a:ln w="6350">
            <a:solidFill>
              <a:srgbClr val="C4E8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858768"/>
            <a:ext cx="274320" cy="274320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587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2E16"/>
                </a:solidFill>
              </a:rPr>
              <a:t>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813048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4731"/>
                </a:solidFill>
              </a:rPr>
              <a:t>60 – 69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40480" y="3813048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</a:rPr>
              <a:t>Below Average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215384"/>
            <a:ext cx="84124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4E8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261104"/>
            <a:ext cx="274320" cy="274320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611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2E16"/>
                </a:solidFill>
              </a:rPr>
              <a:t>F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4215384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4731"/>
                </a:solidFill>
              </a:rPr>
              <a:t>Below 60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40480" y="4215384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B5563"/>
                </a:solidFill>
              </a:rPr>
              <a:t>Failing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2E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3D20"/>
          </a:solidFill>
          <a:ln w="12700">
            <a:solidFill>
              <a:srgbClr val="0F3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10972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DE80"/>
                </a:solidFill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371600" y="0"/>
            <a:ext cx="7315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4ADE80"/>
                </a:solidFill>
              </a:rPr>
              <a:t>checkGrade( ) — if-else if-else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595360" cy="4114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</a:t>
            </a:r>
            <a:r>
              <a:rPr lang="en-US" sz="1000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checkGrade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(score) {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if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(score &gt;= </a:t>
            </a:r>
            <a:r>
              <a:rPr lang="en-US" sz="100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90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 {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FEF0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"A"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 else if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(score &gt;= </a:t>
            </a:r>
            <a:r>
              <a:rPr lang="en-US" sz="100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80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 {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FEF0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"B"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 else if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(score &gt;= </a:t>
            </a:r>
            <a:r>
              <a:rPr lang="en-US" sz="100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70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 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FEF0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"C"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 else if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(score &gt;= </a:t>
            </a:r>
            <a:r>
              <a:rPr lang="en-US" sz="100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60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 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FEF0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"D"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 else {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9731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rgbClr val="FEF08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"F"</a:t>
            </a:r>
            <a:r>
              <a:rPr lang="en-US" sz="1000" dirty="0">
                <a:solidFill>
                  <a:srgbClr val="6B7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;   // below 60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Test examples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.log(checkGrade(</a:t>
            </a:r>
            <a:r>
              <a:rPr lang="en-US" sz="100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95</a:t>
            </a:r>
            <a:r>
              <a:rPr lang="en-US" sz="1000" dirty="0">
                <a:solidFill>
                  <a:srgbClr val="6B7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));  // A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.log(checkGrade(</a:t>
            </a:r>
            <a:r>
              <a:rPr lang="en-US" sz="100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82</a:t>
            </a:r>
            <a:r>
              <a:rPr lang="en-US" sz="1000" dirty="0">
                <a:solidFill>
                  <a:srgbClr val="6B7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));  // B</a:t>
            </a:r>
            <a:r>
              <a:rPr lang="en-US" sz="1000" dirty="0">
                <a:solidFill>
                  <a:srgbClr val="00000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endParaRPr lang="en-US" sz="1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ADE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console</a:t>
            </a:r>
            <a:r>
              <a:rPr lang="en-US" sz="10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.log(checkGrade(</a:t>
            </a:r>
            <a:r>
              <a:rPr lang="en-US" sz="1000" dirty="0">
                <a:solidFill>
                  <a:srgbClr val="FCA5A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55</a:t>
            </a:r>
            <a:r>
              <a:rPr lang="en-US" sz="1000" dirty="0">
                <a:solidFill>
                  <a:srgbClr val="6B728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));  // F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47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ADE80"/>
                </a:solidFill>
              </a:rPr>
              <a:t>Key Concepts Covered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91440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</a:rPr>
              <a:t>if / else if / else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Control flow for multiple conditions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402336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240280"/>
            <a:ext cx="91440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317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</a:rPr>
              <a:t>Comparison Operators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&gt;= , &lt;= , &amp;&amp; for range checks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474720"/>
            <a:ext cx="402336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474720"/>
            <a:ext cx="91440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66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</a:rPr>
              <a:t>return Statement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93192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Exits function &amp; sends back a value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402336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005840"/>
            <a:ext cx="91440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</a:rPr>
              <a:t>Function Declaration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146304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function name(param) { ... 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240280"/>
            <a:ext cx="402336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240280"/>
            <a:ext cx="91440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3317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</a:rPr>
              <a:t>console.log()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269748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Print output for quick testing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474720"/>
            <a:ext cx="4023360" cy="1097280"/>
          </a:xfrm>
          <a:prstGeom prst="rect">
            <a:avLst/>
          </a:prstGeom>
          <a:solidFill>
            <a:srgbClr val="16653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474720"/>
            <a:ext cx="91440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56616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</a:rPr>
              <a:t>String Return Values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931920"/>
            <a:ext cx="3657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EFAC"/>
                </a:solidFill>
              </a:rPr>
              <a:t>Returning text like 'A' or '$5.00'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6EFAC"/>
                </a:solidFill>
              </a:rPr>
              <a:t>Practice makes perfect — keep coding! 🟢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1852</Words>
  <Application>WPS Presentation</Application>
  <PresentationFormat>On-screen Show (16:9)</PresentationFormat>
  <Paragraphs>162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Courier New</vt:lpstr>
      <vt:lpstr>Courier New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Q&amp;A - Code Exercises</dc:title>
  <dc:creator>PptxGenJS</dc:creator>
  <dc:subject>PptxGenJS Presentation</dc:subject>
  <cp:lastModifiedBy>PMYLS</cp:lastModifiedBy>
  <cp:revision>2</cp:revision>
  <dcterms:created xsi:type="dcterms:W3CDTF">2026-03-24T06:26:00Z</dcterms:created>
  <dcterms:modified xsi:type="dcterms:W3CDTF">2026-03-24T06:31:12Z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FBC79F83524A40E88F43E06449D13CE5_12</vt:lpwstr>
  </property>
  <property fmtid="{D5CDD505-2E9C-101B-9397-08002B2CF9AE}" pid="3" name="KSOProductBuildVer">
    <vt:lpwstr>1033-12.2.0.23196</vt:lpwstr>
  </property>
</Properties>
</file>