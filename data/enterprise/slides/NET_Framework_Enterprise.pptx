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40916C">
              <a:alpha val="35000"/>
            </a:srgbClr>
          </a:solidFill>
          <a:ln w="12700">
            <a:solidFill>
              <a:srgbClr val="40916C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28600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ENTERPRISE SYSTEMS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7315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.NET Framework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95D5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Enterprise Systems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41148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38328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5D5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· Components · CLR · CTS · BCL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754880"/>
            <a:ext cx="8229600" cy="3886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F3DC"/>
                </a:solidFill>
              </a:rPr>
              <a:t>Comprehensive Overview  |  Software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.NET Framework?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68580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8321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.NET Framework is like a toolbox for building software applications — providing tools and libraries for developers to create web services, desktop programs, and enterprise-scale systems.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4206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20240"/>
            <a:ext cx="109728" cy="8686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6596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Consistency &amp; Compatibility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3977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Ensures different parts of a system work together. Supports C#, VB.NET, F# and more.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926080"/>
            <a:ext cx="4206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926080"/>
            <a:ext cx="109728" cy="8686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7180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Security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3977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Includes features that protect sensitive data and prevent unauthorized access.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931920"/>
            <a:ext cx="4206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931920"/>
            <a:ext cx="109728" cy="8686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7764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Performance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251960"/>
            <a:ext cx="3977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Optimizes applications for speed and efficiency — critical for large data and many users.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4206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920240"/>
            <a:ext cx="109728" cy="8686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96596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Integration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240280"/>
            <a:ext cx="3977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Allows enterprise systems to connect with databases and external services easily.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926080"/>
            <a:ext cx="42062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926080"/>
            <a:ext cx="109728" cy="8686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97180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Scalability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246120"/>
            <a:ext cx="3977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increased workloads and users without major changes to the codebase.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</a:rPr>
              <a:t>.NET Framework Overview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.NET Framework 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743200" cy="6400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43000"/>
            <a:ext cx="457200" cy="4572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43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124712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Language Runtime (CLR)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25146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heart of .NET — acts as a virtual machine managing program execution.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24328"/>
            <a:ext cx="2468880" cy="18288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97480"/>
            <a:ext cx="25146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Compiles Intermediate Language (IL) code into native machine code via JIT compilation.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93008"/>
            <a:ext cx="2468880" cy="18288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66160"/>
            <a:ext cx="25146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memory management, exception handling, and security enforcement.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051560"/>
            <a:ext cx="27432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051560"/>
            <a:ext cx="2743200" cy="6400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1143000"/>
            <a:ext cx="457200" cy="4572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143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0" y="1124712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Class Library (BCL)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1828800"/>
            <a:ext cx="25146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Rich collection of reusable functionalities for building applications.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624328"/>
            <a:ext cx="2468880" cy="18288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697480"/>
            <a:ext cx="25146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Covers file I/O, networking, database access, cryptography, and more.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3493008"/>
            <a:ext cx="2468880" cy="18288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3566160"/>
            <a:ext cx="25146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Saves developers from reinventing the wheel and ensures consistency.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1051560"/>
            <a:ext cx="27432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1051560"/>
            <a:ext cx="2743200" cy="6400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1143000"/>
            <a:ext cx="457200" cy="4572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143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1124712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 Independence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1828800"/>
            <a:ext cx="25146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Supports multiple languages: C#, VB.NET, F#, and more.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2624328"/>
            <a:ext cx="2468880" cy="18288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697480"/>
            <a:ext cx="25146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compile to the same Intermediate Language (IL) running on the CLR.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3493008"/>
            <a:ext cx="2468880" cy="18288"/>
          </a:xfrm>
          <a:prstGeom prst="rect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3566160"/>
            <a:ext cx="251460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 written in different languages work seamlessly together.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</a:rPr>
              <a:t>.NET Framework Overview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 of .NET Framework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77724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777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" y="1088136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Language Runtime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362456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Executes .NET programs; manages memory, security &amp; exceptions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77724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51560"/>
            <a:ext cx="777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77840" y="1088136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Type System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1362456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Defines data types &amp; values managed at runtime; enables cross-language compatibility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01168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011680"/>
            <a:ext cx="777240" cy="822960"/>
          </a:xfrm>
          <a:prstGeom prst="rect">
            <a:avLst/>
          </a:prstGeom>
          <a:solidFill>
            <a:srgbClr val="40916C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11680"/>
            <a:ext cx="777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BCL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" y="2048256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Class Library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2322576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Rich collection of reusable classes, interfaces &amp; APIs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01168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011680"/>
            <a:ext cx="777240" cy="822960"/>
          </a:xfrm>
          <a:prstGeom prst="rect">
            <a:avLst/>
          </a:prstGeom>
          <a:solidFill>
            <a:srgbClr val="40916C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011680"/>
            <a:ext cx="777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77840" y="2048256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Language Specification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2322576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Rules ensuring cross-language interoperability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97180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971800"/>
            <a:ext cx="77724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971800"/>
            <a:ext cx="777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FCL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" y="3008376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Framework Class Library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3000" y="3282696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system functionality for desktop, web &amp; mobile apps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97180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971800"/>
            <a:ext cx="777240" cy="8229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971800"/>
            <a:ext cx="777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Assemblies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77840" y="3008376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.NET Assemblies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77840" y="3282696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 deployment units — DLL (library) or EXE (executable)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393192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931920"/>
            <a:ext cx="777240" cy="822960"/>
          </a:xfrm>
          <a:prstGeom prst="rect">
            <a:avLst/>
          </a:prstGeom>
          <a:solidFill>
            <a:srgbClr val="40916C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931920"/>
            <a:ext cx="777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XML WS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" y="3968496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XML Web Services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43000" y="4242816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Enables communication between applications over the internet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3931920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931920"/>
            <a:ext cx="777240" cy="822960"/>
          </a:xfrm>
          <a:prstGeom prst="rect">
            <a:avLst/>
          </a:prstGeom>
          <a:solidFill>
            <a:srgbClr val="40916C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931920"/>
            <a:ext cx="777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Win Svc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77840" y="3968496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Windows Services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577840" y="4242816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 processes that run continuously on Windows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</a:rPr>
              <a:t>.NET Framework Overview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Language Runtime (CLR)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59436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3931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CLR is the virtual machine component of .NET that manages execution of programs written in any .NET language. It converts source code → MSIL → Native Code.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118872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Source Code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554480" y="1828800"/>
            <a:ext cx="182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731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37360" y="1828800"/>
            <a:ext cx="118872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828800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MSIL Code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0" y="1828800"/>
            <a:ext cx="182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4731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08960" y="1828800"/>
            <a:ext cx="1188720" cy="502920"/>
          </a:xfrm>
          <a:prstGeom prst="rect">
            <a:avLst/>
          </a:prstGeom>
          <a:solidFill>
            <a:srgbClr val="40916C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828800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Native Code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508760" y="237744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6A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JIT Compiler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283464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CLR Key Functions: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291840"/>
            <a:ext cx="137160" cy="1371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0040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Converts program to native code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675888"/>
            <a:ext cx="137160" cy="1371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84448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exceptions at runtime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059936"/>
            <a:ext cx="137160" cy="1371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6849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type-safety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443984"/>
            <a:ext cx="137160" cy="1371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352544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Manages memory automatically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23160" y="3291840"/>
            <a:ext cx="137160" cy="1371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320040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Enforces security restrictions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23160" y="3675888"/>
            <a:ext cx="137160" cy="1371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3584448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Garbage collection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23160" y="4059936"/>
            <a:ext cx="137160" cy="1371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3968496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 independent execution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423160" y="4443984"/>
            <a:ext cx="137160" cy="13716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4352544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 independent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1051560"/>
            <a:ext cx="41605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051560"/>
            <a:ext cx="4160520" cy="3657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05156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Managed Code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1463040"/>
            <a:ext cx="3977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written in any .NET language, run under CLR control. CLR manages memory, security, and cross-language debugging automatically.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2423160"/>
            <a:ext cx="41605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2423160"/>
            <a:ext cx="4160520" cy="3657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242316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Unmanaged Code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54880" y="2834640"/>
            <a:ext cx="3977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developed outside .NET (e.g., C++). Not under CLR control. Used for low-level OS access. Examples: VB, ASP, COM components.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63440" y="3703320"/>
            <a:ext cx="4160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CLR Structure Components: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4050792"/>
            <a:ext cx="91440" cy="914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4005072"/>
            <a:ext cx="192024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Class Library Support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766560" y="4050792"/>
            <a:ext cx="91440" cy="914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03720" y="4005072"/>
            <a:ext cx="192024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Thread Support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663440" y="4224528"/>
            <a:ext cx="91440" cy="914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4178808"/>
            <a:ext cx="192024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 Marshaler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766560" y="4224528"/>
            <a:ext cx="91440" cy="914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03720" y="4178808"/>
            <a:ext cx="192024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Engine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663440" y="4398264"/>
            <a:ext cx="91440" cy="914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4352544"/>
            <a:ext cx="192024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Debug Engine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766560" y="4398264"/>
            <a:ext cx="91440" cy="914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03720" y="4352544"/>
            <a:ext cx="192024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 Checker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663440" y="4572000"/>
            <a:ext cx="91440" cy="914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0600" y="4526280"/>
            <a:ext cx="192024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Manager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766560" y="4572000"/>
            <a:ext cx="91440" cy="914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03720" y="4526280"/>
            <a:ext cx="192024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Garbage Collector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663440" y="4745736"/>
            <a:ext cx="91440" cy="914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0600" y="4700016"/>
            <a:ext cx="192024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Exception Handler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766560" y="4745736"/>
            <a:ext cx="91440" cy="914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03720" y="4700016"/>
            <a:ext cx="1920240" cy="173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ClassLoader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</a:rPr>
              <a:t>.NET Framework Overview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CTS  ·  BCL  ·  CLS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Type System (CTS)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426464"/>
            <a:ext cx="8503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Specifies standards for declaring, using, and managing data types at runtime. Ensures types defined in different .NET languages interact seamlessly.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406908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74520"/>
            <a:ext cx="406908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7452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Value Type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221992"/>
            <a:ext cx="3886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Stored on the stack memory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441448"/>
            <a:ext cx="3886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Holds data directly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660904"/>
            <a:ext cx="3886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variables store data independently when copied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880360"/>
            <a:ext cx="3886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Examples: int, bool, char, enum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874520"/>
            <a:ext cx="406908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874520"/>
            <a:ext cx="4069080" cy="34747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87452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Reference Type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221992"/>
            <a:ext cx="3886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Stored on the heap memory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09160" y="2441448"/>
            <a:ext cx="3886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Holds a reference (address) to the data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09160" y="2660904"/>
            <a:ext cx="3886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variables can refer to the same data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09160" y="2880360"/>
            <a:ext cx="38862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Examples: string, array, class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246120"/>
            <a:ext cx="850392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4612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Class Library (BCL)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128016" cy="128016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6576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User-Defined Class Library: Assemblies (DLL files for code reuse / EXE files for standalone execution)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28016" cy="128016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0050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Predefined Class Library: Namespaces — collections of predefined classes (e.g. 'using System' in .NET)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370832"/>
            <a:ext cx="8503920" cy="34747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370832"/>
            <a:ext cx="8321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Language Specification (CLS) — Subset of CTS ensuring cross-language interoperability (e.g., C# ends statements with ';' while VB.NET does not — CLS bridges them).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</a:rPr>
              <a:t>.NET Framework Overview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JIT Compiler &amp; .NET Assemblies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50292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321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JIT (Just-In-Time) Compiler converts MSIL code into native machine code. There are three types, each with different optimization strategies: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432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47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743200" cy="5029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73736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373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0392" y="1719072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 JIT Compiler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240280"/>
            <a:ext cx="25603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Compiles the entire MSIL code into native code before execution begins. Slower startup but faster during execution.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691640"/>
            <a:ext cx="27432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691640"/>
            <a:ext cx="274320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73736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7373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ECO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76472" y="1719072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Econo JIT Compiler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240280"/>
            <a:ext cx="25603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Compiles only the parts of MSIL code required during execution and removes unused parts to free memory.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1691640"/>
            <a:ext cx="27432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0916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691640"/>
            <a:ext cx="2743200" cy="50292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1737360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7373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NRM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02552" y="1719072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 JIT Compiler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240280"/>
            <a:ext cx="256032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Compiles only required parts of MSIL at execution time and caches them for future use, avoiding recompilation.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520440"/>
            <a:ext cx="850392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2044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.NET Assemblies — The Building Block of .NET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3995928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95020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.NET Assembly is the fundamental unit of physical code grouping in .NET.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197096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4151376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Contains: Assembly Manifest + Metadata + MSIL Code + Resources (images, etc.)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398264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4352544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Defined in two forms: DLL (Dynamic Link Library) for reusable code, and EXE (Executable) for standalone apps.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599432"/>
            <a:ext cx="109728" cy="1097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455371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for deployment, security versioning, and reuse. Metadata is stored in the Manifest file generated during compilation.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</a:rPr>
              <a:t>.NET Framework Overview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F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.NET Framework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5029200" cy="59436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06424"/>
            <a:ext cx="4846320" cy="326898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WinForms  ·  ASP.NET  ·  ADO.NET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88059"/>
            <a:ext cx="4846320" cy="2674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Types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645920"/>
            <a:ext cx="1828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28216"/>
            <a:ext cx="5029200" cy="5486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55648"/>
            <a:ext cx="4846320" cy="30175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Framework Class Library (FCL)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013509"/>
            <a:ext cx="4846320" cy="246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Classes, Interfaces, Data Types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2249424"/>
            <a:ext cx="1828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331720"/>
            <a:ext cx="5029200" cy="5486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59152"/>
            <a:ext cx="4846320" cy="30175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Class Library (BCL)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617013"/>
            <a:ext cx="4846320" cy="246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System.* &amp; Microsoft.* Namespaces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0" y="2852928"/>
            <a:ext cx="1828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935224"/>
            <a:ext cx="5029200" cy="64008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62656"/>
            <a:ext cx="4846320" cy="3520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Language Runtime (CLR)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268066"/>
            <a:ext cx="4846320" cy="2880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JIT · GC · Security · Type Checking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0" y="3547872"/>
            <a:ext cx="1828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630168"/>
            <a:ext cx="5029200" cy="502920"/>
          </a:xfrm>
          <a:prstGeom prst="rect">
            <a:avLst/>
          </a:prstGeom>
          <a:solidFill>
            <a:srgbClr val="0F3D24"/>
          </a:solidFill>
          <a:ln w="12700">
            <a:solidFill>
              <a:srgbClr val="0F3D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657600"/>
            <a:ext cx="4846320" cy="276606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Operating System (Windows)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891686"/>
            <a:ext cx="4846320" cy="2263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Underlying platform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0" y="4105656"/>
            <a:ext cx="18288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1078992"/>
            <a:ext cx="32461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7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Types: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77840" y="1508760"/>
            <a:ext cx="32461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1508760"/>
            <a:ext cx="3246120" cy="3200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150876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WinForms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1856232"/>
            <a:ext cx="3063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Desktop applications (e.g., Notepad). Runs on client machines.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77840" y="2560320"/>
            <a:ext cx="32461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77840" y="2560320"/>
            <a:ext cx="3246120" cy="320040"/>
          </a:xfrm>
          <a:prstGeom prst="rect">
            <a:avLst/>
          </a:prstGeom>
          <a:solidFill>
            <a:srgbClr val="2D6A4F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256032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ASP.NET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0" y="2907792"/>
            <a:ext cx="3063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applications processed on IIS server. Outputs to any browser.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77840" y="3611880"/>
            <a:ext cx="32461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77840" y="3611880"/>
            <a:ext cx="3246120" cy="320040"/>
          </a:xfrm>
          <a:prstGeom prst="rect">
            <a:avLst/>
          </a:prstGeom>
          <a:solidFill>
            <a:srgbClr val="40916C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0" y="361188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ADO.NET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0" y="3959352"/>
            <a:ext cx="3063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interaction layer for Oracle, SQL Server, and others.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46320"/>
            <a:ext cx="822960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8F3DC"/>
                </a:solidFill>
              </a:rPr>
              <a:t>.NET Framework Overview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Characteristics of .NET Framework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54864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4114800" cy="45720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60120"/>
            <a:ext cx="9144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96012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CLR (Common Language Runtime)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554480"/>
            <a:ext cx="4114800" cy="45720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554480"/>
            <a:ext cx="9144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55448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Namespace — Predefined class and function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148840"/>
            <a:ext cx="4114800" cy="45720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148840"/>
            <a:ext cx="9144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14884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Metadata and Assemblies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743200"/>
            <a:ext cx="4114800" cy="45720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743200"/>
            <a:ext cx="9144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74320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Domains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337560"/>
            <a:ext cx="4114800" cy="45720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337560"/>
            <a:ext cx="9144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333756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Configure and deploy .NET applications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931920"/>
            <a:ext cx="4114800" cy="45720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931920"/>
            <a:ext cx="9144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93192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form and web-based services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960120"/>
            <a:ext cx="4114800" cy="45720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960120"/>
            <a:ext cx="9144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96012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and ASP.NET AJAX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1554480"/>
            <a:ext cx="4114800" cy="45720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1554480"/>
            <a:ext cx="9144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155448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LINQ (Language Integrated Query)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148840"/>
            <a:ext cx="4114800" cy="45720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148840"/>
            <a:ext cx="9144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214884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and Portability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743200"/>
            <a:ext cx="4114800" cy="45720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2743200"/>
            <a:ext cx="9144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274320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Interoperability across languages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337560"/>
            <a:ext cx="4114800" cy="45720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3337560"/>
            <a:ext cx="9144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333756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development environments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</a:rPr>
              <a:t>.NET Framework — Enterprise-Grade Software Development Platform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D6A4F">
              <a:alpha val="45000"/>
            </a:srgbClr>
          </a:solidFill>
          <a:ln w="12700">
            <a:solidFill>
              <a:srgbClr val="2D6A4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40916C">
              <a:alpha val="35000"/>
            </a:srgbClr>
          </a:solidFill>
          <a:ln w="12700">
            <a:solidFill>
              <a:srgbClr val="40916C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371600"/>
            <a:ext cx="274320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37160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FFFFFF"/>
                </a:solidFill>
              </a:rPr>
              <a:t>THANK YOU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7315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.NET Framework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5D5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Enterprise Systems · Architecture · CLR · CTS · BCL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3200400"/>
            <a:ext cx="45720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3756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5D5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comprehensive platform for building enterprise-grade applications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F3DC"/>
                </a:solidFill>
              </a:rPr>
              <a:t> .NET Framework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6328</Words>
  <Application>WPS Presentation</Application>
  <PresentationFormat>On-screen Show (16:9)</PresentationFormat>
  <Paragraphs>332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Framework in Enterprise Systems</dc:title>
  <dc:creator>PptxGenJS</dc:creator>
  <dc:subject>PptxGenJS Presentation</dc:subject>
  <cp:lastModifiedBy>PMYLS</cp:lastModifiedBy>
  <cp:revision>2</cp:revision>
  <dcterms:created xsi:type="dcterms:W3CDTF">2026-03-17T00:14:00Z</dcterms:created>
  <dcterms:modified xsi:type="dcterms:W3CDTF">2026-03-17T09:00:53Z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FC1404B518A54D08B013A0D150975590_12</vt:lpwstr>
  </property>
  <property fmtid="{D5CDD505-2E9C-101B-9397-08002B2CF9AE}" pid="3" name="KSOProductBuildVer">
    <vt:lpwstr>1033-12.2.0.23196</vt:lpwstr>
  </property>
</Properties>
</file>