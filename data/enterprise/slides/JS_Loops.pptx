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66534">
              <a:alpha val="45000"/>
            </a:srgbClr>
          </a:solidFill>
          <a:ln w="12700">
            <a:solidFill>
              <a:srgbClr val="16653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017520"/>
            <a:ext cx="2560320" cy="2560320"/>
          </a:xfrm>
          <a:prstGeom prst="ellipse">
            <a:avLst/>
          </a:prstGeom>
          <a:solidFill>
            <a:srgbClr val="16A34A">
              <a:alpha val="35000"/>
            </a:srgbClr>
          </a:solidFill>
          <a:ln w="1270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1945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JAVASCRIPT BASICS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 in JavaScript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132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6EFAC"/>
                </a:solidFill>
              </a:rPr>
              <a:t>Repeat, iterate, and automate with every loop type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150876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for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3520440"/>
            <a:ext cx="150876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5204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while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3520440"/>
            <a:ext cx="150876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35204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do…while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3520440"/>
            <a:ext cx="150876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5204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for…in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3520440"/>
            <a:ext cx="150876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5204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for…of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</a:rPr>
              <a:t>What • Types • Usage • Diagrams •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Are Loops?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</a:t>
            </a:r>
            <a:r>
              <a:rPr lang="en-US" sz="14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control structure that repeats a block of code </a:t>
            </a:r>
            <a:r>
              <a:rPr lang="en-US" sz="1400" b="1" i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long as a condition is true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5555"/>
                </a:solidFill>
              </a:rPr>
              <a:t>Instead of writing the same code 100 times — write it once inside a loop!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423160"/>
            <a:ext cx="5029200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231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REAL-WORLD ANALOGIES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Run laps until you've done 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355848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355848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Play songs while playlist is not empty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785616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785616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Scan each item in the shopping cart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215384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215384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Send email to every person in list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051560"/>
            <a:ext cx="3291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1051560"/>
            <a:ext cx="329184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0515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LOOP ANATOMY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1572768"/>
            <a:ext cx="201168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5727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</a:rPr>
              <a:t>Initialization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Set starting 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(e.g. let i = 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2350008"/>
            <a:ext cx="201168" cy="59436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350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</a:rPr>
              <a:t>Condition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260604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When to keep looping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(e.g. i &lt; 10)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127248"/>
            <a:ext cx="201168" cy="59436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1272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</a:rPr>
              <a:t>Body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338328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Code to repeat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each iteration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904488"/>
            <a:ext cx="201168" cy="5943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9044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</a:rPr>
              <a:t>Update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89320" y="41605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Change the variable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(e.g. i++)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2 / 11  •  JavaScript Loops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 Types of Loops in 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4173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🔢  for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When you know the number of iterations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97480" cy="141732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974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8872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🔄  while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1709928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When iterations depend on a condition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97480" cy="1417320"/>
          </a:xfrm>
          <a:prstGeom prst="rect">
            <a:avLst/>
          </a:prstGeom>
          <a:solidFill>
            <a:srgbClr val="166534"/>
          </a:solidFill>
          <a:ln w="12700">
            <a:solidFill>
              <a:srgbClr val="A3E635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97480" cy="73152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8872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E635"/>
                </a:solidFill>
              </a:rPr>
              <a:t>▶️  do…while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709928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When code must run at least once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60520" cy="1417320"/>
          </a:xfrm>
          <a:prstGeom prst="rect">
            <a:avLst/>
          </a:prstGeom>
          <a:solidFill>
            <a:srgbClr val="16653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43200"/>
            <a:ext cx="4160520" cy="7315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0360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6EFAC"/>
                </a:solidFill>
              </a:rPr>
              <a:t>🔑  for…in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Iterate over object keys/properties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4160520" cy="1417320"/>
          </a:xfrm>
          <a:prstGeom prst="rect">
            <a:avLst/>
          </a:prstGeom>
          <a:solidFill>
            <a:srgbClr val="166534"/>
          </a:solidFill>
          <a:ln w="12700">
            <a:solidFill>
              <a:srgbClr val="FCD34D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43200"/>
            <a:ext cx="416052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880360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CD34D"/>
                </a:solidFill>
              </a:rPr>
              <a:t>📦  for…of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3401568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Iterate over iterable values (arrays, strings)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320"/>
          </a:solidFill>
          <a:ln w="12700">
            <a:solidFill>
              <a:srgbClr val="0F33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3 / 11  •  JavaScript Loops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🔢  The for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SYNTAX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100584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8404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3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</a:t>
            </a:r>
            <a:r>
              <a:rPr lang="en-US" sz="13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</a:t>
            </a:r>
            <a:r>
              <a:rPr lang="en-US" sz="13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update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0" cy="201168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2542032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init — runs once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508760"/>
            <a:ext cx="0" cy="201168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542032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condition — checked each 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508760"/>
            <a:ext cx="0" cy="201168"/>
          </a:xfrm>
          <a:prstGeom prst="line">
            <a:avLst/>
          </a:prstGeom>
          <a:noFill/>
          <a:ln w="1905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542032"/>
            <a:ext cx="1554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EFAC"/>
                </a:solidFill>
              </a:rPr>
              <a:t>update — runs after each iteration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example.js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4114800" cy="1371600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383280"/>
            <a:ext cx="384048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 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i &lt;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i++) {
</a:t>
            </a:r>
            <a:r>
              <a:rPr lang="en-US" sz="12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"Count: "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+ i);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81728"/>
            <a:ext cx="411480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8172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731"/>
                </a:solidFill>
              </a:rPr>
              <a:t>✅  Output: Count: 0, 1, 2, 3, 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1005840"/>
            <a:ext cx="1554480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00584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1481328"/>
            <a:ext cx="0" cy="256032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1737360"/>
            <a:ext cx="1737360" cy="475488"/>
          </a:xfrm>
          <a:prstGeom prst="rect">
            <a:avLst/>
          </a:prstGeom>
          <a:solidFill>
            <a:srgbClr val="FCD34D">
              <a:alpha val="85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73736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init (i=0)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2212848"/>
            <a:ext cx="0" cy="256032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468880"/>
            <a:ext cx="1737360" cy="502920"/>
          </a:xfrm>
          <a:prstGeom prst="rect">
            <a:avLst/>
          </a:prstGeom>
          <a:solidFill>
            <a:srgbClr val="A3E635">
              <a:alpha val="90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24688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i &lt; 5 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2971800"/>
            <a:ext cx="0" cy="256032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999232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YES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3227832"/>
            <a:ext cx="173736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227832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Body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3703320"/>
            <a:ext cx="0" cy="22860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3931920"/>
            <a:ext cx="1737360" cy="457200"/>
          </a:xfrm>
          <a:prstGeom prst="rect">
            <a:avLst/>
          </a:prstGeom>
          <a:solidFill>
            <a:srgbClr val="86EFAC">
              <a:alpha val="90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39319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i++ (update)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40680" y="4160520"/>
            <a:ext cx="548640" cy="0"/>
          </a:xfrm>
          <a:prstGeom prst="line">
            <a:avLst/>
          </a:prstGeom>
          <a:noFill/>
          <a:ln w="25400">
            <a:solidFill>
              <a:srgbClr val="86EF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0680" y="2715768"/>
            <a:ext cx="0" cy="1444752"/>
          </a:xfrm>
          <a:prstGeom prst="line">
            <a:avLst/>
          </a:prstGeom>
          <a:noFill/>
          <a:ln w="25400">
            <a:solidFill>
              <a:srgbClr val="86EF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0680" y="2715768"/>
            <a:ext cx="548640" cy="0"/>
          </a:xfrm>
          <a:prstGeom prst="line">
            <a:avLst/>
          </a:prstGeom>
          <a:noFill/>
          <a:ln w="25400">
            <a:solidFill>
              <a:srgbClr val="86EF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2715768"/>
            <a:ext cx="731520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2487168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NO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2715895"/>
            <a:ext cx="128016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63840" y="2724785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🔄  The while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100584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840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Checks the condition BEFORE each iteration.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Keeps looping while condition is true.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Used when number of iterations is unknown.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20624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4884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SYNTAX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32888"/>
            <a:ext cx="4206240" cy="777240"/>
          </a:xfrm>
          <a:prstGeom prst="rect">
            <a:avLst/>
          </a:prstGeom>
          <a:solidFill>
            <a:srgbClr val="052E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587752"/>
            <a:ext cx="393192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300" i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42062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42900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example.js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13048"/>
            <a:ext cx="4206240" cy="1261872"/>
          </a:xfrm>
          <a:prstGeom prst="rect">
            <a:avLst/>
          </a:prstGeom>
          <a:solidFill>
            <a:srgbClr val="052E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867912"/>
            <a:ext cx="39319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count 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2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(count &lt;= </a:t>
            </a:r>
            <a:r>
              <a:rPr lang="en-US" sz="12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r>
              <a:rPr lang="en-US" sz="12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.log(count);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count++;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1463040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0584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481328"/>
            <a:ext cx="0" cy="27432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755648"/>
            <a:ext cx="1737360" cy="530352"/>
          </a:xfrm>
          <a:prstGeom prst="rect">
            <a:avLst/>
          </a:prstGeom>
          <a:solidFill>
            <a:srgbClr val="A3E635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755648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condition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true?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2286000"/>
            <a:ext cx="0" cy="2743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2313432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9320" y="2560320"/>
            <a:ext cx="173736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5603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Body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3063240"/>
            <a:ext cx="0" cy="256032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3319272"/>
            <a:ext cx="1737360" cy="457200"/>
          </a:xfrm>
          <a:prstGeom prst="rect">
            <a:avLst/>
          </a:prstGeom>
          <a:solidFill>
            <a:srgbClr val="86EFAC">
              <a:alpha val="80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31927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Update var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94960" y="3547872"/>
            <a:ext cx="594360" cy="0"/>
          </a:xfrm>
          <a:prstGeom prst="line">
            <a:avLst/>
          </a:prstGeom>
          <a:noFill/>
          <a:ln w="25400">
            <a:solidFill>
              <a:srgbClr val="86EF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2020824"/>
            <a:ext cx="0" cy="1527048"/>
          </a:xfrm>
          <a:prstGeom prst="line">
            <a:avLst/>
          </a:prstGeom>
          <a:noFill/>
          <a:ln w="25400">
            <a:solidFill>
              <a:srgbClr val="86E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2020824"/>
            <a:ext cx="594360" cy="0"/>
          </a:xfrm>
          <a:prstGeom prst="line">
            <a:avLst/>
          </a:prstGeom>
          <a:noFill/>
          <a:ln w="254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2020824"/>
            <a:ext cx="777240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4112" y="1810512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12480" y="1773936"/>
            <a:ext cx="1280160" cy="49377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1773936"/>
            <a:ext cx="128016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320"/>
          </a:solidFill>
          <a:ln w="12700">
            <a:solidFill>
              <a:srgbClr val="0F33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5 / 11  •  JavaScript Loops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▶️  The do…while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685800"/>
          </a:xfrm>
          <a:prstGeom prst="rect">
            <a:avLst/>
          </a:prstGeom>
          <a:solidFill>
            <a:srgbClr val="A3E635">
              <a:alpha val="90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731"/>
                </a:solidFill>
              </a:rPr>
              <a:t>⚡  Key Difference: Code runs AT LEAST ONCE before condition is checked!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2062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SYNTAX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206240" cy="914400"/>
          </a:xfrm>
          <a:prstGeom prst="rect">
            <a:avLst/>
          </a:prstGeom>
          <a:solidFill>
            <a:srgbClr val="052E16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67712"/>
            <a:ext cx="3931920" cy="7955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always runs once!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300" i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condition</a:t>
            </a: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246120"/>
            <a:ext cx="42062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24612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example.js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630168"/>
            <a:ext cx="4206240" cy="1417320"/>
          </a:xfrm>
          <a:prstGeom prst="rect">
            <a:avLst/>
          </a:prstGeom>
          <a:solidFill>
            <a:srgbClr val="052E16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685032"/>
            <a:ext cx="39319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num =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
</a:t>
            </a:r>
            <a:r>
              <a:rPr lang="en-US" sz="11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</a:t>
            </a:r>
            <a:r>
              <a:rPr lang="en-US" sz="11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</a:t>
            </a:r>
            <a:r>
              <a:rPr lang="en-US" sz="11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"Number: "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+ num);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num++;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(num &lt;=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1463040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0584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481328"/>
            <a:ext cx="0" cy="27432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755648"/>
            <a:ext cx="1737360" cy="530352"/>
          </a:xfrm>
          <a:prstGeom prst="rect">
            <a:avLst/>
          </a:prstGeom>
          <a:solidFill>
            <a:srgbClr val="A3E635">
              <a:alpha val="90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755648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Execute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Body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2286000"/>
            <a:ext cx="0" cy="27432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2560320"/>
            <a:ext cx="1737360" cy="530352"/>
          </a:xfrm>
          <a:prstGeom prst="rect">
            <a:avLst/>
          </a:prstGeom>
          <a:solidFill>
            <a:srgbClr val="FCD34D">
              <a:alpha val="85000"/>
            </a:srgbClr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560320"/>
            <a:ext cx="17373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condition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</a:rPr>
              <a:t>true?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2825496"/>
            <a:ext cx="5943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020824"/>
            <a:ext cx="0" cy="804672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020824"/>
            <a:ext cx="5943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286000"/>
            <a:ext cx="457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3090672"/>
            <a:ext cx="0" cy="27432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3118104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364992"/>
            <a:ext cx="1463040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36499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397764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4023360"/>
            <a:ext cx="3566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</a:rPr>
              <a:t>while</a:t>
            </a:r>
            <a:r>
              <a:rPr lang="en-US" sz="1100" dirty="0">
                <a:solidFill>
                  <a:srgbClr val="444444"/>
                </a:solidFill>
              </a:rPr>
              <a:t> → checks first, may skip
</a:t>
            </a:r>
            <a:r>
              <a:rPr lang="en-US" sz="1100" b="1" dirty="0">
                <a:solidFill>
                  <a:srgbClr val="1A4731"/>
                </a:solidFill>
              </a:rPr>
              <a:t>do…while</a:t>
            </a:r>
            <a:r>
              <a:rPr lang="en-US" sz="1100" dirty="0">
                <a:solidFill>
                  <a:srgbClr val="444444"/>
                </a:solidFill>
              </a:rPr>
              <a:t> → runs first, checks after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6 / 11  •  JavaScript Loops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🔑  The for…in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777240"/>
          </a:xfrm>
          <a:prstGeom prst="rect">
            <a:avLst/>
          </a:prstGeom>
          <a:solidFill>
            <a:srgbClr val="16653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73152" cy="77724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84048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</a:rPr>
              <a:t>Iterates over the enumerable KEYS of an object.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</a:rPr>
              <a:t>Best used with plain objects (not arrays).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384048"/>
          </a:xfrm>
          <a:prstGeom prst="rect">
            <a:avLst/>
          </a:prstGeom>
          <a:solidFill>
            <a:srgbClr val="107060"/>
          </a:solidFill>
          <a:ln w="12700">
            <a:solidFill>
              <a:srgbClr val="107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SYNTAX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4206240" cy="749808"/>
          </a:xfrm>
          <a:prstGeom prst="rect">
            <a:avLst/>
          </a:prstGeom>
          <a:solidFill>
            <a:srgbClr val="052E16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50008"/>
            <a:ext cx="39319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2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2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key </a:t>
            </a:r>
            <a:r>
              <a:rPr lang="en-US" sz="12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object)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key = property name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2062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15468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example.js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38728"/>
            <a:ext cx="4206240" cy="1554480"/>
          </a:xfrm>
          <a:prstGeom prst="rect">
            <a:avLst/>
          </a:prstGeom>
          <a:solidFill>
            <a:srgbClr val="052E16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93592"/>
            <a:ext cx="393192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person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"Ali"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age: </a:t>
            </a:r>
            <a:r>
              <a:rPr lang="en-US" sz="11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city: </a:t>
            </a:r>
            <a:r>
              <a:rPr lang="en-US" sz="11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"Lahore"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};
</a:t>
            </a:r>
            <a:r>
              <a:rPr lang="en-US" sz="11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1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1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key </a:t>
            </a:r>
            <a:r>
              <a:rPr lang="en-US" sz="11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person)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.log(key, person[key]);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3840480" cy="3566160"/>
          </a:xfrm>
          <a:prstGeom prst="rect">
            <a:avLst/>
          </a:prstGeom>
          <a:solidFill>
            <a:srgbClr val="16653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solidFill>
            <a:srgbClr val="107060"/>
          </a:solidFill>
          <a:ln w="12700">
            <a:solidFill>
              <a:srgbClr val="107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 ITERATION DIAGRAM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1554480"/>
            <a:ext cx="3474720" cy="2286000"/>
          </a:xfrm>
          <a:prstGeom prst="rect">
            <a:avLst/>
          </a:prstGeom>
          <a:solidFill>
            <a:srgbClr val="052E16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572768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person { 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1965960"/>
            <a:ext cx="292608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965960"/>
            <a:ext cx="365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🔑 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196596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"Ali"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560320"/>
            <a:ext cx="292608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560320"/>
            <a:ext cx="365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🔑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256032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256032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25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3154680"/>
            <a:ext cx="292608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154680"/>
            <a:ext cx="365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🔑 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3154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1546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"Lahore"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794760"/>
            <a:ext cx="3474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 Ali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city Lahore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320"/>
          </a:solidFill>
          <a:ln w="12700">
            <a:solidFill>
              <a:srgbClr val="0F33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7 / 11  •  JavaScript Loops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📦  The for…of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73152" cy="777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9848"/>
            <a:ext cx="3840480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Iterates over the VALUES of any iterable: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arrays, strings, Sets, Maps &amp; more.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SYNTAX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4206240" cy="749808"/>
          </a:xfrm>
          <a:prstGeom prst="rect">
            <a:avLst/>
          </a:prstGeom>
          <a:solidFill>
            <a:srgbClr val="052E1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50008"/>
            <a:ext cx="39319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2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2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value </a:t>
            </a:r>
            <a:r>
              <a:rPr lang="en-US" sz="12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</a:t>
            </a: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iterable)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value = each element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2062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15468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example.js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38728"/>
            <a:ext cx="4206240" cy="1554480"/>
          </a:xfrm>
          <a:prstGeom prst="rect">
            <a:avLst/>
          </a:prstGeom>
          <a:solidFill>
            <a:srgbClr val="052E1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93592"/>
            <a:ext cx="393192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fruits = [</a:t>
            </a:r>
            <a:r>
              <a:rPr lang="en-US" sz="11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"Apple"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1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"Mango"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1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"Banana"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
</a:t>
            </a:r>
            <a:r>
              <a:rPr lang="en-US" sz="11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10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1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fruit </a:t>
            </a:r>
            <a:r>
              <a:rPr lang="en-US" sz="110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</a:t>
            </a: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fruits)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.log(fruit);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ARRAY ITERATION DIAGRAM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50876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fruits [ 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66360" y="1920240"/>
            <a:ext cx="155448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920240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[0]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192024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🍎 Apple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2157984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1920240"/>
            <a:ext cx="14630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6328" y="1920240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log: 🍎 Apple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66360" y="2487168"/>
            <a:ext cx="155448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4871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248716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🥭 Mango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66560" y="2724912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2487168"/>
            <a:ext cx="14630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2487168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log: 🥭 Mango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66360" y="3054096"/>
            <a:ext cx="155448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054096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15000" y="305409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</a:rPr>
              <a:t>🍌 Banana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66560" y="3291840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3054096"/>
            <a:ext cx="14630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6328" y="3054096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log: 🍌 Banana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3703320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for…of vs for…in: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• for…in → keys (0,1,2)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• for…of → values (Apple…)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8 / 11  •  JavaScript Loops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Loop Comparison — When to Use Which?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1887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8760" y="1005840"/>
            <a:ext cx="14630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Checks Before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005840"/>
            <a:ext cx="28346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005840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For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1005840"/>
            <a:ext cx="23774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005840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Works 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118872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5448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1554480"/>
            <a:ext cx="14630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155448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1554480"/>
            <a:ext cx="28346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55448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 iterations (count-based)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1554480"/>
            <a:ext cx="23774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55448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Numbers / arrays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118872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9456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08760" y="2194560"/>
            <a:ext cx="146304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219456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2194560"/>
            <a:ext cx="283464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21945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Unknown iterations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2194560"/>
            <a:ext cx="237744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19456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condition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118872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83464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E6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do…while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08760" y="2834640"/>
            <a:ext cx="14630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283464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After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17520" y="2834640"/>
            <a:ext cx="28346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283464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run at least once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2834640"/>
            <a:ext cx="23774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283464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 loops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474720"/>
            <a:ext cx="118872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747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for…in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508760" y="3474720"/>
            <a:ext cx="146304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54480" y="34747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17520" y="3474720"/>
            <a:ext cx="283464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347472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keys / properties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97880" y="3474720"/>
            <a:ext cx="2377440" cy="566928"/>
          </a:xfrm>
          <a:prstGeom prst="rect">
            <a:avLst/>
          </a:prstGeom>
          <a:solidFill>
            <a:srgbClr val="1E5C38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47472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4114800"/>
            <a:ext cx="118872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11480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for…of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508760" y="4114800"/>
            <a:ext cx="14630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411480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17520" y="4114800"/>
            <a:ext cx="28346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63240" y="411480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Iterable values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897880" y="4114800"/>
            <a:ext cx="23774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411480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Arrays, strings, Sets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F33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</a:rPr>
              <a:t>💡  Tip: When in doubt, use for…of for arrays and for…in for objects.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Loop Control: break &amp; continue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114800" cy="4389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🛑  break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Exits the loop immediately.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84048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break-example.js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3840480" cy="1417320"/>
          </a:xfrm>
          <a:prstGeom prst="rect">
            <a:avLst/>
          </a:prstGeom>
          <a:solidFill>
            <a:srgbClr val="052E1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3657600" cy="12984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1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 =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i &lt;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===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</a:t>
            </a:r>
            <a:r>
              <a:rPr lang="en-US" sz="115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break</a:t>
            </a:r>
            <a:r>
              <a:rPr lang="en-US" sz="11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.log(i);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767328"/>
            <a:ext cx="3840480" cy="384048"/>
          </a:xfrm>
          <a:prstGeom prst="rect">
            <a:avLst/>
          </a:prstGeom>
          <a:solidFill>
            <a:srgbClr val="FFE4E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6732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✅  Output: 0, 1, 2, 3, 4  (stops at 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24128"/>
            <a:ext cx="4114800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24128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4731"/>
                </a:solidFill>
              </a:rPr>
              <a:t>⏭️  continue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Skips current iteration, continues loop.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384048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659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continue-example.js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313432"/>
            <a:ext cx="3840480" cy="1417320"/>
          </a:xfrm>
          <a:prstGeom prst="rect">
            <a:avLst/>
          </a:prstGeom>
          <a:solidFill>
            <a:srgbClr val="052E1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68296"/>
            <a:ext cx="3657600" cy="12984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</a:t>
            </a:r>
            <a:r>
              <a:rPr lang="en-US" sz="11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 =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i &lt;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%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=== </a:t>
            </a:r>
            <a:r>
              <a:rPr lang="en-US" sz="115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</a:t>
            </a:r>
            <a:r>
              <a:rPr lang="en-US" sz="1150" b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continue</a:t>
            </a:r>
            <a:r>
              <a:rPr lang="en-US" sz="11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.log(i);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3767328"/>
            <a:ext cx="384048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6732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3F12"/>
                </a:solidFill>
              </a:rPr>
              <a:t>✅  Output: 1, 3, 5  (skips even numbers)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Slide 10 / 11  •  JavaScript Loops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&amp; Best Practices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2801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Use when count is known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28016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05840"/>
            <a:ext cx="26974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43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10128" y="160020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Use for unknown iterations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97480" cy="1280160"/>
          </a:xfrm>
          <a:prstGeom prst="rect">
            <a:avLst/>
          </a:prstGeom>
          <a:solidFill>
            <a:srgbClr val="166534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97480" cy="73152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143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3E6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do…while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36208" y="160020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Use when must run once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4160520" cy="1280160"/>
          </a:xfrm>
          <a:prstGeom prst="rect">
            <a:avLst/>
          </a:prstGeom>
          <a:solidFill>
            <a:srgbClr val="16653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514600"/>
            <a:ext cx="4160520" cy="7315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517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for…in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4048" y="31089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Use for object keys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0" y="2514600"/>
            <a:ext cx="4160520" cy="1280160"/>
          </a:xfrm>
          <a:prstGeom prst="rect">
            <a:avLst/>
          </a:prstGeom>
          <a:solidFill>
            <a:srgbClr val="16653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514600"/>
            <a:ext cx="416052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6517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for…of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10128" y="31089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</a:rPr>
              <a:t>Use for array values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3913632"/>
            <a:ext cx="8595360" cy="822960"/>
          </a:xfrm>
          <a:prstGeom prst="rect">
            <a:avLst/>
          </a:prstGeom>
          <a:solidFill>
            <a:srgbClr val="0F33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50208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💡 Best Practices:  </a:t>
            </a:r>
            <a:r>
              <a:rPr lang="en-US" sz="1200" dirty="0">
                <a:solidFill>
                  <a:srgbClr val="86EFAC"/>
                </a:solidFill>
              </a:rPr>
              <a:t>Always update loop variable  •  </a:t>
            </a:r>
            <a:r>
              <a:rPr lang="en-US" sz="1200" dirty="0">
                <a:solidFill>
                  <a:srgbClr val="86EFAC"/>
                </a:solidFill>
              </a:rPr>
              <a:t>Avoid infinite loops  •  </a:t>
            </a:r>
            <a:r>
              <a:rPr lang="en-US" sz="1200" dirty="0">
                <a:solidFill>
                  <a:srgbClr val="86EFAC"/>
                </a:solidFill>
              </a:rPr>
              <a:t>Use break/continue wisely  •  </a:t>
            </a:r>
            <a:r>
              <a:rPr lang="en-US" sz="1200" dirty="0">
                <a:solidFill>
                  <a:srgbClr val="86EFAC"/>
                </a:solidFill>
              </a:rPr>
              <a:t>Prefer for…of over for for arrays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</a:rPr>
              <a:t>JavaScript Loops — Complete Guide  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4034</Words>
  <Application>WPS Presentation</Application>
  <PresentationFormat>On-screen Show (16:9)</PresentationFormat>
  <Paragraphs>410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Loops</dc:title>
  <dc:creator>PptxGenJS</dc:creator>
  <dc:subject>PptxGenJS Presentation</dc:subject>
  <cp:lastModifiedBy>PMYLS</cp:lastModifiedBy>
  <cp:revision>2</cp:revision>
  <dcterms:created xsi:type="dcterms:W3CDTF">2026-03-23T17:30:00Z</dcterms:created>
  <dcterms:modified xsi:type="dcterms:W3CDTF">2026-03-28T07:15:12Z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84A033629BC6451A862EC97DDA80AC8A_12</vt:lpwstr>
  </property>
  <property fmtid="{D5CDD505-2E9C-101B-9397-08002B2CF9AE}" pid="3" name="KSOProductBuildVer">
    <vt:lpwstr>1033-12.2.0.23196</vt:lpwstr>
  </property>
</Properties>
</file>