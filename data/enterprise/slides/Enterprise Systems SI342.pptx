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84124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82880"/>
            <a:ext cx="2286000" cy="2286000"/>
          </a:xfrm>
          <a:prstGeom prst="ellipse">
            <a:avLst/>
          </a:prstGeom>
          <a:solidFill>
            <a:srgbClr val="A8DADC">
              <a:alpha val="15000"/>
            </a:srgbClr>
          </a:solidFill>
          <a:ln w="12700">
            <a:solidFill>
              <a:srgbClr val="A8DADC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14400"/>
            <a:ext cx="1463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SI-342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Introduction &amp; Overview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University Affiliated Colleges  |  </a:t>
            </a:r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Information Technology  |  </a:t>
            </a:r>
            <a:pPr indent="0" marL="0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Credit Hours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SI-342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234440"/>
            <a:ext cx="2743200" cy="137160"/>
          </a:xfrm>
          <a:prstGeom prst="rect">
            <a:avLst/>
          </a:prstGeom>
          <a:solidFill>
            <a:srgbClr val="E05C00"/>
          </a:solidFill>
          <a:ln w="12700">
            <a:solidFill>
              <a:srgbClr val="E05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Hours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234440"/>
            <a:ext cx="2743200" cy="13716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Supporting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43200"/>
            <a:ext cx="2743200" cy="137160"/>
          </a:xfrm>
          <a:prstGeom prst="rect">
            <a:avLst/>
          </a:prstGeom>
          <a:solidFill>
            <a:srgbClr val="5E4B8B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200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200400" y="274320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43200"/>
            <a:ext cx="274320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Co-Requisite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200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DI-222: Web Technologies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743200"/>
            <a:ext cx="2743200" cy="137160"/>
          </a:xfrm>
          <a:prstGeom prst="rect">
            <a:avLst/>
          </a:prstGeom>
          <a:solidFill>
            <a:srgbClr val="5E4B8B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200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Enterprise Systems  |  SI-342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Enterprise System?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51560"/>
          </a:xfrm>
          <a:prstGeom prst="rect">
            <a:avLst/>
          </a:prstGeom>
          <a:solidFill>
            <a:srgbClr val="EAF6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0700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System (ES) is a large-scale software platform designed to support and integrate multiple business processes across an organization — including finance, HR, supply chain, and operations.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2651760" cy="22860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all departments and data into a unified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377440"/>
            <a:ext cx="2651760" cy="22860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growing data and users across the organization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377440"/>
            <a:ext cx="2651760" cy="22860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3504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repetitive tasks to increase efficiency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SAP, Oracle ERP, Microsoft Dynamics — used by Fortune 500 companies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Enterprise Systems  |  SI-342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 — Major Topics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2618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Framework &amp; C#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Managed/Unmanaged Code, CLR, CTS, Assembly, Boxing/Unboxing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02920" cy="1005840"/>
          </a:xfrm>
          <a:prstGeom prst="rect">
            <a:avLst/>
          </a:prstGeom>
          <a:solidFill>
            <a:srgbClr val="E05C00"/>
          </a:solidFill>
          <a:ln w="12700">
            <a:solidFill>
              <a:srgbClr val="E05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2618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ADO.NET &amp; Data Access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6002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parameterized queries, DataSet, DataAdapter, Command Builder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2316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23160"/>
            <a:ext cx="502920" cy="100584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23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4963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&amp; Entity Framework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834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to Objects/SQL, query syntax, POCO, DBContext, lazy loading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42316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423160"/>
            <a:ext cx="502920" cy="1005840"/>
          </a:xfrm>
          <a:prstGeom prst="rect">
            <a:avLst/>
          </a:prstGeom>
          <a:solidFill>
            <a:srgbClr val="5E4B8B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423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4963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MVC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834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structure, Controllers, Action Methods, Razor syntax, Data Annotations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57600"/>
            <a:ext cx="50292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576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7307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&amp; jQuery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0690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functions, DOM, BOM, jQuery effects, AJAX &amp; JSON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57600"/>
            <a:ext cx="502920" cy="10058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576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7307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 Architecture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0690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SOAP, WSDL, WCF, REST services, Web API, CRUD operations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Enterprise Systems  |  SI-342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— Introduction to .NET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474720" cy="5029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Your C# Application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99339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34747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48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CLR – Common Language Runtime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2633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3474720" cy="502920"/>
          </a:xfrm>
          <a:prstGeom prst="rect">
            <a:avLst/>
          </a:prstGeom>
          <a:solidFill>
            <a:srgbClr val="028060"/>
          </a:solidFill>
          <a:ln w="12700">
            <a:solidFill>
              <a:srgbClr val="028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88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CTS / CLS / MSIL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32735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34747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29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Operating 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1508760"/>
            <a:ext cx="420624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5544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Code: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&amp; memory-managed by CLR (garbage collection)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167128"/>
            <a:ext cx="420624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2128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Code: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directly on OS — C++, COM components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825496"/>
            <a:ext cx="420624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87121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Boxing: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type → Object  |  e.g. int i = 5; object o = i;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483864"/>
            <a:ext cx="420624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52958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Unboxing: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→ Value type  |  e.g. int j = (int)o;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4142232"/>
            <a:ext cx="420624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18795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.NET unit (.dll or .exe) containing MSIL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Enterprise Systems  |  SI-342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5C00"/>
          </a:solidFill>
          <a:ln w="12700">
            <a:solidFill>
              <a:srgbClr val="E0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— ADO.NET &amp; Parameterized Queries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E05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SQL Injection Risk: Never concatenate user input directly into SQL queries!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3931920" cy="320040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UNSAFE — SQL Injection Vulnerable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3931920" cy="1463040"/>
          </a:xfrm>
          <a:prstGeom prst="rect">
            <a:avLst/>
          </a:prstGeom>
          <a:solidFill>
            <a:srgbClr val="1E1E2E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402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sql = "SELECT * FROM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Name = '" + name + "'";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Attacker enters: ' OR 1=1--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Gets ALL records!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874520"/>
            <a:ext cx="3931920" cy="3200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SAFE — Parameterized Query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194560"/>
            <a:ext cx="3931920" cy="1463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2402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sql = "SELECT * FROM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Name = @Name";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cmd.Parameters.AddWithValue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("@Name", name);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ADO.NET Key Components: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114800"/>
            <a:ext cx="2560320" cy="320040"/>
          </a:xfrm>
          <a:prstGeom prst="rect">
            <a:avLst/>
          </a:prstGeom>
          <a:solidFill>
            <a:srgbClr val="E05C00"/>
          </a:solidFill>
          <a:ln w="12700">
            <a:solidFill>
              <a:srgbClr val="E05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SqlConnection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4114800"/>
            <a:ext cx="2560320" cy="320040"/>
          </a:xfrm>
          <a:prstGeom prst="rect">
            <a:avLst/>
          </a:prstGeom>
          <a:solidFill>
            <a:srgbClr val="E05C00"/>
          </a:solidFill>
          <a:ln w="12700">
            <a:solidFill>
              <a:srgbClr val="E05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SqlCommand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4114800"/>
            <a:ext cx="2560320" cy="320040"/>
          </a:xfrm>
          <a:prstGeom prst="rect">
            <a:avLst/>
          </a:prstGeom>
          <a:solidFill>
            <a:srgbClr val="E05C00"/>
          </a:solidFill>
          <a:ln w="12700">
            <a:solidFill>
              <a:srgbClr val="E05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SqlDataReader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526280"/>
            <a:ext cx="2560320" cy="320040"/>
          </a:xfrm>
          <a:prstGeom prst="rect">
            <a:avLst/>
          </a:prstGeom>
          <a:solidFill>
            <a:srgbClr val="E05C00"/>
          </a:solidFill>
          <a:ln w="12700">
            <a:solidFill>
              <a:srgbClr val="E05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526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4526280"/>
            <a:ext cx="2560320" cy="320040"/>
          </a:xfrm>
          <a:prstGeom prst="rect">
            <a:avLst/>
          </a:prstGeom>
          <a:solidFill>
            <a:srgbClr val="E05C00"/>
          </a:solidFill>
          <a:ln w="12700">
            <a:solidFill>
              <a:srgbClr val="E05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4526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DataAdapter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4526280"/>
            <a:ext cx="2560320" cy="320040"/>
          </a:xfrm>
          <a:prstGeom prst="rect">
            <a:avLst/>
          </a:prstGeom>
          <a:solidFill>
            <a:srgbClr val="E05C00"/>
          </a:solidFill>
          <a:ln w="12700">
            <a:solidFill>
              <a:srgbClr val="E05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4526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CommandBuilder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E05C00"/>
          </a:solidFill>
          <a:ln w="12700">
            <a:solidFill>
              <a:srgbClr val="E05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Enterprise Systems  |  SI-342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— LINQ &amp; ADO.NET Entity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— Language Integrated Query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57200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4297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B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LINQ Query Syntax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B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adults = from p in people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B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where p.Age &gt;= 18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B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select p.Name;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B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LINQ Method Syntax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B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people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B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.Where(p =&gt; p.Age &gt;= 18)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B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.Select(p =&gt; p.Name);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Variants: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4160520"/>
            <a:ext cx="1005840" cy="5029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160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to Objects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81328" y="4160520"/>
            <a:ext cx="1005840" cy="5029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4160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to SQL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96896" y="4160520"/>
            <a:ext cx="1005840" cy="5029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4160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to XML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12464" y="4160520"/>
            <a:ext cx="1005840" cy="5029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4160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to Entities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Concepts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12080" y="1508760"/>
            <a:ext cx="356616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1508760"/>
            <a:ext cx="91440" cy="47548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5636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Classes: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C# classes mapped to DB tables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2075688"/>
            <a:ext cx="356616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2075688"/>
            <a:ext cx="91440" cy="47548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1305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between app and database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2642616"/>
            <a:ext cx="356616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2642616"/>
            <a:ext cx="91440" cy="47548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Loading: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related data immediately (.Include())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0" y="3209544"/>
            <a:ext cx="356616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0" y="3209544"/>
            <a:ext cx="91440" cy="47548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32644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related data on demand (virtual)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0" y="3776472"/>
            <a:ext cx="356616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0" y="3776472"/>
            <a:ext cx="91440" cy="47548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83133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CSDL: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 Definition Language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Enterprise Systems  |  SI-342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E4B8B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— ASP.NET MVC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286000" cy="20116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(POCO,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EF, Validation)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2286000" cy="2011680"/>
          </a:xfrm>
          <a:prstGeom prst="rect">
            <a:avLst/>
          </a:prstGeom>
          <a:solidFill>
            <a:srgbClr val="5E4B8B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234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20440" y="17373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(Razor .cshtml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188720"/>
            <a:ext cx="2286000" cy="2011680"/>
          </a:xfrm>
          <a:prstGeom prst="rect">
            <a:avLst/>
          </a:prstGeom>
          <a:solidFill>
            <a:srgbClr val="E05C00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234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0" y="17373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handler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(Action Methods,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1920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2E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69280" y="1920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2E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-91440" y="18745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-914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ASP.NET MVC Features: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49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Razor View Engine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74904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749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Data Annotations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374904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749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Model Binding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87952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87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Client &amp; Server Validation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4187952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4187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MVC Routing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4187952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4187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Action Filters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5E4B8B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Enterprise Systems  |  SI-342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 — Service-Oriented Architecture (SOA)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43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SOAP / WCF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4206240" cy="429768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733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Protocol: SOAP (XML-based)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21408"/>
            <a:ext cx="4206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Used in enterprise B2B integrations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96896"/>
            <a:ext cx="4206240" cy="429768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24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Requires WSDL contract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72384"/>
            <a:ext cx="4206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998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Supports WCF bindings (TCP, HTTP, Named Pipes)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47872"/>
            <a:ext cx="4206240" cy="429768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753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Strict standards — security &amp; transactions built-in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023360"/>
            <a:ext cx="4206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507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Example: Banking &amp; government services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143000"/>
            <a:ext cx="4206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143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REST / Web API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1645920"/>
            <a:ext cx="4206240" cy="429768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6733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Protocol: HTTP (JSON / XML)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121408"/>
            <a:ext cx="4206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Lightweight — used in mobile &amp; web apps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596896"/>
            <a:ext cx="4206240" cy="429768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624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formal contract needed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072384"/>
            <a:ext cx="4206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0998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CRUD: GET, POST, PUT, DELETE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547872"/>
            <a:ext cx="4206240" cy="429768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5753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Stateless — easy to scale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4023360"/>
            <a:ext cx="4206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0507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Example: Twitter API, Google Maps API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Enterprise Systems  |  SI-342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Books &amp; 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TEXT BOOKS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548640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8191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Herbert Schildt — C# 4.0: The Complete Reference, McGraw-Hill, 2010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8412480" cy="548640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2199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A. Freeman &amp; S. Sanderson — Pro ASP.NET MVC 4, 4th Ed., Apress, 2012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2011680" cy="365760"/>
          </a:xfrm>
          <a:prstGeom prst="rect">
            <a:avLst/>
          </a:prstGeom>
          <a:solidFill>
            <a:srgbClr val="E05C00"/>
          </a:solidFill>
          <a:ln w="12700">
            <a:solidFill>
              <a:srgbClr val="E05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REFERENCES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8412480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558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 Julia Lerman — Programming Entity Framework, 2nd Ed., O'Reilly, 2010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85032"/>
            <a:ext cx="8412480" cy="30175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033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 Fabrice Marguerie et al. — LINQ in Action, Manning, 2008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32504"/>
            <a:ext cx="8412480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507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 Jeremy McPeak — Beginning JavaScript, 5th Ed., Wiley, 2015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379976"/>
            <a:ext cx="8412480" cy="30175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9826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 Pablo Cibraro et al. — Professional WCF 4, Wiley, 2010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Enterprise Systems  |  SI-342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371600"/>
            <a:ext cx="54864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Applications!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1828800" y="3154680"/>
            <a:ext cx="54864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SI-342 Enterprise Systems  |  BS Information Technology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University Affiliated Colleges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Systems - SI-342</dc:title>
  <dc:subject>PptxGenJS Presentation</dc:subject>
  <dc:creator>PptxGenJS</dc:creator>
  <cp:lastModifiedBy>PptxGenJS</cp:lastModifiedBy>
  <cp:revision>1</cp:revision>
  <dcterms:created xsi:type="dcterms:W3CDTF">2026-03-08T10:04:31Z</dcterms:created>
  <dcterms:modified xsi:type="dcterms:W3CDTF">2026-03-08T10:04:31Z</dcterms:modified>
</cp:coreProperties>
</file>