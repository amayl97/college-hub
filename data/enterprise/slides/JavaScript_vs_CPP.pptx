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-274320"/>
            <a:ext cx="1645920" cy="1645920"/>
          </a:xfrm>
          <a:prstGeom prst="ellipse">
            <a:avLst/>
          </a:prstGeom>
          <a:solidFill>
            <a:srgbClr val="FE8802">
              <a:alpha val="30000"/>
            </a:srgbClr>
          </a:solidFill>
          <a:ln w="12700">
            <a:solidFill>
              <a:srgbClr val="FE8802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3657600"/>
            <a:ext cx="2286000" cy="2286000"/>
          </a:xfrm>
          <a:prstGeom prst="ellipse">
            <a:avLst/>
          </a:prstGeom>
          <a:solidFill>
            <a:srgbClr val="FDA913">
              <a:alpha val="20000"/>
            </a:srgbClr>
          </a:solidFill>
          <a:ln w="12700">
            <a:solidFill>
              <a:srgbClr val="FDA913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22960"/>
            <a:ext cx="1371600" cy="1371600"/>
          </a:xfrm>
          <a:prstGeom prst="rect">
            <a:avLst>
              <a:gd name="adj" fmla="val 5333"/>
            </a:avLst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JS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1371600" cy="1371600"/>
          </a:xfrm>
          <a:prstGeom prst="rect">
            <a:avLst>
              <a:gd name="adj" fmla="val 5333"/>
            </a:avLst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23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C++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9144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8DC32"/>
                </a:solidFill>
              </a:rPr>
              <a:t>JavaScript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572000" y="1783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2C179"/>
                </a:solidFill>
              </a:rPr>
              <a:t>vs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E8802"/>
                </a:solidFill>
              </a:rPr>
              <a:t>C++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57200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2C179"/>
                </a:solidFill>
              </a:rPr>
              <a:t>A Complete Language Comparison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DA913"/>
                </a:solidFill>
              </a:rPr>
              <a:t>with Code Examples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DC32"/>
                </a:solidFill>
              </a:rPr>
              <a:t>Language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3749040"/>
          </a:xfrm>
          <a:prstGeom prst="rect">
            <a:avLst/>
          </a:prstGeom>
          <a:solidFill>
            <a:srgbClr val="16213E"/>
          </a:solidFill>
          <a:ln w="25400">
            <a:solidFill>
              <a:srgbClr val="F8DC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3931920" cy="502920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Created by Brendan Eich (1995)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Interpreted / JIT compiled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Dynamically typed language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Runs in browsers &amp; Node.js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Garbage collected (auto memory)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Prototype-based OOP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3931920" cy="3749040"/>
          </a:xfrm>
          <a:prstGeom prst="rect">
            <a:avLst/>
          </a:prstGeom>
          <a:solidFill>
            <a:srgbClr val="16213E"/>
          </a:solidFill>
          <a:ln w="25400">
            <a:solidFill>
              <a:srgbClr val="FE880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051560"/>
            <a:ext cx="3931920" cy="502920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C++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664208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Created by Bjarne Stroustrup (1985)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Compiled to machine code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Statically typed language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System &amp; application software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Manual memory management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8E7"/>
                </a:solidFill>
              </a:rPr>
              <a:t>Class-based OOP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2468880"/>
            <a:ext cx="822960" cy="822960"/>
          </a:xfrm>
          <a:prstGeom prst="ellipse">
            <a:avLst/>
          </a:prstGeom>
          <a:solidFill>
            <a:srgbClr val="FDA913"/>
          </a:solidFill>
          <a:ln w="12700">
            <a:solidFill>
              <a:srgbClr val="FDA9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DA913"/>
          </a:solidFill>
          <a:ln w="12700">
            <a:solidFill>
              <a:srgbClr val="FDA9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DC32"/>
                </a:solidFill>
              </a:rPr>
              <a:t>Hello World &amp; Variables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3931920" cy="3383280"/>
          </a:xfrm>
          <a:prstGeom prst="rect">
            <a:avLst/>
          </a:prstGeom>
          <a:solidFill>
            <a:srgbClr val="0F0F23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Hello World in JavaScript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Variables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// string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// number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// const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`Hello, ${name}!`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C++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931920" cy="3383280"/>
          </a:xfrm>
          <a:prstGeom prst="rect">
            <a:avLst/>
          </a:prstGeom>
          <a:solidFill>
            <a:srgbClr val="0F0F23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Hello World in C++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std;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Variables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double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DC32"/>
                </a:solidFill>
              </a:rPr>
              <a:t>Functions &amp; Arrow Functions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3931920" cy="3383280"/>
          </a:xfrm>
          <a:prstGeom prst="rect">
            <a:avLst/>
          </a:prstGeom>
          <a:solidFill>
            <a:srgbClr val="0F0F23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Regular function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`Hello, ${name}!`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function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(a, b) =&gt; a + b;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params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(base, exp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
  base ** exp;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C++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931920" cy="3383280"/>
          </a:xfrm>
          <a:prstGeom prst="rect">
            <a:avLst/>
          </a:prstGeom>
          <a:solidFill>
            <a:srgbClr val="0F0F23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Regular function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name)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"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name +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Lambda (C++11)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[](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 {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a+b; };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params (C++11)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base,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2C179"/>
          </a:solidFill>
          <a:ln w="12700">
            <a:solidFill>
              <a:srgbClr val="F2C1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DC32"/>
                </a:solidFill>
              </a:rPr>
              <a:t>Object-Oriented Programming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3931920" cy="3383280"/>
          </a:xfrm>
          <a:prstGeom prst="rect">
            <a:avLst/>
          </a:prstGeom>
          <a:solidFill>
            <a:srgbClr val="0F0F23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(name, sound) {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.name = name;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.sound = sound;
  }
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speak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`${this.name}: ${this.sound}`;
  }
}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"Woof"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}
}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=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"Rex"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console.log(dog.speak());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C++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931920" cy="3383280"/>
          </a:xfrm>
          <a:prstGeom prst="rect">
            <a:avLst/>
          </a:prstGeom>
          <a:solidFill>
            <a:srgbClr val="0F0F23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name;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sound;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n, string 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name(n), sound(s)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+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sound;
  }
};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public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name)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"Woof"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{}
};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"Rex"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dog.speak();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DA913"/>
          </a:solidFill>
          <a:ln w="12700">
            <a:solidFill>
              <a:srgbClr val="FDA9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DC32"/>
                </a:solidFill>
              </a:rPr>
              <a:t>Performance &amp; Use Cases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C179"/>
                </a:solidFill>
              </a:rPr>
              <a:t>Execution Speed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170432"/>
            <a:ext cx="2926080" cy="1645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170432"/>
            <a:ext cx="1170432" cy="164592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353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DC32"/>
                </a:solidFill>
              </a:rPr>
              <a:t>JS: 40%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1170432"/>
            <a:ext cx="2926080" cy="1645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170432"/>
            <a:ext cx="2867558" cy="164592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353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8802"/>
                </a:solidFill>
              </a:rPr>
              <a:t>C++: 98%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C179"/>
                </a:solidFill>
              </a:rPr>
              <a:t>Memory Efficiency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31720" y="1993392"/>
            <a:ext cx="2926080" cy="1645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1993392"/>
            <a:ext cx="1024128" cy="164592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176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DC32"/>
                </a:solidFill>
              </a:rPr>
              <a:t>JS: 35%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993392"/>
            <a:ext cx="2926080" cy="1645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993392"/>
            <a:ext cx="2779776" cy="164592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176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8802"/>
                </a:solidFill>
              </a:rPr>
              <a:t>C++: 95%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C179"/>
                </a:solidFill>
              </a:rPr>
              <a:t>Compile 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31720" y="2816352"/>
            <a:ext cx="2926080" cy="1645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2816352"/>
            <a:ext cx="2779776" cy="164592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DC32"/>
                </a:solidFill>
              </a:rPr>
              <a:t>JS: 95%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2816352"/>
            <a:ext cx="2926080" cy="1645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2816352"/>
            <a:ext cx="877824" cy="164592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8802"/>
                </a:solidFill>
              </a:rPr>
              <a:t>C++: 30%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C179"/>
                </a:solidFill>
              </a:rPr>
              <a:t>Dev Speed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31720" y="3639312"/>
            <a:ext cx="2926080" cy="1645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3639312"/>
            <a:ext cx="2633472" cy="164592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38221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DC32"/>
                </a:solidFill>
              </a:rPr>
              <a:t>JS: 90%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3639312"/>
            <a:ext cx="2926080" cy="1645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3639312"/>
            <a:ext cx="1609344" cy="164592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38221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8802"/>
                </a:solidFill>
              </a:rPr>
              <a:t>C++: 55%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31720" y="4480560"/>
            <a:ext cx="274320" cy="164592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4462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DC32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4480560"/>
            <a:ext cx="274320" cy="164592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462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8802"/>
                </a:solidFill>
              </a:rPr>
              <a:t>C++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A913"/>
                </a:solidFill>
              </a:rPr>
              <a:t>Best For: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" y="4956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C179"/>
                </a:solidFill>
              </a:rPr>
              <a:t>JS: Web apps, APIs, real-time UIs, scripting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4956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C179"/>
                </a:solidFill>
              </a:rPr>
              <a:t>C++: Games, OS, embedded, high-performance systems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Which Should You Choose?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393192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F8DC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3931920" cy="457200"/>
          </a:xfrm>
          <a:prstGeom prst="rect">
            <a:avLst/>
          </a:prstGeom>
          <a:solidFill>
            <a:srgbClr val="F8DC32"/>
          </a:solidFill>
          <a:ln w="12700">
            <a:solidFill>
              <a:srgbClr val="F8DC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✓ Choose JavaScript If…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Building websites or web apps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Working with Node.js backends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Want fast prototyping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Building cross-platform apps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Working with JSON &amp; REST APIs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Learning to code (beginner friendly)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234440"/>
            <a:ext cx="393192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FE880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234440"/>
            <a:ext cx="3931920" cy="457200"/>
          </a:xfrm>
          <a:prstGeom prst="rect">
            <a:avLst/>
          </a:prstGeom>
          <a:solidFill>
            <a:srgbClr val="FE8802"/>
          </a:solidFill>
          <a:ln w="12700">
            <a:solidFill>
              <a:srgbClr val="FE88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Choose C++ If…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Building games or game engines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System or OS-level programming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Need maximum performance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Embedded / IoT systems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Competitive programming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8E7"/>
                </a:solidFill>
              </a:rPr>
              <a:t>Working with hardware directly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DA913"/>
                </a:solidFill>
              </a:rPr>
              <a:t>Both languages are powerful — choose based on your use case!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vs C++</dc:title>
  <dc:subject>PptxGenJS Presentation</dc:subject>
  <dc:creator>PptxGenJS</dc:creator>
  <cp:lastModifiedBy>PptxGenJS</cp:lastModifiedBy>
  <cp:revision>1</cp:revision>
  <dcterms:created xsi:type="dcterms:W3CDTF">2026-03-15T10:18:40Z</dcterms:created>
  <dcterms:modified xsi:type="dcterms:W3CDTF">2026-03-15T10:18:40Z</dcterms:modified>
</cp:coreProperties>
</file>