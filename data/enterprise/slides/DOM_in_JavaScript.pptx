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4114800" cy="4114800"/>
          </a:xfrm>
          <a:prstGeom prst="ellipse">
            <a:avLst/>
          </a:prstGeom>
          <a:solidFill>
            <a:srgbClr val="1E5C3A"/>
          </a:solidFill>
          <a:ln w="12700">
            <a:solidFill>
              <a:srgbClr val="1E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457200"/>
            <a:ext cx="2926080" cy="2926080"/>
          </a:xfrm>
          <a:prstGeom prst="ellipse">
            <a:avLst/>
          </a:prstGeom>
          <a:solidFill>
            <a:srgbClr val="2D8653"/>
          </a:solidFill>
          <a:ln w="12700">
            <a:solidFill>
              <a:srgbClr val="2D865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2D8653"/>
          </a:solidFill>
          <a:ln w="12700">
            <a:solidFill>
              <a:srgbClr val="2D865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3DBE7A"/>
          </a:solidFill>
          <a:ln w="12700">
            <a:solidFill>
              <a:srgbClr val="3DBE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005840"/>
            <a:ext cx="2194560" cy="347472"/>
          </a:xfrm>
          <a:prstGeom prst="roundRect">
            <a:avLst>
              <a:gd name="adj" fmla="val 39474"/>
            </a:avLst>
          </a:prstGeom>
          <a:solidFill>
            <a:srgbClr val="3DBE7A"/>
          </a:solidFill>
          <a:ln w="12700">
            <a:solidFill>
              <a:srgbClr val="3DBE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98755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2A"/>
                </a:solidFill>
              </a:rPr>
              <a:t>JavaScript Series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554480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Object</a:t>
            </a:r>
            <a:endParaRPr lang="en-US" sz="5200" dirty="0"/>
          </a:p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(DOM)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594360" y="352044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A8E6C3"/>
                </a:solidFill>
              </a:rPr>
              <a:t>Understanding the backbone of interactive web pages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94360" y="47548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2A"/>
                </a:solidFill>
              </a:rPr>
              <a:t>Web Development Fundamentals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5C3A"/>
          </a:solidFill>
          <a:ln w="12700">
            <a:solidFill>
              <a:srgbClr val="1E5C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What is the DOM?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A8E6C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4114800" cy="438912"/>
          </a:xfrm>
          <a:prstGeom prst="rect">
            <a:avLst/>
          </a:prstGeom>
          <a:solidFill>
            <a:srgbClr val="2D8653"/>
          </a:solidFill>
          <a:ln w="12700">
            <a:solidFill>
              <a:srgbClr val="2D86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Definition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481328"/>
            <a:ext cx="3840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D8653"/>
                </a:solidFill>
              </a:rPr>
              <a:t>DOM</a:t>
            </a:r>
            <a:pPr indent="0" marL="0">
              <a:buNone/>
            </a:pPr>
            <a:r>
              <a:rPr lang="en-US" sz="1350" dirty="0">
                <a:solidFill>
                  <a:srgbClr val="0D2B1D"/>
                </a:solidFill>
              </a:rPr>
              <a:t> stands for </a:t>
            </a:r>
            <a:pPr indent="0" marL="0">
              <a:buNone/>
            </a:pPr>
            <a:r>
              <a:rPr lang="en-US" sz="1350" b="1" dirty="0">
                <a:solidFill>
                  <a:srgbClr val="0D2B1D"/>
                </a:solidFill>
              </a:rPr>
              <a:t>Document Object Model</a:t>
            </a:r>
            <a:pPr indent="0" marL="0">
              <a:buNone/>
            </a:pPr>
            <a:r>
              <a:rPr lang="en-US" sz="1350" dirty="0">
                <a:solidFill>
                  <a:srgbClr val="0D2B1D"/>
                </a:solidFill>
              </a:rPr>
              <a:t>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D2B1D"/>
                </a:solidFill>
              </a:rPr>
              <a:t>It is a 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D8653"/>
                </a:solidFill>
              </a:rPr>
              <a:t>programming interface</a:t>
            </a:r>
            <a:pPr indent="0" marL="0">
              <a:buNone/>
            </a:pPr>
            <a:r>
              <a:rPr lang="en-US" sz="1350" dirty="0">
                <a:solidFill>
                  <a:srgbClr val="0D2B1D"/>
                </a:solidFill>
              </a:rPr>
              <a:t> for HTML and XML documents that represents the page structure as a </a:t>
            </a:r>
            <a:pPr indent="0" marL="0">
              <a:buNone/>
            </a:pPr>
            <a:r>
              <a:rPr lang="en-US" sz="1350" b="1" dirty="0">
                <a:solidFill>
                  <a:srgbClr val="0D2B1D"/>
                </a:solidFill>
              </a:rPr>
              <a:t>tree of objects</a:t>
            </a:r>
            <a:pPr indent="0" marL="0">
              <a:buNone/>
            </a:pPr>
            <a:r>
              <a:rPr lang="en-US" sz="1350" dirty="0">
                <a:solidFill>
                  <a:srgbClr val="0D2B1D"/>
                </a:solidFill>
              </a:rPr>
              <a:t>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D2B1D"/>
                </a:solidFill>
              </a:rPr>
              <a:t>The DOM is </a:t>
            </a:r>
            <a:endParaRPr lang="en-US" sz="1350" dirty="0"/>
          </a:p>
          <a:p>
            <a:pPr indent="0" marL="0">
              <a:buNone/>
            </a:pPr>
            <a:r>
              <a:rPr lang="en-US" sz="1350" b="1" i="1" dirty="0">
                <a:solidFill>
                  <a:srgbClr val="2D8653"/>
                </a:solidFill>
              </a:rPr>
              <a:t>not</a:t>
            </a:r>
            <a:pPr indent="0" marL="0">
              <a:buNone/>
            </a:pPr>
            <a:r>
              <a:rPr lang="en-US" sz="1350" dirty="0">
                <a:solidFill>
                  <a:srgbClr val="0D2B1D"/>
                </a:solidFill>
              </a:rPr>
              <a:t> a programming language — it is a </a:t>
            </a:r>
            <a:pPr indent="0" marL="0">
              <a:buNone/>
            </a:pPr>
            <a:r>
              <a:rPr lang="en-US" sz="1350" b="1" dirty="0">
                <a:solidFill>
                  <a:srgbClr val="0D2B1D"/>
                </a:solidFill>
              </a:rPr>
              <a:t>model and interface</a:t>
            </a:r>
            <a:pPr indent="0" marL="0">
              <a:buNone/>
            </a:pPr>
            <a:r>
              <a:rPr lang="en-US" sz="1350" dirty="0">
                <a:solidFill>
                  <a:srgbClr val="0D2B1D"/>
                </a:solidFill>
              </a:rPr>
              <a:t> that allows JavaScript to interact with web pages.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023360" cy="804672"/>
          </a:xfrm>
          <a:prstGeom prst="rect">
            <a:avLst/>
          </a:prstGeom>
          <a:solidFill>
            <a:srgbClr val="D6F5E3"/>
          </a:solidFill>
          <a:ln w="12700">
            <a:solidFill>
              <a:srgbClr val="A8E6C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960120"/>
            <a:ext cx="54864" cy="804672"/>
          </a:xfrm>
          <a:prstGeom prst="rect">
            <a:avLst/>
          </a:prstGeom>
          <a:solidFill>
            <a:srgbClr val="3DBE7A"/>
          </a:solidFill>
          <a:ln w="12700">
            <a:solidFill>
              <a:srgbClr val="3DBE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9472" y="99669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2A"/>
                </a:solidFill>
              </a:rPr>
              <a:t>🌐  Browser API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19472" y="13441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7A60"/>
                </a:solidFill>
              </a:rPr>
              <a:t>Provided by the browser, not JavaScript itself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54880" y="1920240"/>
            <a:ext cx="4023360" cy="804672"/>
          </a:xfrm>
          <a:prstGeom prst="rect">
            <a:avLst/>
          </a:prstGeom>
          <a:solidFill>
            <a:srgbClr val="D6F5E3"/>
          </a:solidFill>
          <a:ln w="12700">
            <a:solidFill>
              <a:srgbClr val="A8E6C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920240"/>
            <a:ext cx="54864" cy="804672"/>
          </a:xfrm>
          <a:prstGeom prst="rect">
            <a:avLst/>
          </a:prstGeom>
          <a:solidFill>
            <a:srgbClr val="3DBE7A"/>
          </a:solidFill>
          <a:ln w="12700">
            <a:solidFill>
              <a:srgbClr val="3DBE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195681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2A"/>
                </a:solidFill>
              </a:rPr>
              <a:t>🌳  Tree Structure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19472" y="23042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7A60"/>
                </a:solidFill>
              </a:rPr>
              <a:t>Organizes HTML elements as parent-child nodes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0" y="2880360"/>
            <a:ext cx="4023360" cy="804672"/>
          </a:xfrm>
          <a:prstGeom prst="rect">
            <a:avLst/>
          </a:prstGeom>
          <a:solidFill>
            <a:srgbClr val="D6F5E3"/>
          </a:solidFill>
          <a:ln w="12700">
            <a:solidFill>
              <a:srgbClr val="A8E6C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2880360"/>
            <a:ext cx="54864" cy="804672"/>
          </a:xfrm>
          <a:prstGeom prst="rect">
            <a:avLst/>
          </a:prstGeom>
          <a:solidFill>
            <a:srgbClr val="3DBE7A"/>
          </a:solidFill>
          <a:ln w="12700">
            <a:solidFill>
              <a:srgbClr val="3DBE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291693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2A"/>
                </a:solidFill>
              </a:rPr>
              <a:t>⚡  Live &amp; Dynamic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19472" y="32644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7A60"/>
                </a:solidFill>
              </a:rPr>
              <a:t>Changes reflect instantly in the browser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54880" y="3840480"/>
            <a:ext cx="4023360" cy="804672"/>
          </a:xfrm>
          <a:prstGeom prst="rect">
            <a:avLst/>
          </a:prstGeom>
          <a:solidFill>
            <a:srgbClr val="D6F5E3"/>
          </a:solidFill>
          <a:ln w="12700">
            <a:solidFill>
              <a:srgbClr val="A8E6C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3840480"/>
            <a:ext cx="54864" cy="804672"/>
          </a:xfrm>
          <a:prstGeom prst="rect">
            <a:avLst/>
          </a:prstGeom>
          <a:solidFill>
            <a:srgbClr val="3DBE7A"/>
          </a:solidFill>
          <a:ln w="12700">
            <a:solidFill>
              <a:srgbClr val="3DBE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387705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2A"/>
                </a:solidFill>
              </a:rPr>
              <a:t>🔗  Language Neutral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19472" y="42245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7A60"/>
                </a:solidFill>
              </a:rPr>
              <a:t>Can be accessed by any language, not just JS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5C3A"/>
          </a:solidFill>
          <a:ln w="12700">
            <a:solidFill>
              <a:srgbClr val="1E5C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DOM Tree Structure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886200" y="96012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3DBE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86200" y="9601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2A"/>
                </a:solidFill>
              </a:rPr>
              <a:t>document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86200" y="173736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1E5C3A"/>
          </a:solidFill>
          <a:ln w="19050">
            <a:solidFill>
              <a:srgbClr val="3DBE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86200" y="17373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&lt;html&gt;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371600"/>
            <a:ext cx="914" cy="365760"/>
          </a:xfrm>
          <a:prstGeom prst="line">
            <a:avLst/>
          </a:prstGeom>
          <a:noFill/>
          <a:ln w="19050">
            <a:solidFill>
              <a:srgbClr val="3DBE7A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2194560" y="251460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1E5C3A"/>
          </a:solidFill>
          <a:ln w="19050">
            <a:solidFill>
              <a:srgbClr val="3DBE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94560" y="25146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&lt;head&gt;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577840" y="251460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1E5C3A"/>
          </a:solidFill>
          <a:ln w="19050">
            <a:solidFill>
              <a:srgbClr val="3DBE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25146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&lt;body&gt;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2148840"/>
            <a:ext cx="-1691640" cy="914"/>
          </a:xfrm>
          <a:prstGeom prst="line">
            <a:avLst/>
          </a:prstGeom>
          <a:noFill/>
          <a:ln w="19050">
            <a:solidFill>
              <a:srgbClr val="3DBE7A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2880360" y="2148840"/>
            <a:ext cx="914" cy="365760"/>
          </a:xfrm>
          <a:prstGeom prst="line">
            <a:avLst/>
          </a:prstGeom>
          <a:noFill/>
          <a:ln w="19050">
            <a:solidFill>
              <a:srgbClr val="3DBE7A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4572000" y="2148840"/>
            <a:ext cx="1691640" cy="914"/>
          </a:xfrm>
          <a:prstGeom prst="line">
            <a:avLst/>
          </a:prstGeom>
          <a:noFill/>
          <a:ln w="19050">
            <a:solidFill>
              <a:srgbClr val="3DBE7A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6263640" y="2148840"/>
            <a:ext cx="914" cy="365760"/>
          </a:xfrm>
          <a:prstGeom prst="line">
            <a:avLst/>
          </a:prstGeom>
          <a:noFill/>
          <a:ln w="19050">
            <a:solidFill>
              <a:srgbClr val="3DBE7A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1691640" y="329184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2D8653"/>
          </a:solidFill>
          <a:ln w="19050">
            <a:solidFill>
              <a:srgbClr val="3DBE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91640" y="32918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&lt;title&gt;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46120" y="329184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2D8653"/>
          </a:solidFill>
          <a:ln w="19050">
            <a:solidFill>
              <a:srgbClr val="3DBE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46120" y="32918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&lt;meta&gt;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880360" y="2926080"/>
            <a:ext cx="-502920" cy="914"/>
          </a:xfrm>
          <a:prstGeom prst="line">
            <a:avLst/>
          </a:prstGeom>
          <a:noFill/>
          <a:ln w="19050">
            <a:solidFill>
              <a:srgbClr val="3DBE7A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2377440" y="2926080"/>
            <a:ext cx="914" cy="365760"/>
          </a:xfrm>
          <a:prstGeom prst="line">
            <a:avLst/>
          </a:prstGeom>
          <a:noFill/>
          <a:ln w="19050">
            <a:solidFill>
              <a:srgbClr val="3DBE7A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2880360" y="2926080"/>
            <a:ext cx="1051560" cy="914"/>
          </a:xfrm>
          <a:prstGeom prst="line">
            <a:avLst/>
          </a:prstGeom>
          <a:noFill/>
          <a:ln w="19050">
            <a:solidFill>
              <a:srgbClr val="3DBE7A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3931920" y="2926080"/>
            <a:ext cx="914" cy="365760"/>
          </a:xfrm>
          <a:prstGeom prst="line">
            <a:avLst/>
          </a:prstGeom>
          <a:noFill/>
          <a:ln w="19050">
            <a:solidFill>
              <a:srgbClr val="3DBE7A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4754880" y="329184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2D8653"/>
          </a:solidFill>
          <a:ln w="19050">
            <a:solidFill>
              <a:srgbClr val="3DBE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32918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&lt;h1&gt;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63640" y="329184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2D8653"/>
          </a:solidFill>
          <a:ln w="19050">
            <a:solidFill>
              <a:srgbClr val="3DBE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32918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&lt;p&gt;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498080" y="329184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1E5C3A"/>
          </a:solidFill>
          <a:ln w="19050">
            <a:solidFill>
              <a:srgbClr val="3DBE7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0" y="32918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&lt;div&gt;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63640" y="2926080"/>
            <a:ext cx="-822960" cy="914"/>
          </a:xfrm>
          <a:prstGeom prst="line">
            <a:avLst/>
          </a:prstGeom>
          <a:noFill/>
          <a:ln w="19050">
            <a:solidFill>
              <a:srgbClr val="3DBE7A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5440680" y="2926080"/>
            <a:ext cx="914" cy="365760"/>
          </a:xfrm>
          <a:prstGeom prst="line">
            <a:avLst/>
          </a:prstGeom>
          <a:noFill/>
          <a:ln w="19050">
            <a:solidFill>
              <a:srgbClr val="3DBE7A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6263640" y="2926080"/>
            <a:ext cx="457200" cy="914"/>
          </a:xfrm>
          <a:prstGeom prst="line">
            <a:avLst/>
          </a:prstGeom>
          <a:noFill/>
          <a:ln w="19050">
            <a:solidFill>
              <a:srgbClr val="3DBE7A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6720840" y="2926080"/>
            <a:ext cx="914" cy="365760"/>
          </a:xfrm>
          <a:prstGeom prst="line">
            <a:avLst/>
          </a:prstGeom>
          <a:noFill/>
          <a:ln w="19050">
            <a:solidFill>
              <a:srgbClr val="3DBE7A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6263640" y="2926080"/>
            <a:ext cx="1920240" cy="914"/>
          </a:xfrm>
          <a:prstGeom prst="line">
            <a:avLst/>
          </a:prstGeom>
          <a:noFill/>
          <a:ln w="19050">
            <a:solidFill>
              <a:srgbClr val="3DBE7A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8183880" y="2926080"/>
            <a:ext cx="914" cy="365760"/>
          </a:xfrm>
          <a:prstGeom prst="line">
            <a:avLst/>
          </a:prstGeom>
          <a:noFill/>
          <a:ln w="19050">
            <a:solidFill>
              <a:srgbClr val="3DBE7A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4754880" y="406908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2D8653"/>
          </a:solidFill>
          <a:ln w="19050">
            <a:solidFill>
              <a:srgbClr val="3DBE7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40690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"Hello"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440680" y="3703320"/>
            <a:ext cx="914" cy="365760"/>
          </a:xfrm>
          <a:prstGeom prst="line">
            <a:avLst/>
          </a:prstGeom>
          <a:noFill/>
          <a:ln w="19050">
            <a:solidFill>
              <a:srgbClr val="3DBE7A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6263640" y="406908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2D8653"/>
          </a:solidFill>
          <a:ln w="19050">
            <a:solidFill>
              <a:srgbClr val="3DBE7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63640" y="40690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"World"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720840" y="3703320"/>
            <a:ext cx="914" cy="365760"/>
          </a:xfrm>
          <a:prstGeom prst="line">
            <a:avLst/>
          </a:prstGeom>
          <a:noFill/>
          <a:ln w="19050">
            <a:solidFill>
              <a:srgbClr val="3DBE7A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7498080" y="406908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2D8653"/>
          </a:solidFill>
          <a:ln w="19050">
            <a:solidFill>
              <a:srgbClr val="3DBE7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98080" y="40690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&lt;span&gt;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183880" y="3703320"/>
            <a:ext cx="914" cy="365760"/>
          </a:xfrm>
          <a:prstGeom prst="line">
            <a:avLst/>
          </a:prstGeom>
          <a:noFill/>
          <a:ln w="19050">
            <a:solidFill>
              <a:srgbClr val="3DBE7A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228600" y="1417320"/>
            <a:ext cx="1737360" cy="2377440"/>
          </a:xfrm>
          <a:prstGeom prst="roundRect">
            <a:avLst>
              <a:gd name="adj" fmla="val 4211"/>
            </a:avLst>
          </a:prstGeom>
          <a:solidFill>
            <a:srgbClr val="1E5C3A"/>
          </a:solidFill>
          <a:ln w="12700">
            <a:solidFill>
              <a:srgbClr val="2D865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14813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BE7A"/>
                </a:solidFill>
              </a:rPr>
              <a:t>Legend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47472" y="1847088"/>
            <a:ext cx="320040" cy="256032"/>
          </a:xfrm>
          <a:prstGeom prst="roundRect">
            <a:avLst>
              <a:gd name="adj" fmla="val 14286"/>
            </a:avLst>
          </a:prstGeom>
          <a:solidFill>
            <a:srgbClr val="3DBE7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9808" y="184708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E6C3"/>
                </a:solidFill>
              </a:rPr>
              <a:t>Root Node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47472" y="2395728"/>
            <a:ext cx="320040" cy="256032"/>
          </a:xfrm>
          <a:prstGeom prst="roundRect">
            <a:avLst>
              <a:gd name="adj" fmla="val 14286"/>
            </a:avLst>
          </a:prstGeom>
          <a:solidFill>
            <a:srgbClr val="1E5C3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49808" y="239572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E6C3"/>
                </a:solidFill>
              </a:rPr>
              <a:t>Element Node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47472" y="2944368"/>
            <a:ext cx="320040" cy="256032"/>
          </a:xfrm>
          <a:prstGeom prst="roundRect">
            <a:avLst>
              <a:gd name="adj" fmla="val 14286"/>
            </a:avLst>
          </a:prstGeom>
          <a:solidFill>
            <a:srgbClr val="2D865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49808" y="294436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E6C3"/>
                </a:solidFill>
              </a:rPr>
              <a:t>Leaf Node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5C3A"/>
          </a:solidFill>
          <a:ln w="12700">
            <a:solidFill>
              <a:srgbClr val="1E5C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How the DOM Works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548640" cy="548640"/>
          </a:xfrm>
          <a:prstGeom prst="ellipse">
            <a:avLst/>
          </a:prstGeom>
          <a:solidFill>
            <a:srgbClr val="2D8653"/>
          </a:solidFill>
          <a:ln w="12700">
            <a:solidFill>
              <a:srgbClr val="2D86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914" cy="256032"/>
          </a:xfrm>
          <a:prstGeom prst="line">
            <a:avLst/>
          </a:prstGeom>
          <a:noFill/>
          <a:ln w="25400">
            <a:solidFill>
              <a:srgbClr val="3DBE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914400"/>
            <a:ext cx="7772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A8E6C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05840" y="914400"/>
            <a:ext cx="64008" cy="658368"/>
          </a:xfrm>
          <a:prstGeom prst="rect">
            <a:avLst/>
          </a:prstGeom>
          <a:solidFill>
            <a:srgbClr val="3DBE7A"/>
          </a:solidFill>
          <a:ln w="12700">
            <a:solidFill>
              <a:srgbClr val="3DBE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95097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3A2A"/>
                </a:solidFill>
              </a:rPr>
              <a:t>Browser Receives HTML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70432" y="12344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7A60"/>
                </a:solidFill>
              </a:rPr>
              <a:t>Browser downloads the HTML file from the server when a page is requested.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719072"/>
            <a:ext cx="548640" cy="548640"/>
          </a:xfrm>
          <a:prstGeom prst="ellipse">
            <a:avLst/>
          </a:prstGeom>
          <a:solidFill>
            <a:srgbClr val="2D8653"/>
          </a:solidFill>
          <a:ln w="12700">
            <a:solidFill>
              <a:srgbClr val="2D86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719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2267712"/>
            <a:ext cx="914" cy="256032"/>
          </a:xfrm>
          <a:prstGeom prst="line">
            <a:avLst/>
          </a:prstGeom>
          <a:noFill/>
          <a:ln w="25400">
            <a:solidFill>
              <a:srgbClr val="3DBE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" y="1719072"/>
            <a:ext cx="7772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A8E6C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05840" y="1719072"/>
            <a:ext cx="64008" cy="658368"/>
          </a:xfrm>
          <a:prstGeom prst="rect">
            <a:avLst/>
          </a:prstGeom>
          <a:solidFill>
            <a:srgbClr val="3DBE7A"/>
          </a:solidFill>
          <a:ln w="12700">
            <a:solidFill>
              <a:srgbClr val="3DBE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70432" y="175564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3A2A"/>
                </a:solidFill>
              </a:rPr>
              <a:t>Parsing Begins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170432" y="203911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7A60"/>
                </a:solidFill>
              </a:rPr>
              <a:t>The browser parser reads the HTML top-to-bottom, identifying tags and attributes.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2523744"/>
            <a:ext cx="548640" cy="548640"/>
          </a:xfrm>
          <a:prstGeom prst="ellipse">
            <a:avLst/>
          </a:prstGeom>
          <a:solidFill>
            <a:srgbClr val="2D8653"/>
          </a:solidFill>
          <a:ln w="12700">
            <a:solidFill>
              <a:srgbClr val="2D865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5237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3072384"/>
            <a:ext cx="914" cy="256032"/>
          </a:xfrm>
          <a:prstGeom prst="line">
            <a:avLst/>
          </a:prstGeom>
          <a:noFill/>
          <a:ln w="25400">
            <a:solidFill>
              <a:srgbClr val="3DBE7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5840" y="2523744"/>
            <a:ext cx="7772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A8E6C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005840" y="2523744"/>
            <a:ext cx="64008" cy="658368"/>
          </a:xfrm>
          <a:prstGeom prst="rect">
            <a:avLst/>
          </a:prstGeom>
          <a:solidFill>
            <a:srgbClr val="3DBE7A"/>
          </a:solidFill>
          <a:ln w="12700">
            <a:solidFill>
              <a:srgbClr val="3DBE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70432" y="25603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3A2A"/>
                </a:solidFill>
              </a:rPr>
              <a:t>DOM Tree is Built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170432" y="284378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7A60"/>
                </a:solidFill>
              </a:rPr>
              <a:t>Each HTML element, attribute, and text node becomes a JavaScript object in memory.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3328416"/>
            <a:ext cx="548640" cy="548640"/>
          </a:xfrm>
          <a:prstGeom prst="ellipse">
            <a:avLst/>
          </a:prstGeom>
          <a:solidFill>
            <a:srgbClr val="2D8653"/>
          </a:solidFill>
          <a:ln w="12700">
            <a:solidFill>
              <a:srgbClr val="2D865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3284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48640" y="3877056"/>
            <a:ext cx="914" cy="256032"/>
          </a:xfrm>
          <a:prstGeom prst="line">
            <a:avLst/>
          </a:prstGeom>
          <a:noFill/>
          <a:ln w="25400">
            <a:solidFill>
              <a:srgbClr val="3DBE7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05840" y="3328416"/>
            <a:ext cx="7772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A8E6C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05840" y="3328416"/>
            <a:ext cx="64008" cy="658368"/>
          </a:xfrm>
          <a:prstGeom prst="rect">
            <a:avLst/>
          </a:prstGeom>
          <a:solidFill>
            <a:srgbClr val="3DBE7A"/>
          </a:solidFill>
          <a:ln w="12700">
            <a:solidFill>
              <a:srgbClr val="3DBE7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70432" y="336499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3A2A"/>
                </a:solidFill>
              </a:rPr>
              <a:t>JavaScript Connects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1170432" y="364845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7A60"/>
                </a:solidFill>
              </a:rPr>
              <a:t>JS can now access any node via the 'document' object (e.g. document.getElementById).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74320" y="4133088"/>
            <a:ext cx="548640" cy="548640"/>
          </a:xfrm>
          <a:prstGeom prst="ellipse">
            <a:avLst/>
          </a:prstGeom>
          <a:solidFill>
            <a:srgbClr val="2D8653"/>
          </a:solidFill>
          <a:ln w="12700">
            <a:solidFill>
              <a:srgbClr val="2D865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133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005840" y="4133088"/>
            <a:ext cx="7772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A8E6C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005840" y="4133088"/>
            <a:ext cx="64008" cy="658368"/>
          </a:xfrm>
          <a:prstGeom prst="rect">
            <a:avLst/>
          </a:prstGeom>
          <a:solidFill>
            <a:srgbClr val="3DBE7A"/>
          </a:solidFill>
          <a:ln w="12700">
            <a:solidFill>
              <a:srgbClr val="3DBE7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70432" y="416966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3A2A"/>
                </a:solidFill>
              </a:rPr>
              <a:t>Changes Reflect Live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1170432" y="445312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7A60"/>
                </a:solidFill>
              </a:rPr>
              <a:t>When JS modifies the DOM, the browser re-renders only the changed parts instantly.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5C3A"/>
          </a:solidFill>
          <a:ln w="12700">
            <a:solidFill>
              <a:srgbClr val="1E5C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Why Use the DOM?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697480" cy="1600200"/>
          </a:xfrm>
          <a:prstGeom prst="rect">
            <a:avLst/>
          </a:prstGeom>
          <a:solidFill>
            <a:srgbClr val="1E5C3A"/>
          </a:solidFill>
          <a:ln w="19050">
            <a:solidFill>
              <a:srgbClr val="2D86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2697480" cy="475488"/>
          </a:xfrm>
          <a:prstGeom prst="rect">
            <a:avLst/>
          </a:prstGeom>
          <a:solidFill>
            <a:srgbClr val="2D8653"/>
          </a:solidFill>
          <a:ln w="12700">
            <a:solidFill>
              <a:srgbClr val="2D86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6070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🖱️  Interactivity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9768" y="1572768"/>
            <a:ext cx="24871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E6C3"/>
                </a:solidFill>
              </a:rPr>
              <a:t>Respond to clicks, inputs, and keyboard events to create dynamic UIs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64408" y="1005840"/>
            <a:ext cx="2697480" cy="1600200"/>
          </a:xfrm>
          <a:prstGeom prst="rect">
            <a:avLst/>
          </a:prstGeom>
          <a:solidFill>
            <a:srgbClr val="1E5C3A"/>
          </a:solidFill>
          <a:ln w="19050">
            <a:solidFill>
              <a:srgbClr val="2D86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64408" y="1005840"/>
            <a:ext cx="2697480" cy="475488"/>
          </a:xfrm>
          <a:prstGeom prst="rect">
            <a:avLst/>
          </a:prstGeom>
          <a:solidFill>
            <a:srgbClr val="2D8653"/>
          </a:solidFill>
          <a:ln w="12700">
            <a:solidFill>
              <a:srgbClr val="2D86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55848" y="106070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🔄  Dynamic Updates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74136" y="1572768"/>
            <a:ext cx="24871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E6C3"/>
                </a:solidFill>
              </a:rPr>
              <a:t>Change page content without full page reloads for smooth UX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08776" y="1005840"/>
            <a:ext cx="2697480" cy="1600200"/>
          </a:xfrm>
          <a:prstGeom prst="rect">
            <a:avLst/>
          </a:prstGeom>
          <a:solidFill>
            <a:srgbClr val="1E5C3A"/>
          </a:solidFill>
          <a:ln w="19050">
            <a:solidFill>
              <a:srgbClr val="2D86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08776" y="1005840"/>
            <a:ext cx="2697480" cy="475488"/>
          </a:xfrm>
          <a:prstGeom prst="rect">
            <a:avLst/>
          </a:prstGeom>
          <a:solidFill>
            <a:srgbClr val="2D8653"/>
          </a:solidFill>
          <a:ln w="12700">
            <a:solidFill>
              <a:srgbClr val="2D86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0216" y="106070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🎨  Style Control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18504" y="1572768"/>
            <a:ext cx="24871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E6C3"/>
                </a:solidFill>
              </a:rPr>
              <a:t>Modify CSS classes and inline styles programmatically at runtime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852928"/>
            <a:ext cx="2697480" cy="1600200"/>
          </a:xfrm>
          <a:prstGeom prst="rect">
            <a:avLst/>
          </a:prstGeom>
          <a:solidFill>
            <a:srgbClr val="1E5C3A"/>
          </a:solidFill>
          <a:ln w="19050">
            <a:solidFill>
              <a:srgbClr val="2D86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852928"/>
            <a:ext cx="2697480" cy="475488"/>
          </a:xfrm>
          <a:prstGeom prst="rect">
            <a:avLst/>
          </a:prstGeom>
          <a:solidFill>
            <a:srgbClr val="2D8653"/>
          </a:solidFill>
          <a:ln w="12700">
            <a:solidFill>
              <a:srgbClr val="2D865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90779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📋  Form Handling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9768" y="3419856"/>
            <a:ext cx="24871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E6C3"/>
                </a:solidFill>
              </a:rPr>
              <a:t>Validate inputs, read values, and respond to form submissions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64408" y="2852928"/>
            <a:ext cx="2697480" cy="1600200"/>
          </a:xfrm>
          <a:prstGeom prst="rect">
            <a:avLst/>
          </a:prstGeom>
          <a:solidFill>
            <a:srgbClr val="1E5C3A"/>
          </a:solidFill>
          <a:ln w="19050">
            <a:solidFill>
              <a:srgbClr val="2D86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64408" y="2852928"/>
            <a:ext cx="2697480" cy="475488"/>
          </a:xfrm>
          <a:prstGeom prst="rect">
            <a:avLst/>
          </a:prstGeom>
          <a:solidFill>
            <a:srgbClr val="2D8653"/>
          </a:solidFill>
          <a:ln w="12700">
            <a:solidFill>
              <a:srgbClr val="2D865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55848" y="290779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🧩  Component Building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74136" y="3419856"/>
            <a:ext cx="24871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E6C3"/>
                </a:solidFill>
              </a:rPr>
              <a:t>Frameworks like React &amp; Vue use the DOM under the hood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08776" y="2852928"/>
            <a:ext cx="2697480" cy="1600200"/>
          </a:xfrm>
          <a:prstGeom prst="rect">
            <a:avLst/>
          </a:prstGeom>
          <a:solidFill>
            <a:srgbClr val="1E5C3A"/>
          </a:solidFill>
          <a:ln w="19050">
            <a:solidFill>
              <a:srgbClr val="2D86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08776" y="2852928"/>
            <a:ext cx="2697480" cy="475488"/>
          </a:xfrm>
          <a:prstGeom prst="rect">
            <a:avLst/>
          </a:prstGeom>
          <a:solidFill>
            <a:srgbClr val="2D8653"/>
          </a:solidFill>
          <a:ln w="12700">
            <a:solidFill>
              <a:srgbClr val="2D865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0216" y="290779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📡  Data Binding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18504" y="3419856"/>
            <a:ext cx="24871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E6C3"/>
                </a:solidFill>
              </a:rPr>
              <a:t>Reflect live API data on the page without writing HTML by hand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5C3A"/>
          </a:solidFill>
          <a:ln w="12700">
            <a:solidFill>
              <a:srgbClr val="1E5C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DOM Usage — Key Methods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A8E6C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4206240" cy="402336"/>
          </a:xfrm>
          <a:prstGeom prst="rect">
            <a:avLst/>
          </a:prstGeom>
          <a:solidFill>
            <a:srgbClr val="2D8653"/>
          </a:solidFill>
          <a:ln w="12700">
            <a:solidFill>
              <a:srgbClr val="2D86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9669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🔍 Selecting Elements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84048" y="1417320"/>
            <a:ext cx="1572768" cy="347472"/>
          </a:xfrm>
          <a:prstGeom prst="roundRect">
            <a:avLst>
              <a:gd name="adj" fmla="val 13158"/>
            </a:avLst>
          </a:prstGeom>
          <a:solidFill>
            <a:srgbClr val="D6F5E3"/>
          </a:solidFill>
          <a:ln w="12700">
            <a:solidFill>
              <a:srgbClr val="A8E6C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41732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3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getElementById()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048256" y="14356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7A60"/>
                </a:solidFill>
              </a:rPr>
              <a:t>Find element by unique ID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4048" y="1901952"/>
            <a:ext cx="1572768" cy="347472"/>
          </a:xfrm>
          <a:prstGeom prst="roundRect">
            <a:avLst>
              <a:gd name="adj" fmla="val 13158"/>
            </a:avLst>
          </a:prstGeom>
          <a:solidFill>
            <a:srgbClr val="D6F5E3"/>
          </a:solidFill>
          <a:ln w="12700">
            <a:solidFill>
              <a:srgbClr val="A8E6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90195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3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querySelector()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048256" y="19202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7A60"/>
                </a:solidFill>
              </a:rPr>
              <a:t>Find first matching CSS selector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4048" y="2386584"/>
            <a:ext cx="1572768" cy="347472"/>
          </a:xfrm>
          <a:prstGeom prst="roundRect">
            <a:avLst>
              <a:gd name="adj" fmla="val 13158"/>
            </a:avLst>
          </a:prstGeom>
          <a:solidFill>
            <a:srgbClr val="D6F5E3"/>
          </a:solidFill>
          <a:ln w="12700">
            <a:solidFill>
              <a:srgbClr val="A8E6C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386584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3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querySelectorAll()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048256" y="240487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7A60"/>
                </a:solidFill>
              </a:rPr>
              <a:t>Find ALL matching elements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960120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A8E6C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960120"/>
            <a:ext cx="4206240" cy="402336"/>
          </a:xfrm>
          <a:prstGeom prst="rect">
            <a:avLst/>
          </a:prstGeom>
          <a:solidFill>
            <a:srgbClr val="2D8653"/>
          </a:solidFill>
          <a:ln w="12700">
            <a:solidFill>
              <a:srgbClr val="2D865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99669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✏️ Modifying Content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818888" y="1417320"/>
            <a:ext cx="1572768" cy="347472"/>
          </a:xfrm>
          <a:prstGeom prst="roundRect">
            <a:avLst>
              <a:gd name="adj" fmla="val 13158"/>
            </a:avLst>
          </a:prstGeom>
          <a:solidFill>
            <a:srgbClr val="D6F5E3"/>
          </a:solidFill>
          <a:ln w="12700">
            <a:solidFill>
              <a:srgbClr val="A8E6C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18888" y="141732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3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.innerHTML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83096" y="14356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7A60"/>
                </a:solidFill>
              </a:rPr>
              <a:t>Set/get HTML content inside element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18888" y="1901952"/>
            <a:ext cx="1572768" cy="347472"/>
          </a:xfrm>
          <a:prstGeom prst="roundRect">
            <a:avLst>
              <a:gd name="adj" fmla="val 13158"/>
            </a:avLst>
          </a:prstGeom>
          <a:solidFill>
            <a:srgbClr val="D6F5E3"/>
          </a:solidFill>
          <a:ln w="12700">
            <a:solidFill>
              <a:srgbClr val="A8E6C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18888" y="190195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3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.textContent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83096" y="19202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7A60"/>
                </a:solidFill>
              </a:rPr>
              <a:t>Set/get plain text content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18888" y="2386584"/>
            <a:ext cx="1572768" cy="347472"/>
          </a:xfrm>
          <a:prstGeom prst="roundRect">
            <a:avLst>
              <a:gd name="adj" fmla="val 13158"/>
            </a:avLst>
          </a:prstGeom>
          <a:solidFill>
            <a:srgbClr val="D6F5E3"/>
          </a:solidFill>
          <a:ln w="12700">
            <a:solidFill>
              <a:srgbClr val="A8E6C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18888" y="2386584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3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.setAttribute()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83096" y="240487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7A60"/>
                </a:solidFill>
              </a:rPr>
              <a:t>Change element attributes like src, class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136392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A8E6C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3136392"/>
            <a:ext cx="4206240" cy="402336"/>
          </a:xfrm>
          <a:prstGeom prst="rect">
            <a:avLst/>
          </a:prstGeom>
          <a:solidFill>
            <a:srgbClr val="2D8653"/>
          </a:solidFill>
          <a:ln w="12700">
            <a:solidFill>
              <a:srgbClr val="2D865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1729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➕ Creating &amp; Removing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384048" y="3593592"/>
            <a:ext cx="1572768" cy="347472"/>
          </a:xfrm>
          <a:prstGeom prst="roundRect">
            <a:avLst>
              <a:gd name="adj" fmla="val 13158"/>
            </a:avLst>
          </a:prstGeom>
          <a:solidFill>
            <a:srgbClr val="D6F5E3"/>
          </a:solidFill>
          <a:ln w="12700">
            <a:solidFill>
              <a:srgbClr val="A8E6C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" y="359359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3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createElement()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048256" y="36118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7A60"/>
                </a:solidFill>
              </a:rPr>
              <a:t>Create a brand new HTML element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84048" y="4078224"/>
            <a:ext cx="1572768" cy="347472"/>
          </a:xfrm>
          <a:prstGeom prst="roundRect">
            <a:avLst>
              <a:gd name="adj" fmla="val 13158"/>
            </a:avLst>
          </a:prstGeom>
          <a:solidFill>
            <a:srgbClr val="D6F5E3"/>
          </a:solidFill>
          <a:ln w="12700">
            <a:solidFill>
              <a:srgbClr val="A8E6C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" y="4078224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3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appendChild()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048256" y="40965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7A60"/>
                </a:solidFill>
              </a:rPr>
              <a:t>Add child node to parent element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84048" y="4562856"/>
            <a:ext cx="1572768" cy="347472"/>
          </a:xfrm>
          <a:prstGeom prst="roundRect">
            <a:avLst>
              <a:gd name="adj" fmla="val 13158"/>
            </a:avLst>
          </a:prstGeom>
          <a:solidFill>
            <a:srgbClr val="D6F5E3"/>
          </a:solidFill>
          <a:ln w="12700">
            <a:solidFill>
              <a:srgbClr val="A8E6C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4048" y="4562856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3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removeChild()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048256" y="458114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7A60"/>
                </a:solidFill>
              </a:rPr>
              <a:t>Remove a node from the DOM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09160" y="3136392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A8E6C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09160" y="3136392"/>
            <a:ext cx="4206240" cy="402336"/>
          </a:xfrm>
          <a:prstGeom prst="rect">
            <a:avLst/>
          </a:prstGeom>
          <a:solidFill>
            <a:srgbClr val="2D8653"/>
          </a:solidFill>
          <a:ln w="12700">
            <a:solidFill>
              <a:srgbClr val="2D865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31729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🎯 Events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4818888" y="3593592"/>
            <a:ext cx="1572768" cy="347472"/>
          </a:xfrm>
          <a:prstGeom prst="roundRect">
            <a:avLst>
              <a:gd name="adj" fmla="val 13158"/>
            </a:avLst>
          </a:prstGeom>
          <a:solidFill>
            <a:srgbClr val="D6F5E3"/>
          </a:solidFill>
          <a:ln w="12700">
            <a:solidFill>
              <a:srgbClr val="A8E6C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18888" y="359359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3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addEventListener()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483096" y="36118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7A60"/>
                </a:solidFill>
              </a:rPr>
              <a:t>Attach an event handler to an element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818888" y="4078224"/>
            <a:ext cx="1572768" cy="347472"/>
          </a:xfrm>
          <a:prstGeom prst="roundRect">
            <a:avLst>
              <a:gd name="adj" fmla="val 13158"/>
            </a:avLst>
          </a:prstGeom>
          <a:solidFill>
            <a:srgbClr val="D6F5E3"/>
          </a:solidFill>
          <a:ln w="12700">
            <a:solidFill>
              <a:srgbClr val="A8E6C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18888" y="4078224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3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removeEventListener()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483096" y="40965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7A60"/>
                </a:solidFill>
              </a:rPr>
              <a:t>Remove an event handler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5C3A"/>
          </a:solidFill>
          <a:ln w="12700">
            <a:solidFill>
              <a:srgbClr val="1E5C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Real-World DOM Examples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60520" cy="1828800"/>
          </a:xfrm>
          <a:prstGeom prst="rect">
            <a:avLst/>
          </a:prstGeom>
          <a:solidFill>
            <a:srgbClr val="1E5C3A"/>
          </a:solidFill>
          <a:ln w="19050">
            <a:solidFill>
              <a:srgbClr val="2D86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160520" cy="411480"/>
          </a:xfrm>
          <a:prstGeom prst="rect">
            <a:avLst/>
          </a:prstGeom>
          <a:solidFill>
            <a:srgbClr val="2D8653"/>
          </a:solidFill>
          <a:ln w="12700">
            <a:solidFill>
              <a:srgbClr val="2D86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5097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🔎  Google Search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84048" y="13898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E6C3"/>
                </a:solidFill>
              </a:rPr>
              <a:t>Autocomplete dropdown appears as you type — DOM inserts suggestion list in real time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901952"/>
            <a:ext cx="3977640" cy="749808"/>
          </a:xfrm>
          <a:prstGeom prst="rect">
            <a:avLst/>
          </a:prstGeom>
          <a:solidFill>
            <a:srgbClr val="1A3A2A"/>
          </a:solidFill>
          <a:ln w="12700">
            <a:solidFill>
              <a:srgbClr val="3DBE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92024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B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input.addEventListener('keyup', () =&gt;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DB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suggestions.innerHTML = getSuggestions();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DB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914400"/>
            <a:ext cx="4160520" cy="1828800"/>
          </a:xfrm>
          <a:prstGeom prst="rect">
            <a:avLst/>
          </a:prstGeom>
          <a:solidFill>
            <a:srgbClr val="1E5C3A"/>
          </a:solidFill>
          <a:ln w="19050">
            <a:solidFill>
              <a:srgbClr val="2D86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914400"/>
            <a:ext cx="4160520" cy="411480"/>
          </a:xfrm>
          <a:prstGeom prst="rect">
            <a:avLst/>
          </a:prstGeom>
          <a:solidFill>
            <a:srgbClr val="2D8653"/>
          </a:solidFill>
          <a:ln w="12700">
            <a:solidFill>
              <a:srgbClr val="2D86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95097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📰  Facebook / Twitter Feed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818888" y="13898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E6C3"/>
                </a:solidFill>
              </a:rPr>
              <a:t>New posts are injected into the page via DOM manipulation without reloading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1901952"/>
            <a:ext cx="3977640" cy="749808"/>
          </a:xfrm>
          <a:prstGeom prst="rect">
            <a:avLst/>
          </a:prstGeom>
          <a:solidFill>
            <a:srgbClr val="1A3A2A"/>
          </a:solidFill>
          <a:ln w="12700">
            <a:solidFill>
              <a:srgbClr val="3DBE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73752" y="192024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B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post = document.createElement('div');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DB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post.innerHTML = newPostHTML;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DB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feed.prepend(post);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926080"/>
            <a:ext cx="4160520" cy="1828800"/>
          </a:xfrm>
          <a:prstGeom prst="rect">
            <a:avLst/>
          </a:prstGeom>
          <a:solidFill>
            <a:srgbClr val="1E5C3A"/>
          </a:solidFill>
          <a:ln w="19050">
            <a:solidFill>
              <a:srgbClr val="2D86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26080"/>
            <a:ext cx="4160520" cy="411480"/>
          </a:xfrm>
          <a:prstGeom prst="rect">
            <a:avLst/>
          </a:prstGeom>
          <a:solidFill>
            <a:srgbClr val="2D8653"/>
          </a:solidFill>
          <a:ln w="12700">
            <a:solidFill>
              <a:srgbClr val="2D865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96265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✅  Form Validation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84048" y="340156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E6C3"/>
                </a:solidFill>
              </a:rPr>
              <a:t>Error messages appear below input fields when invalid data is detected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913632"/>
            <a:ext cx="3977640" cy="749808"/>
          </a:xfrm>
          <a:prstGeom prst="rect">
            <a:avLst/>
          </a:prstGeom>
          <a:solidFill>
            <a:srgbClr val="1A3A2A"/>
          </a:solidFill>
          <a:ln w="12700">
            <a:solidFill>
              <a:srgbClr val="3DBE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393192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B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(!email.includes('@'))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DB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errMsg.textContent = 'Invalid email';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DB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09160" y="2926080"/>
            <a:ext cx="4160520" cy="1828800"/>
          </a:xfrm>
          <a:prstGeom prst="rect">
            <a:avLst/>
          </a:prstGeom>
          <a:solidFill>
            <a:srgbClr val="1E5C3A"/>
          </a:solidFill>
          <a:ln w="19050">
            <a:solidFill>
              <a:srgbClr val="2D86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926080"/>
            <a:ext cx="4160520" cy="411480"/>
          </a:xfrm>
          <a:prstGeom prst="rect">
            <a:avLst/>
          </a:prstGeom>
          <a:solidFill>
            <a:srgbClr val="2D8653"/>
          </a:solidFill>
          <a:ln w="12700">
            <a:solidFill>
              <a:srgbClr val="2D865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296265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🌙  Dark Mode Toggle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818888" y="340156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E6C3"/>
                </a:solidFill>
              </a:rPr>
              <a:t>Switching themes applies a CSS class to &lt;body&gt; via the DOM instantly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00600" y="3913632"/>
            <a:ext cx="3977640" cy="749808"/>
          </a:xfrm>
          <a:prstGeom prst="rect">
            <a:avLst/>
          </a:prstGeom>
          <a:solidFill>
            <a:srgbClr val="1A3A2A"/>
          </a:solidFill>
          <a:ln w="12700">
            <a:solidFill>
              <a:srgbClr val="3DBE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3752" y="393192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B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btn.addEventListener('click', () =&gt;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DB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document.body.classList.toggle('dark');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DB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5C3A"/>
          </a:solidFill>
          <a:ln w="12700">
            <a:solidFill>
              <a:srgbClr val="1E5C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Real DOM vs Virtual DOM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005072" y="2011680"/>
            <a:ext cx="1133856" cy="1133856"/>
          </a:xfrm>
          <a:prstGeom prst="ellipse">
            <a:avLst/>
          </a:prstGeom>
          <a:solidFill>
            <a:srgbClr val="3DBE7A"/>
          </a:solidFill>
          <a:ln w="12700">
            <a:solidFill>
              <a:srgbClr val="3DBE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05072" y="2011680"/>
            <a:ext cx="11338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3A2A"/>
                </a:solidFill>
              </a:rPr>
              <a:t>VS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365760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A8E6C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0120"/>
            <a:ext cx="3657600" cy="457200"/>
          </a:xfrm>
          <a:prstGeom prst="rect">
            <a:avLst/>
          </a:prstGeom>
          <a:solidFill>
            <a:srgbClr val="2D8653"/>
          </a:solidFill>
          <a:ln w="12700">
            <a:solidFill>
              <a:srgbClr val="2D86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60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🌐  Real DOM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8653"/>
                </a:solidFill>
              </a:rPr>
              <a:t>• </a:t>
            </a:r>
            <a:pPr indent="0" marL="0">
              <a:buNone/>
            </a:pPr>
            <a:r>
              <a:rPr lang="en-US" sz="1250" dirty="0">
                <a:solidFill>
                  <a:srgbClr val="0D2B1D"/>
                </a:solidFill>
              </a:rPr>
              <a:t>Directly represents browser's UI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201168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8653"/>
                </a:solidFill>
              </a:rPr>
              <a:t>• </a:t>
            </a:r>
            <a:pPr indent="0" marL="0">
              <a:buNone/>
            </a:pPr>
            <a:r>
              <a:rPr lang="en-US" sz="1250" dirty="0">
                <a:solidFill>
                  <a:srgbClr val="0D2B1D"/>
                </a:solidFill>
              </a:rPr>
              <a:t>Slow — re-renders entire subtree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251460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8653"/>
                </a:solidFill>
              </a:rPr>
              <a:t>• </a:t>
            </a:r>
            <a:pPr indent="0" marL="0">
              <a:buNone/>
            </a:pPr>
            <a:r>
              <a:rPr lang="en-US" sz="1250" dirty="0">
                <a:solidFill>
                  <a:srgbClr val="0D2B1D"/>
                </a:solidFill>
              </a:rPr>
              <a:t>Updates are synchronous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301752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8653"/>
                </a:solidFill>
              </a:rPr>
              <a:t>• </a:t>
            </a:r>
            <a:pPr indent="0" marL="0">
              <a:buNone/>
            </a:pPr>
            <a:r>
              <a:rPr lang="en-US" sz="1250" dirty="0">
                <a:solidFill>
                  <a:srgbClr val="0D2B1D"/>
                </a:solidFill>
              </a:rPr>
              <a:t>Heavy memory usage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352044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8653"/>
                </a:solidFill>
              </a:rPr>
              <a:t>• </a:t>
            </a:r>
            <a:pPr indent="0" marL="0">
              <a:buNone/>
            </a:pPr>
            <a:r>
              <a:rPr lang="en-US" sz="1250" dirty="0">
                <a:solidFill>
                  <a:srgbClr val="0D2B1D"/>
                </a:solidFill>
              </a:rPr>
              <a:t>Used in plain HTML/JS projects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402336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8653"/>
                </a:solidFill>
              </a:rPr>
              <a:t>• </a:t>
            </a:r>
            <a:pPr indent="0" marL="0">
              <a:buNone/>
            </a:pPr>
            <a:r>
              <a:rPr lang="en-US" sz="1250" dirty="0">
                <a:solidFill>
                  <a:srgbClr val="0D2B1D"/>
                </a:solidFill>
              </a:rPr>
              <a:t>Direct access via document.*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212080" y="960120"/>
            <a:ext cx="365760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A8E6C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212080" y="960120"/>
            <a:ext cx="3657600" cy="457200"/>
          </a:xfrm>
          <a:prstGeom prst="rect">
            <a:avLst/>
          </a:prstGeom>
          <a:solidFill>
            <a:srgbClr val="1E5C3A"/>
          </a:solidFill>
          <a:ln w="12700">
            <a:solidFill>
              <a:srgbClr val="1E5C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0" y="960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⚛️  Virtual DOM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349240" y="150876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BE7A"/>
                </a:solidFill>
              </a:rPr>
              <a:t>• </a:t>
            </a:r>
            <a:pPr indent="0" marL="0">
              <a:buNone/>
            </a:pPr>
            <a:r>
              <a:rPr lang="en-US" sz="1250" dirty="0">
                <a:solidFill>
                  <a:srgbClr val="0D2B1D"/>
                </a:solidFill>
              </a:rPr>
              <a:t>In-memory copy of the Real DOM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349240" y="201168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BE7A"/>
                </a:solidFill>
              </a:rPr>
              <a:t>• </a:t>
            </a:r>
            <a:pPr indent="0" marL="0">
              <a:buNone/>
            </a:pPr>
            <a:r>
              <a:rPr lang="en-US" sz="1250" dirty="0">
                <a:solidFill>
                  <a:srgbClr val="0D2B1D"/>
                </a:solidFill>
              </a:rPr>
              <a:t>Fast — only diffs are applied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349240" y="251460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BE7A"/>
                </a:solidFill>
              </a:rPr>
              <a:t>• </a:t>
            </a:r>
            <a:pPr indent="0" marL="0">
              <a:buNone/>
            </a:pPr>
            <a:r>
              <a:rPr lang="en-US" sz="1250" dirty="0">
                <a:solidFill>
                  <a:srgbClr val="0D2B1D"/>
                </a:solidFill>
              </a:rPr>
              <a:t>Batches updates efficiently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349240" y="301752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BE7A"/>
                </a:solidFill>
              </a:rPr>
              <a:t>• </a:t>
            </a:r>
            <a:pPr indent="0" marL="0">
              <a:buNone/>
            </a:pPr>
            <a:r>
              <a:rPr lang="en-US" sz="1250" dirty="0">
                <a:solidFill>
                  <a:srgbClr val="0D2B1D"/>
                </a:solidFill>
              </a:rPr>
              <a:t>Lower memory overhead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349240" y="352044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BE7A"/>
                </a:solidFill>
              </a:rPr>
              <a:t>• </a:t>
            </a:r>
            <a:pPr indent="0" marL="0">
              <a:buNone/>
            </a:pPr>
            <a:r>
              <a:rPr lang="en-US" sz="1250" dirty="0">
                <a:solidFill>
                  <a:srgbClr val="0D2B1D"/>
                </a:solidFill>
              </a:rPr>
              <a:t>Used by React, Vue frameworks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349240" y="402336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BE7A"/>
                </a:solidFill>
              </a:rPr>
              <a:t>• </a:t>
            </a:r>
            <a:pPr indent="0" marL="0">
              <a:buNone/>
            </a:pPr>
            <a:r>
              <a:rPr lang="en-US" sz="1250" dirty="0">
                <a:solidFill>
                  <a:srgbClr val="0D2B1D"/>
                </a:solidFill>
              </a:rPr>
              <a:t>Abstracted via framework APIs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474720" cy="3474720"/>
          </a:xfrm>
          <a:prstGeom prst="ellipse">
            <a:avLst/>
          </a:prstGeom>
          <a:solidFill>
            <a:srgbClr val="1E5C3A"/>
          </a:solidFill>
          <a:ln w="12700">
            <a:solidFill>
              <a:srgbClr val="1E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200400" cy="3200400"/>
          </a:xfrm>
          <a:prstGeom prst="ellipse">
            <a:avLst/>
          </a:prstGeom>
          <a:solidFill>
            <a:srgbClr val="1E5C3A"/>
          </a:solidFill>
          <a:ln w="12700">
            <a:solidFill>
              <a:srgbClr val="1E5C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2D8653"/>
          </a:solidFill>
          <a:ln w="12700">
            <a:solidFill>
              <a:srgbClr val="2D865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3DBE7A"/>
          </a:solidFill>
          <a:ln w="12700">
            <a:solidFill>
              <a:srgbClr val="3DBE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BE7A"/>
                </a:solidFill>
              </a:rPr>
              <a:t>Key Takeaways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046720" cy="530352"/>
          </a:xfrm>
          <a:prstGeom prst="rect">
            <a:avLst/>
          </a:prstGeom>
          <a:solidFill>
            <a:srgbClr val="1E5C3A"/>
          </a:solidFill>
          <a:ln w="12700">
            <a:solidFill>
              <a:srgbClr val="2D865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64008" cy="530352"/>
          </a:xfrm>
          <a:prstGeom prst="rect">
            <a:avLst/>
          </a:prstGeom>
          <a:solidFill>
            <a:srgbClr val="3DBE7A"/>
          </a:solidFill>
          <a:ln w="12700">
            <a:solidFill>
              <a:srgbClr val="3DBE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09728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8E6C3"/>
                </a:solidFill>
              </a:rPr>
              <a:t>🌳   The DOM is a tree representation of your HTML document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1755648"/>
            <a:ext cx="8046720" cy="530352"/>
          </a:xfrm>
          <a:prstGeom prst="rect">
            <a:avLst/>
          </a:prstGeom>
          <a:solidFill>
            <a:srgbClr val="1E5C3A"/>
          </a:solidFill>
          <a:ln w="12700">
            <a:solidFill>
              <a:srgbClr val="2D865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755648"/>
            <a:ext cx="64008" cy="530352"/>
          </a:xfrm>
          <a:prstGeom prst="rect">
            <a:avLst/>
          </a:prstGeom>
          <a:solidFill>
            <a:srgbClr val="3DBE7A"/>
          </a:solidFill>
          <a:ln w="12700">
            <a:solidFill>
              <a:srgbClr val="3DBE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755648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8E6C3"/>
                </a:solidFill>
              </a:rPr>
              <a:t>🔗   JavaScript uses it to read, modify, and listen to the page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2414016"/>
            <a:ext cx="8046720" cy="530352"/>
          </a:xfrm>
          <a:prstGeom prst="rect">
            <a:avLst/>
          </a:prstGeom>
          <a:solidFill>
            <a:srgbClr val="1E5C3A"/>
          </a:solidFill>
          <a:ln w="12700">
            <a:solidFill>
              <a:srgbClr val="2D865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414016"/>
            <a:ext cx="64008" cy="530352"/>
          </a:xfrm>
          <a:prstGeom prst="rect">
            <a:avLst/>
          </a:prstGeom>
          <a:solidFill>
            <a:srgbClr val="3DBE7A"/>
          </a:solidFill>
          <a:ln w="12700">
            <a:solidFill>
              <a:srgbClr val="3DBE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414016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8E6C3"/>
                </a:solidFill>
              </a:rPr>
              <a:t>⚡   Changes to the DOM are reflected in the browser instantly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3072384"/>
            <a:ext cx="8046720" cy="530352"/>
          </a:xfrm>
          <a:prstGeom prst="rect">
            <a:avLst/>
          </a:prstGeom>
          <a:solidFill>
            <a:srgbClr val="1E5C3A"/>
          </a:solidFill>
          <a:ln w="12700">
            <a:solidFill>
              <a:srgbClr val="2D865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072384"/>
            <a:ext cx="64008" cy="530352"/>
          </a:xfrm>
          <a:prstGeom prst="rect">
            <a:avLst/>
          </a:prstGeom>
          <a:solidFill>
            <a:srgbClr val="3DBE7A"/>
          </a:solidFill>
          <a:ln w="12700">
            <a:solidFill>
              <a:srgbClr val="3DBE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072384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8E6C3"/>
                </a:solidFill>
              </a:rPr>
              <a:t>🚀   Frameworks like React abstract the DOM with the Virtual DOM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57200" y="3730752"/>
            <a:ext cx="8046720" cy="530352"/>
          </a:xfrm>
          <a:prstGeom prst="rect">
            <a:avLst/>
          </a:prstGeom>
          <a:solidFill>
            <a:srgbClr val="1E5C3A"/>
          </a:solidFill>
          <a:ln w="12700">
            <a:solidFill>
              <a:srgbClr val="2D865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730752"/>
            <a:ext cx="64008" cy="530352"/>
          </a:xfrm>
          <a:prstGeom prst="rect">
            <a:avLst/>
          </a:prstGeom>
          <a:solidFill>
            <a:srgbClr val="3DBE7A"/>
          </a:solidFill>
          <a:ln w="12700">
            <a:solidFill>
              <a:srgbClr val="3DBE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730752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8E6C3"/>
                </a:solidFill>
              </a:rPr>
              <a:t>🛠️   Mastering the DOM is fundamental to web development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0" y="470916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A2A"/>
                </a:solidFill>
              </a:rPr>
              <a:t>Happy Coding! 🚀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DOM in JavaScript</dc:title>
  <dc:subject>PptxGenJS Presentation</dc:subject>
  <dc:creator>PptxGenJS</dc:creator>
  <cp:lastModifiedBy>PptxGenJS</cp:lastModifiedBy>
  <cp:revision>1</cp:revision>
  <dcterms:created xsi:type="dcterms:W3CDTF">2026-04-02T12:24:45Z</dcterms:created>
  <dcterms:modified xsi:type="dcterms:W3CDTF">2026-04-02T12:24:45Z</dcterms:modified>
</cp:coreProperties>
</file>