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74C69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Fundamentals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  •  Type Casting  •  Operators  •  User Input  •  If-Else  •  Switch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beginner's guide to core C# concepts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int, float, double, char, string, bool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45059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Casting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Implicit, explicit, and Convert class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68503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Arithmetic, comparison, logical, and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121615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6002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input with Console.ReadLine()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77440"/>
            <a:ext cx="50292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7744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245059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If-Else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8346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branching and nested conditions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Statement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Multi-case branching with switch/case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Data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is a strongly-typed language — every variable must have a declared type.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1371600"/>
          <a:ext cx="5029200" cy="3291840"/>
        </p:xfrm>
        <a:graphic>
          <a:graphicData uri="http://schemas.openxmlformats.org/drawingml/2006/table">
            <a:tbl>
              <a:tblPr/>
              <a:tblGrid>
                <a:gridCol w="777240"/>
                <a:gridCol w="685800"/>
                <a:gridCol w="1280160"/>
                <a:gridCol w="22860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Size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 Value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32-bit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Whole numbers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64-bit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9876543210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Large whole numbers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32-bit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3.14f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Single-precision decimal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double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64-bit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3.14159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Double-precision decimal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16-bit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'A'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Unicode character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string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"Hello"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Sequence of characters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1-bit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true/false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47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Boolean (true or false)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C6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371600"/>
            <a:ext cx="3291840" cy="329184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32120" y="1371600"/>
            <a:ext cx="32918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38988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0" y="1664208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Variable Declarations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age = 25;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long population = 8000000000;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float price = 9.99f;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pi = 3.14159265;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 grade = 'A';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name = "Alice";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isStudent = true;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Console.WriteLine(name); // Alice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Console.WriteLine(age);  //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Type Casting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77724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Implicit Casting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— safe, no data loss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74320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 Casting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408" y="14173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— may lose precision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7432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Class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4768" y="14173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type conversion methods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8595360" cy="297180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859536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9280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8366760" cy="2587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1. Implicit Casting (int → double, auto)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myInt = 100;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myDouble = myInt;  // No cast needed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Console.WriteLine(myDouble); // 100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2. Explicit Casting (double → int, manual)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price = 9.99;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rounded = (int)price; // Truncates decimal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Console.WriteLine(rounded); // 9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3. Convert Class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numStr = "42";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parsed = Convert.ToInt32(numStr);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d = Convert.ToDouble("3.14");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b = Convert.ToBoolean("True");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Console.WriteLine(parsed + 8); // 50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332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 Operators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(Add)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(Subtract)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 (Multiply)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389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 (Divide)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% (Modulus)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14800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0332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Operators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 (Equal)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8013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!= (Not equal)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(Greater)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3898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 (Less)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18013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 / &lt;=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71800"/>
            <a:ext cx="4114800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9923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Operators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55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 (AND)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 (OR)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1788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 (NOT)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3355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^ (XOR)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71800"/>
            <a:ext cx="4114800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99923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Assignment Operators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355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(Assign)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7673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+= (Add assign)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17880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-= (Sub assign)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355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++ (Increment)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7673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(Decrement)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Operators — Code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14884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977640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10, b = 3;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Arithmetic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+ b);  // 13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- b);  //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* b);  // 30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/ b);  // 3  (integer division)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% b);  // 1  (remainder)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214884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95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069848"/>
            <a:ext cx="3977640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Comparison (returns bool)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== b); //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!= b); //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&gt; b);  //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&lt; b);  //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Console.WriteLine(a &gt;= 10);// True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187452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859536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3580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8366760" cy="1490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Logical Operators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x = true, y = false;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Console.WriteLine(x &amp;&amp; y); // False (AND)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Console.WriteLine(x || y); // True  (OR)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Console.WriteLine(!x);     // False (NOT)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Assignment Operators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n = 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+= 3;  // n = 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-= 2;  // n =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n++;     // n =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Console.WriteLine(n); // 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User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📥  Console.ReadLine()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a full line of text as string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  Type Conversion Required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4408" y="14173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returns string — convert using int.Parse() or Convert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Null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44768" y="14173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ReadLine() can return null — use null-forgiving or check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8595360" cy="297180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38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212975"/>
            <a:ext cx="8366760" cy="32594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using System;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Program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static void Main() {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Read a string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Console.Write("Enter your name: 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name = Console.ReadLine();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Console.WriteLine("Hello, " + name + "!");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Read an integer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Console.Write("Enter your age: 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age = int.Parse(Console.ReadLine());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Console.WriteLine("You are " + age + " years old.");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Read a double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Console.Write("Enter your GPA: 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double gpa = double.Parse(Console.ReadLine());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Console.WriteLine("GPA: " + gpa);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700" dirty="0">
              <a:solidFill>
                <a:srgbClr val="6EE7B7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If-Else Statements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 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931920" cy="192024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393192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703320" cy="1536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(condition)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runs if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(condition2)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runs if condition2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runs if all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9875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206240" cy="251460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9844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3977640" cy="2130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score = 75;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(score &gt;= 90)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Console.WriteLine("Grade: A");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(score &gt;= 80)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Console.WriteLine("Grade: B");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(score &gt;= 70)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Console.WriteLine("Grade: C");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Console.WriteLine("Grade: F");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Grade: 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Ternary Operator (shorthand if-else)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4845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Syntax:     result = (condition) ? valueIfTrue : valueIfFalse;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A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Example:    int age = 20;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69664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A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string status = (age &gt;= 18) ? "Adult" : "Minor";   // → "Adult"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If-Else — Nested Conditions &amp; Real Example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29184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977640" cy="2907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Nested If-Else: Login System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isRegistered = true;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hasCorrectPassword = true;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(isRegistered)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(hasCorrectPassword)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Console.WriteLine("Login successful!");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Console.WriteLine("Wrong password.");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Console.WriteLine("User not found.");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Login successful!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329184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95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069848"/>
            <a:ext cx="3977640" cy="2907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Real-world: BMI Calculator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Console.Write("Enter weight (kg):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weight = double.Parse(Console.ReadLine());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Console.Write("Enter height (m):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height = double.Parse(Console.ReadLine());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bmi = weight / (height * height);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(bmi &lt; 18.5)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Console.WriteLine("Underweight");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(bmi &lt; 25.0)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Console.WriteLine("Normal weight");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(bmi &lt; 30.0)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Console.WriteLine("Overweight");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Console.WriteLine("Obese");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Tip: Avoid deeply nested if-else blocks. If nesting goes beyond 2-3 levels, consider using a switch statement or separate functions to keep code readable.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Switch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 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931920" cy="228600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393192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703320" cy="1901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(variable)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value1: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value2: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code if no match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9875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of Week 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206240" cy="269748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9844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3977640" cy="2313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day = 3;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(day)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1: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Console.WriteLine("Monday");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2: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Console.WriteLine("Tuesday");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3: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Console.WriteLine("Wednesday");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6: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7: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Console.WriteLine("Weekend!");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Console.WriteLine("Invalid day");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Wednesday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3931920" cy="12801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When to use Switch: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Comparing one variable to many fixed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Menu selections &amp; command handling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More readable than long if-else chains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Switch — String Matching &amp; Pattern Matching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92608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977640" cy="2542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Switch with strings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command = "start";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(command)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"start":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Console.WriteLine("Starting...");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"stop":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Console.WriteLine("Stopping...");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"pause":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Console.WriteLine("Paused.");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Console.WriteLine("Unknown command");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955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069848"/>
            <a:ext cx="3977640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C# Switch Expression (C# 8+)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score = 85;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grade = score switch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&gt;= 90 =&gt; "A",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&gt;= 80 =&gt; "B",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&gt;= 70 =&gt; "C",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&gt;= 60 =&gt; "D",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      =&gt; "F"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Console.WriteLine("Grade: " + grade);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Grade: B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Multiple case labels (fall-through)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 c = 'A';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(c)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'A': case 'E':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'I': case 'O': case 'U':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Console.WriteLine("Vowel");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Console.WriteLine("Consonant");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94760"/>
            <a:ext cx="420624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🆕  Switch Expression vs Switch Statement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Statement: traditional, uses break, side effects OK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Expression: concise, returns a value, C# 8+ only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concepts covered in this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int, double, char, string, bool &amp; more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148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4572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Casting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33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Implicit, explicit, Convert class methods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1148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4572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63931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Arithmetic, comparison, logical, assignment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148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188720"/>
            <a:ext cx="4572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8872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28016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62763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Console.ReadLine() with type conversion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41148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194560"/>
            <a:ext cx="4572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9456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2860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If-Else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633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logic, nesting, ternary operator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200400"/>
            <a:ext cx="41148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200400"/>
            <a:ext cx="4572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0040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29184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3931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matching, fall-through, switch expressions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coding and keep growing!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7061</Words>
  <Application>WPS Presentation</Application>
  <PresentationFormat>On-screen Show (16:9)</PresentationFormat>
  <Paragraphs>507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Programming Fundamentals</dc:title>
  <dc:creator>PptxGenJS</dc:creator>
  <dc:subject>PptxGenJS Presentation</dc:subject>
  <cp:lastModifiedBy>PMYLS</cp:lastModifiedBy>
  <cp:revision>2</cp:revision>
  <dcterms:created xsi:type="dcterms:W3CDTF">2026-04-01T13:03:00Z</dcterms:created>
  <dcterms:modified xsi:type="dcterms:W3CDTF">2026-04-06T06:34:13Z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2ADF565A919B48D19607B133D160AA36_12</vt:lpwstr>
  </property>
  <property fmtid="{D5CDD505-2E9C-101B-9397-08002B2CF9AE}" pid="3" name="KSOProductBuildVer">
    <vt:lpwstr>1033-12.2.0.23196</vt:lpwstr>
  </property>
</Properties>
</file>