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572000" cy="4572000"/>
          </a:xfrm>
          <a:prstGeom prst="ellipse">
            <a:avLst/>
          </a:prstGeom>
          <a:solidFill>
            <a:srgbClr val="1A5C34"/>
          </a:solidFill>
          <a:ln w="12700">
            <a:solidFill>
              <a:srgbClr val="1A5C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3474720"/>
            <a:ext cx="3657600" cy="3657600"/>
          </a:xfrm>
          <a:prstGeom prst="ellipse">
            <a:avLst/>
          </a:prstGeom>
          <a:solidFill>
            <a:srgbClr val="1A5C34"/>
          </a:solidFill>
          <a:ln w="12700">
            <a:solidFill>
              <a:srgbClr val="1A5C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82880"/>
            <a:ext cx="3657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52B788">
                    <a:alpha val="75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  ]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92024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ARRAYS</a:t>
            </a:r>
            <a:endParaRPr lang="en-US" sz="66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· Access · Iterate · Manipulate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57200" y="4114800"/>
            <a:ext cx="1554480" cy="365760"/>
          </a:xfrm>
          <a:prstGeom prst="rect">
            <a:avLst/>
          </a:prstGeom>
          <a:solidFill>
            <a:srgbClr val="2E8B57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41148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48840" y="4114800"/>
            <a:ext cx="1554480" cy="365760"/>
          </a:xfrm>
          <a:prstGeom prst="rect">
            <a:avLst/>
          </a:prstGeom>
          <a:solidFill>
            <a:srgbClr val="2E8B57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48840" y="41148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0" y="4114800"/>
            <a:ext cx="1554480" cy="365760"/>
          </a:xfrm>
          <a:prstGeom prst="rect">
            <a:avLst/>
          </a:prstGeom>
          <a:solidFill>
            <a:srgbClr val="2E8B57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41148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532120" y="4114800"/>
            <a:ext cx="1554480" cy="365760"/>
          </a:xfrm>
          <a:prstGeom prst="rect">
            <a:avLst/>
          </a:prstGeom>
          <a:solidFill>
            <a:srgbClr val="2E8B57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532120" y="41148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23760" y="4114800"/>
            <a:ext cx="1554480" cy="365760"/>
          </a:xfrm>
          <a:prstGeom prst="rect">
            <a:avLst/>
          </a:prstGeom>
          <a:solidFill>
            <a:srgbClr val="2E8B57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0" y="41148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B788"/>
                </a:solidFill>
              </a:rPr>
              <a:t>Complete Beginner's Guide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8F3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D2B1A"/>
          </a:solidFill>
          <a:ln w="12700">
            <a:solidFill>
              <a:srgbClr val="0D2B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82880" y="365760"/>
            <a:ext cx="31089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82880" y="2011680"/>
            <a:ext cx="3108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3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that stores multiple values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Elements ordered by index (starts at 0)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numbers, strings, objects, or other arrays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— grows &amp; shrinks at runtime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749040" y="274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Structure Diagram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3749040" y="777240"/>
            <a:ext cx="5212080" cy="411480"/>
          </a:xfrm>
          <a:prstGeom prst="rect">
            <a:avLst/>
          </a:prstGeom>
          <a:solidFill>
            <a:srgbClr val="0A1F1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749040" y="77724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fruits = ["apple","banana","grape","mango"];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749040" y="1417320"/>
            <a:ext cx="1097280" cy="594360"/>
          </a:xfrm>
          <a:prstGeom prst="rect">
            <a:avLst/>
          </a:prstGeom>
          <a:solidFill>
            <a:srgbClr val="1A5C34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49040" y="141732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92040" y="1417320"/>
            <a:ext cx="402336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92040" y="141732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2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"apple"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749040" y="2194560"/>
            <a:ext cx="1097280" cy="594360"/>
          </a:xfrm>
          <a:prstGeom prst="rect">
            <a:avLst/>
          </a:prstGeom>
          <a:solidFill>
            <a:srgbClr val="1A5C34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49040" y="219456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92040" y="2194560"/>
            <a:ext cx="402336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892040" y="219456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2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"banana"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749040" y="2971800"/>
            <a:ext cx="1097280" cy="594360"/>
          </a:xfrm>
          <a:prstGeom prst="rect">
            <a:avLst/>
          </a:prstGeom>
          <a:solidFill>
            <a:srgbClr val="1A5C34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49040" y="297180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92040" y="2971800"/>
            <a:ext cx="402336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92040" y="297180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2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"grape"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3749040" y="3749040"/>
            <a:ext cx="1097280" cy="594360"/>
          </a:xfrm>
          <a:prstGeom prst="rect">
            <a:avLst/>
          </a:prstGeom>
          <a:solidFill>
            <a:srgbClr val="1A5C34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49040" y="3749040"/>
            <a:ext cx="10972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[3]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892040" y="3749040"/>
            <a:ext cx="4023360" cy="594360"/>
          </a:xfrm>
          <a:prstGeom prst="rect">
            <a:avLst/>
          </a:prstGeom>
          <a:solidFill>
            <a:srgbClr val="FFFFFF"/>
          </a:solidFill>
          <a:ln w="1905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892040" y="3749040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D2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"mango"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3749040" y="46177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box = one element in the array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2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C34"/>
          </a:solidFill>
          <a:ln w="12700">
            <a:solidFill>
              <a:srgbClr val="1A5C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457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Syntax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Array Literal (Recommended)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99032"/>
            <a:ext cx="4114800" cy="685800"/>
          </a:xfrm>
          <a:prstGeom prst="rect">
            <a:avLst/>
          </a:prstGeom>
          <a:solidFill>
            <a:srgbClr val="0A1F1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99032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arr = [val1, val2, val3];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233172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Array Constructor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679192"/>
            <a:ext cx="4114800" cy="685800"/>
          </a:xfrm>
          <a:prstGeom prst="rect">
            <a:avLst/>
          </a:prstGeom>
          <a:solidFill>
            <a:srgbClr val="0A1F1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679192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arr = new Array(v1, v2);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361188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Empty Array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959352"/>
            <a:ext cx="4114800" cy="685800"/>
          </a:xfrm>
          <a:prstGeom prst="rect">
            <a:avLst/>
          </a:prstGeom>
          <a:solidFill>
            <a:srgbClr val="0A1F1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3959352"/>
            <a:ext cx="4114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arr = [];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754880" y="10515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Accessing &amp; Modifying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1399032"/>
            <a:ext cx="4114800" cy="1828800"/>
          </a:xfrm>
          <a:prstGeom prst="rect">
            <a:avLst/>
          </a:prstGeom>
          <a:solidFill>
            <a:srgbClr val="0A1F1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1481328"/>
            <a:ext cx="3886200" cy="16642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c = ["red","green","blue"];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c[0];        // "red"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c[2];        // "blue"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c.length;    // 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c[1] = "gold"; // modify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33375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 Data Types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754880" y="3685032"/>
            <a:ext cx="4114800" cy="1188720"/>
          </a:xfrm>
          <a:prstGeom prst="rect">
            <a:avLst/>
          </a:prstGeom>
          <a:solidFill>
            <a:srgbClr val="0A1F1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3749040"/>
            <a:ext cx="388620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mixed = [1, "hello", true, null];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nested = [[1,2], [3,4]];  // 2D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objs = [{name:"Ali"},{name:"Sara"}];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Use Arrays?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2062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188720"/>
            <a:ext cx="91440" cy="16916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258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📂  Organized Storage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175564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4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related data under one variable. No more student1, student2, student3 — just one students array.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2062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91440" cy="16916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3258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  Easy Looping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983480" y="175564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4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through all elements with a single for or forEach — no repetitive manual code.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4320" y="3108960"/>
            <a:ext cx="42062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108960"/>
            <a:ext cx="91440" cy="16916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246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 Powerful Methods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02920" y="367588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4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tools: .map(), .filter(), .reduce(), .sort() — transform data in one line.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3108960"/>
            <a:ext cx="4206240" cy="1691640"/>
          </a:xfrm>
          <a:prstGeom prst="rect">
            <a:avLst/>
          </a:prstGeom>
          <a:solidFill>
            <a:srgbClr val="FFFFFF"/>
          </a:solidFill>
          <a:ln w="1905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54880" y="3108960"/>
            <a:ext cx="91440" cy="169164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324612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  Dynamic &amp; Flexible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983480" y="3675888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D4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or remove items any time. Works with any data type: strings, numbers, booleans, objects.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C34"/>
          </a:solidFill>
          <a:ln w="12700">
            <a:solidFill>
              <a:srgbClr val="1A5C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Use Arrays — Common Methods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2011680" cy="457200"/>
          </a:xfrm>
          <a:prstGeom prst="rect">
            <a:avLst/>
          </a:prstGeom>
          <a:solidFill>
            <a:srgbClr val="2E8B57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0058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40280" y="1005840"/>
            <a:ext cx="2286000" cy="457200"/>
          </a:xfrm>
          <a:prstGeom prst="rect">
            <a:avLst/>
          </a:prstGeom>
          <a:solidFill>
            <a:srgbClr val="2E8B57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40280" y="100584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0" y="1005840"/>
            <a:ext cx="4389120" cy="457200"/>
          </a:xfrm>
          <a:prstGeom prst="rect">
            <a:avLst/>
          </a:prstGeom>
          <a:solidFill>
            <a:srgbClr val="2E8B57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00584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82880" y="1508760"/>
            <a:ext cx="2011680" cy="402336"/>
          </a:xfrm>
          <a:prstGeom prst="rect">
            <a:avLst/>
          </a:prstGeom>
          <a:solidFill>
            <a:srgbClr val="102A1A"/>
          </a:solidFill>
          <a:ln w="12700">
            <a:solidFill>
              <a:srgbClr val="1E5C3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150876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push()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240280" y="1508760"/>
            <a:ext cx="2286000" cy="402336"/>
          </a:xfrm>
          <a:prstGeom prst="rect">
            <a:avLst/>
          </a:prstGeom>
          <a:solidFill>
            <a:srgbClr val="102A1A"/>
          </a:solidFill>
          <a:ln w="12700">
            <a:solidFill>
              <a:srgbClr val="1E5C3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240280" y="1508760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end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0" y="1508760"/>
            <a:ext cx="4389120" cy="402336"/>
          </a:xfrm>
          <a:prstGeom prst="rect">
            <a:avLst/>
          </a:prstGeom>
          <a:solidFill>
            <a:srgbClr val="102A1A"/>
          </a:solidFill>
          <a:ln w="12700">
            <a:solidFill>
              <a:srgbClr val="1E5C3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0" y="1508760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arr.push(4)        → [1,2,3,4]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82880" y="1938528"/>
            <a:ext cx="2011680" cy="402336"/>
          </a:xfrm>
          <a:prstGeom prst="rect">
            <a:avLst/>
          </a:prstGeom>
          <a:solidFill>
            <a:srgbClr val="0D2218"/>
          </a:solidFill>
          <a:ln w="12700">
            <a:solidFill>
              <a:srgbClr val="1E5C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193852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pop()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240280" y="1938528"/>
            <a:ext cx="2286000" cy="402336"/>
          </a:xfrm>
          <a:prstGeom prst="rect">
            <a:avLst/>
          </a:prstGeom>
          <a:solidFill>
            <a:srgbClr val="0D2218"/>
          </a:solidFill>
          <a:ln w="12700">
            <a:solidFill>
              <a:srgbClr val="1E5C3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40280" y="193852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from end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0" y="1938528"/>
            <a:ext cx="4389120" cy="402336"/>
          </a:xfrm>
          <a:prstGeom prst="rect">
            <a:avLst/>
          </a:prstGeom>
          <a:solidFill>
            <a:srgbClr val="0D2218"/>
          </a:solidFill>
          <a:ln w="12700">
            <a:solidFill>
              <a:srgbClr val="1E5C3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0" y="1938528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arr.pop()          → [1,2,3]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182880" y="2368296"/>
            <a:ext cx="2011680" cy="402336"/>
          </a:xfrm>
          <a:prstGeom prst="rect">
            <a:avLst/>
          </a:prstGeom>
          <a:solidFill>
            <a:srgbClr val="102A1A"/>
          </a:solidFill>
          <a:ln w="12700">
            <a:solidFill>
              <a:srgbClr val="1E5C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" y="2368296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unshift()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240280" y="2368296"/>
            <a:ext cx="2286000" cy="402336"/>
          </a:xfrm>
          <a:prstGeom prst="rect">
            <a:avLst/>
          </a:prstGeom>
          <a:solidFill>
            <a:srgbClr val="102A1A"/>
          </a:solidFill>
          <a:ln w="12700">
            <a:solidFill>
              <a:srgbClr val="1E5C3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240280" y="2368296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start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572000" y="2368296"/>
            <a:ext cx="4389120" cy="402336"/>
          </a:xfrm>
          <a:prstGeom prst="rect">
            <a:avLst/>
          </a:prstGeom>
          <a:solidFill>
            <a:srgbClr val="102A1A"/>
          </a:solidFill>
          <a:ln w="12700">
            <a:solidFill>
              <a:srgbClr val="1E5C3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0" y="2368296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arr.unshift(0)     → [0,1,2,3]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182880" y="2798064"/>
            <a:ext cx="2011680" cy="402336"/>
          </a:xfrm>
          <a:prstGeom prst="rect">
            <a:avLst/>
          </a:prstGeom>
          <a:solidFill>
            <a:srgbClr val="0D2218"/>
          </a:solidFill>
          <a:ln w="12700">
            <a:solidFill>
              <a:srgbClr val="1E5C3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" y="2798064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shift()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240280" y="2798064"/>
            <a:ext cx="2286000" cy="402336"/>
          </a:xfrm>
          <a:prstGeom prst="rect">
            <a:avLst/>
          </a:prstGeom>
          <a:solidFill>
            <a:srgbClr val="0D2218"/>
          </a:solidFill>
          <a:ln w="12700">
            <a:solidFill>
              <a:srgbClr val="1E5C3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240280" y="2798064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from start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0" y="2798064"/>
            <a:ext cx="4389120" cy="402336"/>
          </a:xfrm>
          <a:prstGeom prst="rect">
            <a:avLst/>
          </a:prstGeom>
          <a:solidFill>
            <a:srgbClr val="0D2218"/>
          </a:solidFill>
          <a:ln w="12700">
            <a:solidFill>
              <a:srgbClr val="1E5C3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0" y="2798064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arr.shift()       → [1,2,3]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182880" y="3227832"/>
            <a:ext cx="2011680" cy="402336"/>
          </a:xfrm>
          <a:prstGeom prst="rect">
            <a:avLst/>
          </a:prstGeom>
          <a:solidFill>
            <a:srgbClr val="102A1A"/>
          </a:solidFill>
          <a:ln w="12700">
            <a:solidFill>
              <a:srgbClr val="1E5C3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880" y="3227832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includes()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240280" y="3227832"/>
            <a:ext cx="2286000" cy="402336"/>
          </a:xfrm>
          <a:prstGeom prst="rect">
            <a:avLst/>
          </a:prstGeom>
          <a:solidFill>
            <a:srgbClr val="102A1A"/>
          </a:solidFill>
          <a:ln w="12700">
            <a:solidFill>
              <a:srgbClr val="1E5C35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240280" y="3227832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exists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4572000" y="3227832"/>
            <a:ext cx="4389120" cy="402336"/>
          </a:xfrm>
          <a:prstGeom prst="rect">
            <a:avLst/>
          </a:prstGeom>
          <a:solidFill>
            <a:srgbClr val="102A1A"/>
          </a:solidFill>
          <a:ln w="12700">
            <a:solidFill>
              <a:srgbClr val="1E5C3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0" y="3227832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arr.includes(2)    → true</a:t>
            </a:r>
            <a:endParaRPr lang="en-US" sz="1200" dirty="0"/>
          </a:p>
        </p:txBody>
      </p:sp>
      <p:sp>
        <p:nvSpPr>
          <p:cNvPr id="40" name="Shape 38"/>
          <p:cNvSpPr/>
          <p:nvPr/>
        </p:nvSpPr>
        <p:spPr>
          <a:xfrm>
            <a:off x="182880" y="3657600"/>
            <a:ext cx="2011680" cy="402336"/>
          </a:xfrm>
          <a:prstGeom prst="rect">
            <a:avLst/>
          </a:prstGeom>
          <a:solidFill>
            <a:srgbClr val="0D2218"/>
          </a:solidFill>
          <a:ln w="12700">
            <a:solidFill>
              <a:srgbClr val="1E5C3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2880" y="3657600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indexOf()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2240280" y="3657600"/>
            <a:ext cx="2286000" cy="402336"/>
          </a:xfrm>
          <a:prstGeom prst="rect">
            <a:avLst/>
          </a:prstGeom>
          <a:solidFill>
            <a:srgbClr val="0D2218"/>
          </a:solidFill>
          <a:ln w="12700">
            <a:solidFill>
              <a:srgbClr val="1E5C3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240280" y="3657600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position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4572000" y="3657600"/>
            <a:ext cx="4389120" cy="402336"/>
          </a:xfrm>
          <a:prstGeom prst="rect">
            <a:avLst/>
          </a:prstGeom>
          <a:solidFill>
            <a:srgbClr val="0D2218"/>
          </a:solidFill>
          <a:ln w="12700">
            <a:solidFill>
              <a:srgbClr val="1E5C3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0" y="3657600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arr.indexOf(3)     → 2</a:t>
            </a:r>
            <a:endParaRPr lang="en-US" sz="1200" dirty="0"/>
          </a:p>
        </p:txBody>
      </p:sp>
      <p:sp>
        <p:nvSpPr>
          <p:cNvPr id="46" name="Shape 44"/>
          <p:cNvSpPr/>
          <p:nvPr/>
        </p:nvSpPr>
        <p:spPr>
          <a:xfrm>
            <a:off x="182880" y="4087368"/>
            <a:ext cx="2011680" cy="402336"/>
          </a:xfrm>
          <a:prstGeom prst="rect">
            <a:avLst/>
          </a:prstGeom>
          <a:solidFill>
            <a:srgbClr val="102A1A"/>
          </a:solidFill>
          <a:ln w="12700">
            <a:solidFill>
              <a:srgbClr val="1E5C3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2880" y="4087368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reverse()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2240280" y="4087368"/>
            <a:ext cx="2286000" cy="402336"/>
          </a:xfrm>
          <a:prstGeom prst="rect">
            <a:avLst/>
          </a:prstGeom>
          <a:solidFill>
            <a:srgbClr val="102A1A"/>
          </a:solidFill>
          <a:ln w="12700">
            <a:solidFill>
              <a:srgbClr val="1E5C3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240280" y="4087368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Reverse array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4572000" y="4087368"/>
            <a:ext cx="4389120" cy="402336"/>
          </a:xfrm>
          <a:prstGeom prst="rect">
            <a:avLst/>
          </a:prstGeom>
          <a:solidFill>
            <a:srgbClr val="102A1A"/>
          </a:solidFill>
          <a:ln w="12700">
            <a:solidFill>
              <a:srgbClr val="1E5C3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0" y="4087368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arr.reverse()      → [3,2,1]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182880" y="4517136"/>
            <a:ext cx="2011680" cy="402336"/>
          </a:xfrm>
          <a:prstGeom prst="rect">
            <a:avLst/>
          </a:prstGeom>
          <a:solidFill>
            <a:srgbClr val="0D2218"/>
          </a:solidFill>
          <a:ln w="12700">
            <a:solidFill>
              <a:srgbClr val="1E5C3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82880" y="4517136"/>
            <a:ext cx="20116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join()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2240280" y="4517136"/>
            <a:ext cx="2286000" cy="402336"/>
          </a:xfrm>
          <a:prstGeom prst="rect">
            <a:avLst/>
          </a:prstGeom>
          <a:solidFill>
            <a:srgbClr val="0D2218"/>
          </a:solidFill>
          <a:ln w="12700">
            <a:solidFill>
              <a:srgbClr val="1E5C35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240280" y="4517136"/>
            <a:ext cx="22860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as string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4572000" y="4517136"/>
            <a:ext cx="4389120" cy="402336"/>
          </a:xfrm>
          <a:prstGeom prst="rect">
            <a:avLst/>
          </a:prstGeom>
          <a:solidFill>
            <a:srgbClr val="0D2218"/>
          </a:solidFill>
          <a:ln w="12700">
            <a:solidFill>
              <a:srgbClr val="1E5C35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572000" y="4517136"/>
            <a:ext cx="43891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arr.join("-")       → "1-2-3"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1A"/>
          </a:solidFill>
          <a:ln w="12700">
            <a:solidFill>
              <a:srgbClr val="0D2B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Looping Through Arrays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274320" y="105156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for loop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399032"/>
            <a:ext cx="4389120" cy="868680"/>
          </a:xfrm>
          <a:prstGeom prst="rect">
            <a:avLst/>
          </a:prstGeom>
          <a:solidFill>
            <a:srgbClr val="0A1F1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1453896"/>
            <a:ext cx="42062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nums = [10,20,30];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for(let i=0; i&lt;nums.length; i++){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console.log(nums[i]);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74320" y="237744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for...of loop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4320" y="2724912"/>
            <a:ext cx="4389120" cy="868680"/>
          </a:xfrm>
          <a:prstGeom prst="rect">
            <a:avLst/>
          </a:prstGeom>
          <a:solidFill>
            <a:srgbClr val="0A1F1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4048" y="2779776"/>
            <a:ext cx="42062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for(let num of nums){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console.log(num);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3703320"/>
            <a:ext cx="4389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forEach method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74320" y="4050792"/>
            <a:ext cx="4389120" cy="868680"/>
          </a:xfrm>
          <a:prstGeom prst="rect">
            <a:avLst/>
          </a:prstGeom>
          <a:solidFill>
            <a:srgbClr val="0A1F1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4105656"/>
            <a:ext cx="4206240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nums.forEach(num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console.log(num);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10058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 Loop Works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029200" y="1508760"/>
            <a:ext cx="1097280" cy="640080"/>
          </a:xfrm>
          <a:prstGeom prst="rect">
            <a:avLst/>
          </a:prstGeom>
          <a:solidFill>
            <a:srgbClr val="1A5C34"/>
          </a:solidFill>
          <a:ln w="254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0" y="15087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5029200" y="21762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8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[0]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63640" y="1508760"/>
            <a:ext cx="1097280" cy="640080"/>
          </a:xfrm>
          <a:prstGeom prst="rect">
            <a:avLst/>
          </a:prstGeom>
          <a:solidFill>
            <a:srgbClr val="1A5C34"/>
          </a:solidFill>
          <a:ln w="254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263640" y="15087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263640" y="21762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8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[1]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498080" y="1508760"/>
            <a:ext cx="1097280" cy="640080"/>
          </a:xfrm>
          <a:prstGeom prst="rect">
            <a:avLst/>
          </a:prstGeom>
          <a:solidFill>
            <a:srgbClr val="1A5C34"/>
          </a:solidFill>
          <a:ln w="254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498080" y="1508760"/>
            <a:ext cx="1097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30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498080" y="2176272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E8B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[2]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080760" y="251460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52B788"/>
                </a:solidFill>
              </a:rPr>
              <a:t>▼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5029200" y="2926080"/>
            <a:ext cx="384048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029200" y="292608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D2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 each item )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029200" y="3657600"/>
            <a:ext cx="3840480" cy="548640"/>
          </a:xfrm>
          <a:prstGeom prst="rect">
            <a:avLst/>
          </a:prstGeom>
          <a:solidFill>
            <a:srgbClr val="0A1F1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0" y="365760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Output:  10    20    30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1  —  Student Marks Calculator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274320" y="100584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5029200" cy="3520440"/>
          </a:xfrm>
          <a:prstGeom prst="rect">
            <a:avLst/>
          </a:prstGeom>
          <a:solidFill>
            <a:srgbClr val="0A1F1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44752"/>
            <a:ext cx="4846320" cy="3383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marks = [85, 92, 78, 95, 88];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total = 0;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(let mark of marks)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total += mark;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average = total / marks.length;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highest = Math.max(...marks);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lowest  = Math.min(...marks);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console.log("Total:",   total);   // 438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console.log("Average:", average); // 87.6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console.log("Highest:", highest); // 95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console.log("Lowest:",  lowest);  // 78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577840" y="10058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577840" y="1417320"/>
            <a:ext cx="3383280" cy="713232"/>
          </a:xfrm>
          <a:prstGeom prst="rect">
            <a:avLst/>
          </a:prstGeom>
          <a:solidFill>
            <a:srgbClr val="1A5C34"/>
          </a:solidFill>
          <a:ln w="254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715000" y="1417320"/>
            <a:ext cx="1371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132320" y="1417320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438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5577840" y="2286000"/>
            <a:ext cx="3383280" cy="713232"/>
          </a:xfrm>
          <a:prstGeom prst="rect">
            <a:avLst/>
          </a:prstGeom>
          <a:solidFill>
            <a:srgbClr val="1A5C34"/>
          </a:solidFill>
          <a:ln w="25400">
            <a:solidFill>
              <a:srgbClr val="F9E0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715000" y="2286000"/>
            <a:ext cx="1371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Average: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132320" y="2286000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9E0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87.6</a:t>
            </a:r>
            <a:endParaRPr lang="en-US" sz="2600" dirty="0"/>
          </a:p>
        </p:txBody>
      </p:sp>
      <p:sp>
        <p:nvSpPr>
          <p:cNvPr id="14" name="Shape 12"/>
          <p:cNvSpPr/>
          <p:nvPr/>
        </p:nvSpPr>
        <p:spPr>
          <a:xfrm>
            <a:off x="5577840" y="3154680"/>
            <a:ext cx="3383280" cy="713232"/>
          </a:xfrm>
          <a:prstGeom prst="rect">
            <a:avLst/>
          </a:prstGeom>
          <a:solidFill>
            <a:srgbClr val="1A5C34"/>
          </a:solidFill>
          <a:ln w="25400">
            <a:solidFill>
              <a:srgbClr val="7ED95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715000" y="3154680"/>
            <a:ext cx="1371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Highest: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132320" y="3154680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7ED9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95</a:t>
            </a:r>
            <a:endParaRPr lang="en-US" sz="2600" dirty="0"/>
          </a:p>
        </p:txBody>
      </p:sp>
      <p:sp>
        <p:nvSpPr>
          <p:cNvPr id="17" name="Shape 15"/>
          <p:cNvSpPr/>
          <p:nvPr/>
        </p:nvSpPr>
        <p:spPr>
          <a:xfrm>
            <a:off x="5577840" y="4023360"/>
            <a:ext cx="3383280" cy="713232"/>
          </a:xfrm>
          <a:prstGeom prst="rect">
            <a:avLst/>
          </a:prstGeom>
          <a:solidFill>
            <a:srgbClr val="1A5C34"/>
          </a:solidFill>
          <a:ln w="254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715000" y="4023360"/>
            <a:ext cx="1371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Lowest: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32320" y="4023360"/>
            <a:ext cx="173736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78</a:t>
            </a:r>
            <a:endParaRPr lang="en-US" sz="2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5C34"/>
          </a:solidFill>
          <a:ln w="12700">
            <a:solidFill>
              <a:srgbClr val="1A5C3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2  —  Shopping Cart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5029200" cy="3886200"/>
          </a:xfrm>
          <a:prstGeom prst="rect">
            <a:avLst/>
          </a:prstGeom>
          <a:solidFill>
            <a:srgbClr val="0A1F1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78992"/>
            <a:ext cx="484632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cart = ["Laptop","Mouse","Keyboard"];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Add item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cart.push("Monitor");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["Laptop","Mouse","Keyboard","Monitor"]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Remove last item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cart.pop();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["Laptop","Mouse","Keyboard"]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Check if item exists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(cart.includes("Mouse"))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console.log("Mouse is in cart!");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Display all items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cart.forEach((item, i) =&gt; 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console.log((i+1) + ". " + item);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});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577840" y="10058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Items: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577840" y="1417320"/>
            <a:ext cx="338328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669280" y="1417320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Laptop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577840" y="2075688"/>
            <a:ext cx="338328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669280" y="2075688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Mouse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577840" y="2734056"/>
            <a:ext cx="338328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69280" y="2734056"/>
            <a:ext cx="32004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Keyboard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577840" y="342900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577840" y="3749040"/>
            <a:ext cx="3383280" cy="1051560"/>
          </a:xfrm>
          <a:prstGeom prst="rect">
            <a:avLst/>
          </a:prstGeom>
          <a:solidFill>
            <a:srgbClr val="0A1F1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0" y="379476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Mouse is in cart!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Laptop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Mouse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Keyboard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3  —  filter(), map() &amp; reduce()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5303520" cy="3886200"/>
          </a:xfrm>
          <a:prstGeom prst="rect">
            <a:avLst/>
          </a:prstGeom>
          <a:solidFill>
            <a:srgbClr val="0A1F12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078992"/>
            <a:ext cx="5120640" cy="3749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numbers = [3,7,12,5,20,8,15,2];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Only EVEN numbers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evens = numbers.filter(n =&gt; n%2===0);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console.log(evens);   // [12,20,8,2]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DOUBLE every number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doubled = numbers.map(n =&gt; n*2);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console.log(doubled); // [6,14,24,10,40,16,30,4]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Numbers GREATER than 10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big = numbers.filter(n =&gt; n&gt;10);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console.log(big);     // [12,20,15]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SUM all with reduce()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sum = numbers.reduce((acc,n)=&gt;acc+n, 0);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8F0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console.log(sum);     // 72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852160" y="100584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 Breakdown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669280" y="1481328"/>
            <a:ext cx="3291840" cy="1051560"/>
          </a:xfrm>
          <a:prstGeom prst="rect">
            <a:avLst/>
          </a:prstGeom>
          <a:solidFill>
            <a:srgbClr val="1A5C34"/>
          </a:solidFill>
          <a:ln w="254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60720" y="155448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.filter()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760720" y="198424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only elements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pass the test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0" y="2670048"/>
            <a:ext cx="3291840" cy="1051560"/>
          </a:xfrm>
          <a:prstGeom prst="rect">
            <a:avLst/>
          </a:prstGeom>
          <a:solidFill>
            <a:srgbClr val="1A5C34"/>
          </a:solidFill>
          <a:ln w="25400">
            <a:solidFill>
              <a:srgbClr val="F9E04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0" y="274320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9E04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.map()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760720" y="317296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every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 into new value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669280" y="3858768"/>
            <a:ext cx="3291840" cy="1051560"/>
          </a:xfrm>
          <a:prstGeom prst="rect">
            <a:avLst/>
          </a:prstGeom>
          <a:solidFill>
            <a:srgbClr val="1A5C34"/>
          </a:solidFill>
          <a:ln w="254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760720" y="393192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.reduce()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760720" y="4361688"/>
            <a:ext cx="3108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Boils array down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 single value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8F3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2B1A"/>
          </a:solidFill>
          <a:ln w="12700">
            <a:solidFill>
              <a:srgbClr val="0D2B1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Reference  —  Cheat Sheet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82880" y="1005840"/>
            <a:ext cx="2103120" cy="347472"/>
          </a:xfrm>
          <a:prstGeom prst="rect">
            <a:avLst/>
          </a:prstGeom>
          <a:solidFill>
            <a:srgbClr val="2E8B57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00584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308860" y="1005840"/>
            <a:ext cx="2926080" cy="347472"/>
          </a:xfrm>
          <a:prstGeom prst="rect">
            <a:avLst/>
          </a:prstGeom>
          <a:solidFill>
            <a:srgbClr val="2E8B57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308860" y="100584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Syntax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257800" y="1005840"/>
            <a:ext cx="3840480" cy="347472"/>
          </a:xfrm>
          <a:prstGeom prst="rect">
            <a:avLst/>
          </a:prstGeom>
          <a:solidFill>
            <a:srgbClr val="2E8B57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257800" y="100584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82880" y="1380744"/>
            <a:ext cx="2103120" cy="347472"/>
          </a:xfrm>
          <a:prstGeom prst="rect">
            <a:avLst/>
          </a:prstGeom>
          <a:solidFill>
            <a:srgbClr val="E8F7EE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2880" y="138074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array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08860" y="1380744"/>
            <a:ext cx="2926080" cy="347472"/>
          </a:xfrm>
          <a:prstGeom prst="rect">
            <a:avLst/>
          </a:prstGeom>
          <a:solidFill>
            <a:srgbClr val="E8F7EE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08860" y="138074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5C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a = [...]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257800" y="1380744"/>
            <a:ext cx="3840480" cy="347472"/>
          </a:xfrm>
          <a:prstGeom prst="rect">
            <a:avLst/>
          </a:prstGeom>
          <a:solidFill>
            <a:srgbClr val="E8F7EE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57800" y="138074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let a = [1,2,3]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" y="1755648"/>
            <a:ext cx="2103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82880" y="175564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element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308860" y="1755648"/>
            <a:ext cx="2926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308860" y="175564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5C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a[index]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257800" y="1755648"/>
            <a:ext cx="3840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57800" y="175564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a[0]  →  1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82880" y="2130552"/>
            <a:ext cx="2103120" cy="347472"/>
          </a:xfrm>
          <a:prstGeom prst="rect">
            <a:avLst/>
          </a:prstGeom>
          <a:solidFill>
            <a:srgbClr val="E8F7EE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82880" y="213055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Array length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308860" y="2130552"/>
            <a:ext cx="2926080" cy="347472"/>
          </a:xfrm>
          <a:prstGeom prst="rect">
            <a:avLst/>
          </a:prstGeom>
          <a:solidFill>
            <a:srgbClr val="E8F7EE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308860" y="213055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5C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a.length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257800" y="2130552"/>
            <a:ext cx="3840480" cy="347472"/>
          </a:xfrm>
          <a:prstGeom prst="rect">
            <a:avLst/>
          </a:prstGeom>
          <a:solidFill>
            <a:srgbClr val="E8F7EE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257800" y="213055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a.length  →  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182880" y="2505456"/>
            <a:ext cx="2103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82880" y="250545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end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2308860" y="2505456"/>
            <a:ext cx="2926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308860" y="250545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5C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a.push(val)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257800" y="2505456"/>
            <a:ext cx="3840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57800" y="250545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a.push(4)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2880" y="2880360"/>
            <a:ext cx="2103120" cy="347472"/>
          </a:xfrm>
          <a:prstGeom prst="rect">
            <a:avLst/>
          </a:prstGeom>
          <a:solidFill>
            <a:srgbClr val="E8F7EE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82880" y="288036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from end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308860" y="2880360"/>
            <a:ext cx="2926080" cy="347472"/>
          </a:xfrm>
          <a:prstGeom prst="rect">
            <a:avLst/>
          </a:prstGeom>
          <a:solidFill>
            <a:srgbClr val="E8F7EE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308860" y="288036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5C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a.pop()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5257800" y="2880360"/>
            <a:ext cx="3840480" cy="347472"/>
          </a:xfrm>
          <a:prstGeom prst="rect">
            <a:avLst/>
          </a:prstGeom>
          <a:solidFill>
            <a:srgbClr val="E8F7EE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257800" y="288036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a.pop()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182880" y="3255264"/>
            <a:ext cx="2103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82880" y="3255264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start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2308860" y="3255264"/>
            <a:ext cx="2926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08860" y="3255264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5C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a.unshift(val)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5257800" y="3255264"/>
            <a:ext cx="3840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257800" y="3255264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a.unshift(0)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182880" y="3630168"/>
            <a:ext cx="2103120" cy="347472"/>
          </a:xfrm>
          <a:prstGeom prst="rect">
            <a:avLst/>
          </a:prstGeom>
          <a:solidFill>
            <a:srgbClr val="E8F7EE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82880" y="3630168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exists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308860" y="3630168"/>
            <a:ext cx="2926080" cy="347472"/>
          </a:xfrm>
          <a:prstGeom prst="rect">
            <a:avLst/>
          </a:prstGeom>
          <a:solidFill>
            <a:srgbClr val="E8F7EE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308860" y="3630168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5C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a.includes(val)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257800" y="3630168"/>
            <a:ext cx="3840480" cy="347472"/>
          </a:xfrm>
          <a:prstGeom prst="rect">
            <a:avLst/>
          </a:prstGeom>
          <a:solidFill>
            <a:srgbClr val="E8F7EE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57800" y="363016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a.includes(2)  →  true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182880" y="4005072"/>
            <a:ext cx="2103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82880" y="4005072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all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2308860" y="4005072"/>
            <a:ext cx="2926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308860" y="4005072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5C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a.map(fn)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5257800" y="4005072"/>
            <a:ext cx="3840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257800" y="400507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a.map(n =&gt; n*2)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182880" y="4379976"/>
            <a:ext cx="2103120" cy="347472"/>
          </a:xfrm>
          <a:prstGeom prst="rect">
            <a:avLst/>
          </a:prstGeom>
          <a:solidFill>
            <a:srgbClr val="E8F7EE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82880" y="4379976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2308860" y="4379976"/>
            <a:ext cx="2926080" cy="347472"/>
          </a:xfrm>
          <a:prstGeom prst="rect">
            <a:avLst/>
          </a:prstGeom>
          <a:solidFill>
            <a:srgbClr val="E8F7EE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308860" y="4379976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5C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a.filter(fn)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5257800" y="4379976"/>
            <a:ext cx="3840480" cy="347472"/>
          </a:xfrm>
          <a:prstGeom prst="rect">
            <a:avLst/>
          </a:prstGeom>
          <a:solidFill>
            <a:srgbClr val="E8F7EE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257800" y="4379976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a.filter(n =&gt; n&gt;2)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182880" y="4754880"/>
            <a:ext cx="210312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82880" y="4754880"/>
            <a:ext cx="2103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B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Sum/reduce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2308860" y="4754880"/>
            <a:ext cx="29260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308860" y="4754880"/>
            <a:ext cx="29260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5C3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a.reduce(fn, init)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5257800" y="4754880"/>
            <a:ext cx="384048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257800" y="4754880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2B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a.reduce((s,n)=&gt;s+n, 0)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2B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914400"/>
            <a:ext cx="5486400" cy="5486400"/>
          </a:xfrm>
          <a:prstGeom prst="ellipse">
            <a:avLst/>
          </a:prstGeom>
          <a:solidFill>
            <a:srgbClr val="1A5C34"/>
          </a:solidFill>
          <a:ln w="12700">
            <a:solidFill>
              <a:srgbClr val="1A5C3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0" y="3200400"/>
            <a:ext cx="4572000" cy="4572000"/>
          </a:xfrm>
          <a:prstGeom prst="ellipse">
            <a:avLst/>
          </a:prstGeom>
          <a:solidFill>
            <a:srgbClr val="1A5C34"/>
          </a:solidFill>
          <a:ln w="12700">
            <a:solidFill>
              <a:srgbClr val="1A5C3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365760"/>
            <a:ext cx="4572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0" b="1" dirty="0">
                <a:solidFill>
                  <a:srgbClr val="52B788">
                    <a:alpha val="80000"/>
                  </a:srgbClr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 ]</a:t>
            </a:r>
            <a:endParaRPr lang="en-US" sz="90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know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9659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Arrays!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What arrays are
</a:t>
            </a:r>
            <a:pPr indent="0" marL="0">
              <a:buNone/>
            </a:pPr>
            <a:r>
              <a:rPr lang="en-US" sz="14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Syntax &amp; how to access elements
</a:t>
            </a:r>
            <a:pPr indent="0" marL="0">
              <a:buNone/>
            </a:pPr>
            <a:r>
              <a:rPr lang="en-US" sz="14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Why arrays are useful
</a:t>
            </a:r>
            <a:pPr indent="0" marL="0">
              <a:buNone/>
            </a:pPr>
            <a:r>
              <a:rPr lang="en-US" sz="14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Methods: push, pop, map, filter, reduce
</a:t>
            </a:r>
            <a:pPr indent="0" marL="0">
              <a:buNone/>
            </a:pPr>
            <a:r>
              <a:rPr lang="en-US" sz="1400" dirty="0">
                <a:solidFill>
                  <a:srgbClr val="D8F3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3 real-world code examples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2B788"/>
                </a:solidFill>
              </a:rPr>
              <a:t>Keep Coding  🚀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Arrays</dc:title>
  <dc:subject>PptxGenJS Presentation</dc:subject>
  <dc:creator>PptxGenJS</dc:creator>
  <cp:lastModifiedBy>PptxGenJS</cp:lastModifiedBy>
  <cp:revision>1</cp:revision>
  <dcterms:created xsi:type="dcterms:W3CDTF">2026-03-30T15:36:15Z</dcterms:created>
  <dcterms:modified xsi:type="dcterms:W3CDTF">2026-03-30T15:36:15Z</dcterms:modified>
</cp:coreProperties>
</file>