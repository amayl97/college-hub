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5E20">
              <a:alpha val="60000"/>
            </a:srgbClr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132B18">
              <a:alpha val="7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6858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LANGUAGE COMPARISON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286000" cy="47548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7" name="Text 5"/>
          <p:cNvSpPr/>
          <p:nvPr/>
        </p:nvSpPr>
        <p:spPr>
          <a:xfrm>
            <a:off x="365760" y="109728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88920" y="1115568"/>
            <a:ext cx="822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03320" y="1097280"/>
            <a:ext cx="2011680" cy="475488"/>
          </a:xfrm>
          <a:prstGeom prst="rect">
            <a:avLst/>
          </a:prstGeom>
          <a:solidFill>
            <a:srgbClr val="388E3C"/>
          </a:solidFill>
        </p:spPr>
      </p:sp>
      <p:sp>
        <p:nvSpPr>
          <p:cNvPr id="10" name="Text 8"/>
          <p:cNvSpPr/>
          <p:nvPr/>
        </p:nvSpPr>
        <p:spPr>
          <a:xfrm>
            <a:off x="3703320" y="1097280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Side-by-Side Code Comparison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2011680" cy="402336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13" name="Text 11"/>
          <p:cNvSpPr/>
          <p:nvPr/>
        </p:nvSpPr>
        <p:spPr>
          <a:xfrm>
            <a:off x="365760" y="2514600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514600"/>
            <a:ext cx="2011680" cy="402336"/>
          </a:xfrm>
          <a:prstGeom prst="rect">
            <a:avLst/>
          </a:prstGeom>
          <a:solidFill>
            <a:srgbClr val="1A4D1F"/>
          </a:solidFill>
        </p:spPr>
      </p:sp>
      <p:sp>
        <p:nvSpPr>
          <p:cNvPr id="15" name="Text 13"/>
          <p:cNvSpPr/>
          <p:nvPr/>
        </p:nvSpPr>
        <p:spPr>
          <a:xfrm>
            <a:off x="2514600" y="2514600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2011680" cy="402336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17" name="Text 15"/>
          <p:cNvSpPr/>
          <p:nvPr/>
        </p:nvSpPr>
        <p:spPr>
          <a:xfrm>
            <a:off x="4663440" y="2514600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/ else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2514600"/>
            <a:ext cx="2011680" cy="402336"/>
          </a:xfrm>
          <a:prstGeom prst="rect">
            <a:avLst/>
          </a:prstGeom>
          <a:solidFill>
            <a:srgbClr val="1A4D1F"/>
          </a:solidFill>
        </p:spPr>
      </p:sp>
      <p:sp>
        <p:nvSpPr>
          <p:cNvPr id="19" name="Text 17"/>
          <p:cNvSpPr/>
          <p:nvPr/>
        </p:nvSpPr>
        <p:spPr>
          <a:xfrm>
            <a:off x="6812280" y="2514600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2011680" cy="402336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21" name="Text 19"/>
          <p:cNvSpPr/>
          <p:nvPr/>
        </p:nvSpPr>
        <p:spPr>
          <a:xfrm>
            <a:off x="365760" y="3044952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3044952"/>
            <a:ext cx="2011680" cy="402336"/>
          </a:xfrm>
          <a:prstGeom prst="rect">
            <a:avLst/>
          </a:prstGeom>
          <a:solidFill>
            <a:srgbClr val="1A4D1F"/>
          </a:solidFill>
        </p:spPr>
      </p:sp>
      <p:sp>
        <p:nvSpPr>
          <p:cNvPr id="23" name="Text 21"/>
          <p:cNvSpPr/>
          <p:nvPr/>
        </p:nvSpPr>
        <p:spPr>
          <a:xfrm>
            <a:off x="2514600" y="3044952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044952"/>
            <a:ext cx="2011680" cy="402336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25" name="Text 23"/>
          <p:cNvSpPr/>
          <p:nvPr/>
        </p:nvSpPr>
        <p:spPr>
          <a:xfrm>
            <a:off x="4663440" y="3044952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3044952"/>
            <a:ext cx="2011680" cy="402336"/>
          </a:xfrm>
          <a:prstGeom prst="rect">
            <a:avLst/>
          </a:prstGeom>
          <a:solidFill>
            <a:srgbClr val="1A4D1F"/>
          </a:solidFill>
        </p:spPr>
      </p:sp>
      <p:sp>
        <p:nvSpPr>
          <p:cNvPr id="27" name="Text 25"/>
          <p:cNvSpPr/>
          <p:nvPr/>
        </p:nvSpPr>
        <p:spPr>
          <a:xfrm>
            <a:off x="6812280" y="3044952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8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 • Types • Control Flow • Functions • Collections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Primitive types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 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"Alice"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price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9.99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active =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nothing =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          // </a:t>
            </a: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undefined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Dynamic typing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 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"now a string"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typeof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   //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"string"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typeof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    //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"number"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Strongly typed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 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"Alice"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price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9.99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active =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object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nothing =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var = type inferred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42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val = 42 stays int!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Nullable types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int?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GetType()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name.GetType()  //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age.GetType()   //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Int32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Arithmetic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+ 3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10 - 4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* 4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 / 2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9 % 2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** 3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  </a:t>
            </a: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(power)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Comparison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==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"5"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 </a:t>
            </a: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(loose)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===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"5"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//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 </a:t>
            </a: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(strict)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!== 6   //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Logical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//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//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//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Arithmetic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+ 3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10 - 4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* 4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 / 2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  </a:t>
            </a: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(int!)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9 % 2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Math.Pow(2,3)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Comparison (strict always)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== 5    //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==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"5"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!= 6    //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Logical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&amp;&amp;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//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||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//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!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//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false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Conditions — if / else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75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(score &gt;= 90)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else if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(score &gt;= 75)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else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Ternary operator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 = score &gt;= 50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?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"Pass"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"Fail"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Nullish coalescing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val = x ??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"default"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75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(score &gt;= 90)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if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(score &gt;= 75)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"B"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Ternary operator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 = score &gt;= 50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?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"Pass"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: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"Fail"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Null-coalescing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val = x ??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"default"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day 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"Mon"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(day) {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"Mon"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"Weekday"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break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"Sat"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"Sun"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"Weekend"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break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"Unknown"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day 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"Mon"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switch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(day) {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"Mon"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"Weekday"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break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"Sat"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"Sun"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"Weekend"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break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default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"Unknown"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 loop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i=0; i&lt;3;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console.log(i);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while loop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(n &lt; 3) { n++;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for...of (iterate values)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fruits = [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"apple"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"mango"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fruits)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console.log(f);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forEach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fruits.forEach(f =&gt; console.log(f));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 loop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i=0; i&lt;3;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Console.WriteLine(i);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while loop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(n &lt; 3) { n++;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foreach (iterate values)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[] fruits = {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"apple"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"mango"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foreach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fruits)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Console.WriteLine(f);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do...while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n++; }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(n &lt; 5);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Declaration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add(a, b)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+ b;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Arrow function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multiply = (a, b) =&gt; a * b;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Default parameter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greet = (name 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"World"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`Hello ${name}`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Rest parameters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 = (...nums)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nums.reduce((a, b) =&gt; a + b,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Calling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greet();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Method (in class or static)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a,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+ b;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Lambda expression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Func&lt;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multiply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= (a, b) =&gt; a * b;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Default parameter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Greet(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 = 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"World"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$"Hello {name}"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Calling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Greet();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Declare &amp; initialize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 = [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 &amp; length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nums[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     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nums.length  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Add / Remove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nums.push(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  // add 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nums.pop();        // remove 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nums.unshift(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// add start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Iteration methods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nums.map(n =&gt; n *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nums.filter(n =&gt; n &gt;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nums.find(n =&gt; n ===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nums.includes(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//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Fixed array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[] nums = {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 &amp; length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nums[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     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nums.Length    //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Dynamic: List&lt;T&gt;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List&lt;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list = new() {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list.Add(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     // add 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list.Remove(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  // remove val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list.Insert(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// add start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LINQ methods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list.Select(n =&gt; n *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list.Where(n =&gt; n &gt;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list.Contains(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   //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274320" y="109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-76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Complete Program — Hello World + Sum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7" name="Shape 5"/>
          <p:cNvSpPr/>
          <p:nvPr/>
        </p:nvSpPr>
        <p:spPr>
          <a:xfrm>
            <a:off x="256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4315968" cy="36576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9" name="Shape 7"/>
          <p:cNvSpPr/>
          <p:nvPr/>
        </p:nvSpPr>
        <p:spPr>
          <a:xfrm>
            <a:off x="393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Shape 8"/>
          <p:cNvSpPr/>
          <p:nvPr/>
        </p:nvSpPr>
        <p:spPr>
          <a:xfrm>
            <a:off x="594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1" name="Shape 9"/>
          <p:cNvSpPr/>
          <p:nvPr/>
        </p:nvSpPr>
        <p:spPr>
          <a:xfrm>
            <a:off x="795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2" name="Text 10"/>
          <p:cNvSpPr/>
          <p:nvPr/>
        </p:nvSpPr>
        <p:spPr>
          <a:xfrm>
            <a:off x="804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804672"/>
            <a:ext cx="4315968" cy="4224528"/>
          </a:xfrm>
          <a:prstGeom prst="rect">
            <a:avLst/>
          </a:prstGeom>
          <a:solidFill>
            <a:srgbClr val="132B18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804672"/>
            <a:ext cx="4315968" cy="3657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5" name="Shape 13"/>
          <p:cNvSpPr/>
          <p:nvPr/>
        </p:nvSpPr>
        <p:spPr>
          <a:xfrm>
            <a:off x="4965192" y="905256"/>
            <a:ext cx="118872" cy="11887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Shape 14"/>
          <p:cNvSpPr/>
          <p:nvPr/>
        </p:nvSpPr>
        <p:spPr>
          <a:xfrm>
            <a:off x="5166360" y="905256"/>
            <a:ext cx="118872" cy="118872"/>
          </a:xfrm>
          <a:prstGeom prst="ellipse">
            <a:avLst/>
          </a:prstGeom>
          <a:solidFill>
            <a:srgbClr val="FFD93D"/>
          </a:solidFill>
        </p:spPr>
      </p:sp>
      <p:sp>
        <p:nvSpPr>
          <p:cNvPr id="17" name="Shape 15"/>
          <p:cNvSpPr/>
          <p:nvPr/>
        </p:nvSpPr>
        <p:spPr>
          <a:xfrm>
            <a:off x="5367528" y="905256"/>
            <a:ext cx="118872" cy="118872"/>
          </a:xfrm>
          <a:prstGeom prst="ellipse">
            <a:avLst/>
          </a:prstGeom>
          <a:solidFill>
            <a:srgbClr val="6BCB77"/>
          </a:solidFill>
        </p:spPr>
      </p:sp>
      <p:sp>
        <p:nvSpPr>
          <p:cNvPr id="18" name="Text 16"/>
          <p:cNvSpPr/>
          <p:nvPr/>
        </p:nvSpPr>
        <p:spPr>
          <a:xfrm>
            <a:off x="5376672" y="80467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C#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43A047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Hello World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"Hello, World!"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Sum function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function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sum(numbers)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numbers.reduce(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(acc, n) =&gt; acc + n,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 it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 = [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9F0A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= sum(nums);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`Sum: ${total}`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Sum: 15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 main() needed in Node.js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92624" y="1234440"/>
            <a:ext cx="4005072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Hello World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"Hello, World!"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Sum method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Sum(int[] numbers)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=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foreach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numbers)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total += 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 it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[] nums = { 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r>
              <a:rPr lang="en-US" sz="1050" dirty="0">
                <a:solidFill>
                  <a:srgbClr val="80DE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};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9F6C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= Sum(nums);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</a:t>
            </a:r>
            <a:r>
              <a:rPr lang="en-US" sz="1050" dirty="0">
                <a:solidFill>
                  <a:srgbClr val="FFD5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$"Sum: {total}"</a:t>
            </a: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58B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Sum: 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3A047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Reference Summary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804672"/>
          <a:ext cx="8595360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3657600"/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Topic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9F0A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JavaScript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9F6C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C#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E3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Types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Dynamic: let, const, var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Static: int, string, bool, double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 / undefined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null, Nullable&lt;T&gt; (int?)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Operators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==  loose,  === strict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== always strict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if / else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if (x) { } else if { } else { }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Same syntax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Switch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switch(x) { case: break; }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Same syntax, + pattern matching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 loop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 (let i=0; i&lt;n; i++)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 (int i=0; i&lt;n; i++)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foreach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for...of array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foreach (var x in list)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Functions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function f() / arrow =&gt;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static ReturnType Method()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Arrays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Dynamic [], push/pop, .map/.filter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int[] fixed; List&lt;T&gt; dynamic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Output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console.log()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8E6C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Console.WriteLine()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5126</Words>
  <Application>WPS Presentation</Application>
  <PresentationFormat>On-screen Show (16:9)</PresentationFormat>
  <Paragraphs>452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PMYLS</cp:lastModifiedBy>
  <cp:revision>2</cp:revision>
  <dcterms:created xsi:type="dcterms:W3CDTF">2026-04-04T14:00:00Z</dcterms:created>
  <dcterms:modified xsi:type="dcterms:W3CDTF">2026-04-07T07:17:36Z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FA777A8359CF4FC5B7A17A68BD7FDCFD_12</vt:lpwstr>
  </property>
  <property fmtid="{D5CDD505-2E9C-101B-9397-08002B2CF9AE}" pid="3" name="KSOProductBuildVer">
    <vt:lpwstr>1033-12.2.0.23196</vt:lpwstr>
  </property>
</Properties>
</file>