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97969">
              <a:alpha val="25000"/>
            </a:srgbClr>
          </a:solidFill>
          <a:ln w="12700">
            <a:solidFill>
              <a:srgbClr val="097969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5C17B">
              <a:alpha val="20000"/>
            </a:srgbClr>
          </a:solidFill>
          <a:ln w="12700">
            <a:solidFill>
              <a:srgbClr val="05C17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Programming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Delegates, Boxing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Unboxing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lecture guide to type-safe method references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value/reference type conversions in C#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463040" cy="36576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Dept  •  University Lecture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Delegate?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purpose and role in C#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6032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Delegates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Declaring, instantiating, invoking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Syntax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syntax walkthrough with examples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37160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71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481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Delegates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multiple methods together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6032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603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670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– Key Concepts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conversion, heap allocation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49040"/>
            <a:ext cx="502920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490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– Key Concepts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cast, exceptions, best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97969">
              <a:alpha val="15000"/>
            </a:srgbClr>
          </a:solidFill>
          <a:ln w="12700">
            <a:solidFill>
              <a:srgbClr val="09796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in C#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function pointers · Method references · Event handling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Delegate?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8404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5156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delegate is a type that holds a reference to a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type-safe function pointer in C#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38404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54864" cy="105156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24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Purpose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methods to be passed as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events and callbacks in .NET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38404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Key Trait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both the method AND the object instance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are objects — they derive from System.Delegate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1371600"/>
            <a:ext cx="4389120" cy="3337560"/>
          </a:xfrm>
          <a:prstGeom prst="rect">
            <a:avLst/>
          </a:prstGeom>
          <a:solidFill>
            <a:srgbClr val="0A2918"/>
          </a:solidFill>
          <a:ln w="19050">
            <a:solidFill>
              <a:srgbClr val="0979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Real-World Analogy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TV remote control.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doesn't know what will happen when you press a button — it just holds a reference to the action.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delegate works the same way: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a method reference and calls it when invoked.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Syntax &amp; Declaration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Declare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delegate type with a matching signature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68580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71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Instantiate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00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instance pointing to a compatible method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71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Invoke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1700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F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delegate like a normal method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2606040"/>
          </a:xfrm>
          <a:prstGeom prst="rect">
            <a:avLst/>
          </a:prstGeom>
          <a:solidFill>
            <a:srgbClr val="0D1F16"/>
          </a:solidFill>
          <a:ln w="19050">
            <a:solidFill>
              <a:srgbClr val="0979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0428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30428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230428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Declare a delegate type
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MathOperation(int a, int b);
</a:t>
            </a:r>
            <a:pPr indent="0" marL="0">
              <a:buNone/>
            </a:pPr>
            <a:r>
              <a:rPr lang="en-US" sz="110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A method matching the signature
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=&gt; a + b;
</a:t>
            </a:r>
            <a:pPr indent="0" marL="0">
              <a:buNone/>
            </a:pPr>
            <a:r>
              <a:rPr lang="en-US" sz="110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Instantiate the delegate
</a:t>
            </a:r>
            <a:pPr indent="0" marL="0">
              <a:buNone/>
            </a:pPr>
            <a:r>
              <a:rPr lang="en-US" sz="1100" dirty="0">
                <a:solidFill>
                  <a:srgbClr val="A8D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MathOperation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= 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MathOperation(Add);
</a:t>
            </a:r>
            <a:pPr indent="0" marL="0">
              <a:buNone/>
            </a:pPr>
            <a:r>
              <a:rPr lang="en-US" sz="110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4: Invoke it
</a:t>
            </a:r>
            <a:pPr indent="0" marL="0">
              <a:buNone/>
            </a:pPr>
            <a:r>
              <a:rPr lang="en-US" sz="110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op(10, 5);   </a:t>
            </a:r>
            <a:pPr indent="0" marL="0">
              <a:buNone/>
            </a:pPr>
            <a:r>
              <a:rPr lang="en-US" sz="110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=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Delegates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Callbacks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method as a parameter so another method can call it back when work is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468880" cy="868680"/>
          </a:xfrm>
          <a:prstGeom prst="rect">
            <a:avLst/>
          </a:prstGeom>
          <a:solidFill>
            <a:srgbClr val="0D1F16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Process(data, OnComplete);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2651760" cy="5486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Events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9339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power the entire .NET event system. Event handlers are delegate instances.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520440"/>
            <a:ext cx="2468880" cy="868680"/>
          </a:xfrm>
          <a:prstGeom prst="rect">
            <a:avLst/>
          </a:prstGeom>
          <a:solidFill>
            <a:srgbClr val="0D1F16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btn.Click += HandleClick;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5176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371600"/>
            <a:ext cx="2651760" cy="5486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Strategy 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99339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algorithms at runtime by assigning different methods to the same delegate.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520440"/>
            <a:ext cx="2468880" cy="868680"/>
          </a:xfrm>
          <a:prstGeom prst="rect">
            <a:avLst/>
          </a:prstGeom>
          <a:solidFill>
            <a:srgbClr val="0D1F16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= BubbleSort; // or QuickSort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Delegates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Multicast Delegate?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delegate that holds references to multiple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referenced methods are called in order when invoked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39319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54864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Operator — Add Methods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+= to add methods to the invocation 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method must match the delegate signature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9319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54864" cy="100584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Operator — Remove Methods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-= to remove a method from the invocation 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 method isn't there, nothing happens (no error)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371600"/>
            <a:ext cx="4389120" cy="3383280"/>
          </a:xfrm>
          <a:prstGeom prst="rect">
            <a:avLst/>
          </a:prstGeom>
          <a:solidFill>
            <a:srgbClr val="0D1F16"/>
          </a:solidFill>
          <a:ln w="19050">
            <a:solidFill>
              <a:srgbClr val="0979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48132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148132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48132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6916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void Notify(string msg);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Logger(string m) =&gt; Console.WriteLine("Log: " + m);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Emailer(string m) =&gt; Console.WriteLine("Email: " + m);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 a multicast delegate
</a:t>
            </a:r>
            <a:pPr indent="0" marL="0">
              <a:buNone/>
            </a:pPr>
            <a:r>
              <a:rPr lang="en-US" sz="1050" dirty="0">
                <a:solidFill>
                  <a:srgbClr val="A8D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chain = Logger;
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+= Emailer;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+= adds method
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chain("Alert!");  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BOTH methods
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-= Logger; 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-= removes method
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chain("Alert!");  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only Emailer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5C17B">
              <a:alpha val="12000"/>
            </a:srgbClr>
          </a:solidFill>
          <a:ln w="12700">
            <a:solidFill>
              <a:srgbClr val="05C17B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in C#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  ·  Value type → Reference type  ·  Heap allocation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– Key Points &amp; Syntax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What is Boxing?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value type (int, bool…) to object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CLR allocates heap memory and copies the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is implicit — no cast operator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object wrapper is created on the managed heap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Performance Note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boxing operation allocates heap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 tight loops; use generics instead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371600"/>
            <a:ext cx="4480560" cy="3383280"/>
          </a:xfrm>
          <a:prstGeom prst="rect">
            <a:avLst/>
          </a:prstGeom>
          <a:solidFill>
            <a:srgbClr val="0D1F16"/>
          </a:solidFill>
          <a:ln w="19050">
            <a:solidFill>
              <a:srgbClr val="0979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48132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48132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28616" y="148132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6916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BOXING EXAMPLES ──────────────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Basic boxing (implicit)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= 42;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boxed = num;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 box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Boxing into interface
</a:t>
            </a:r>
            <a:pPr indent="0" marL="0">
              <a:buNone/>
            </a:pPr>
            <a:r>
              <a:rPr lang="en-US" sz="1050" dirty="0">
                <a:solidFill>
                  <a:srgbClr val="A8D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IComparable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ic = 100; 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boxes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ArrayList (legacy) – boxes every item
</a:t>
            </a:r>
            <a:pPr indent="0" marL="0">
              <a:buNone/>
            </a:pPr>
            <a:r>
              <a:rPr lang="en-US" sz="1050" dirty="0">
                <a:solidFill>
                  <a:srgbClr val="A8D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= 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ArrayList();
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list.Add(7);         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 is boxed here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097969">
              <a:alpha val="20000"/>
            </a:srgbClr>
          </a:solidFill>
          <a:ln w="12700">
            <a:solidFill>
              <a:srgbClr val="097969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in C#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  ·  Reference type → Value type  ·  InvalidCastException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– Key Points &amp; Syntax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What is Unboxing?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 value type from an object reference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boxing — requires an explicit 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checks that the object contains the correct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copied from the heap back to the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37490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4864" cy="960120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Exception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the wrong type throws InvalidCastException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ensure the boxed type matches the target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371600"/>
            <a:ext cx="4480560" cy="3383280"/>
          </a:xfrm>
          <a:prstGeom prst="rect">
            <a:avLst/>
          </a:prstGeom>
          <a:solidFill>
            <a:srgbClr val="0D1F16"/>
          </a:solidFill>
          <a:ln w="19050">
            <a:solidFill>
              <a:srgbClr val="0979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48132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48132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28616" y="148132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6916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UNBOXING EXAMPLES ────────────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Box first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original = 99;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boxed = original;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Unbox (explicit cast required)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unboxed = (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)boxed;     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safe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Wrong cast → runtime exception!
</a:t>
            </a:r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d = (double)boxed;  ← THROWS
</a:t>
            </a:r>
            <a:pPr indent="0" marL="0">
              <a:buNone/>
            </a:pPr>
            <a:r>
              <a:rPr lang="en-US" sz="1050" dirty="0">
                <a:solidFill>
                  <a:srgbClr val="6BA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Safe unboxing pattern
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(boxed 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b="1" dirty="0">
                <a:solidFill>
                  <a:srgbClr val="097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Console.WriteLine(val);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05C17B"/>
          </a:solidFill>
          <a:ln w="12700">
            <a:solidFill>
              <a:srgbClr val="05C1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vs Unboxing — Quick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27432"/>
          </a:xfrm>
          <a:prstGeom prst="rect">
            <a:avLst/>
          </a:prstGeom>
          <a:solidFill>
            <a:srgbClr val="097969"/>
          </a:solidFill>
          <a:ln w="12700">
            <a:solidFill>
              <a:srgbClr val="09796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3474720"/>
              </a:tblGrid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69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→ Reference (object)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(object) →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implicit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explicit cast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allocation occurs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allocation (copy back)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throws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InvalidCastException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+ type-check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generics List&lt;T&gt; 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match original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97969">
              <a:alpha val="18000"/>
            </a:srgbClr>
          </a:solidFill>
          <a:ln w="12700">
            <a:solidFill>
              <a:srgbClr val="097969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5C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979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371600" cy="566928"/>
          </a:xfrm>
          <a:prstGeom prst="rect">
            <a:avLst/>
          </a:prstGeom>
          <a:solidFill>
            <a:srgbClr val="097969">
              <a:alpha val="80000"/>
            </a:srgbClr>
          </a:solidFill>
          <a:ln w="12700">
            <a:solidFill>
              <a:srgbClr val="097969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Delegates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71907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method references; declared with delegate keyword; invoked like methods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82296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979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0008"/>
            <a:ext cx="1371600" cy="566928"/>
          </a:xfrm>
          <a:prstGeom prst="rect">
            <a:avLst/>
          </a:prstGeom>
          <a:solidFill>
            <a:srgbClr val="097969">
              <a:alpha val="80000"/>
            </a:srgbClr>
          </a:solidFill>
          <a:ln w="12700">
            <a:solidFill>
              <a:srgbClr val="097969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00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Usage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77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Callbacks, events, strategy patterns; assigned with = ; invoked with 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82296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979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08376"/>
            <a:ext cx="1371600" cy="566928"/>
          </a:xfrm>
          <a:prstGeom prst="rect">
            <a:avLst/>
          </a:prstGeom>
          <a:solidFill>
            <a:srgbClr val="097969">
              <a:alpha val="80000"/>
            </a:srgbClr>
          </a:solidFill>
          <a:ln w="12700">
            <a:solidFill>
              <a:srgbClr val="097969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083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Multicast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03580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multiple methods using += ; remove with -= ; all called in order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82296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979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66744"/>
            <a:ext cx="1371600" cy="566928"/>
          </a:xfrm>
          <a:prstGeom prst="rect">
            <a:avLst/>
          </a:prstGeom>
          <a:solidFill>
            <a:srgbClr val="097969">
              <a:alpha val="80000"/>
            </a:srgbClr>
          </a:solidFill>
          <a:ln w="12700">
            <a:solidFill>
              <a:srgbClr val="097969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667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Boxing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69417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int→object conversion; heap-allocates; avoid in performance-critical code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82296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0979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25112"/>
            <a:ext cx="1371600" cy="566928"/>
          </a:xfrm>
          <a:prstGeom prst="rect">
            <a:avLst/>
          </a:prstGeom>
          <a:solidFill>
            <a:srgbClr val="097969">
              <a:alpha val="80000"/>
            </a:srgbClr>
          </a:solidFill>
          <a:ln w="12700">
            <a:solidFill>
              <a:srgbClr val="097969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251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Unboxing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352544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(int)obj cast; use 'is' pattern for safety; mismatched type throws exception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Delegates, Boxing &amp; Unboxing</dc:title>
  <dc:subject>PptxGenJS Presentation</dc:subject>
  <dc:creator>PptxGenJS</dc:creator>
  <cp:lastModifiedBy>PptxGenJS</cp:lastModifiedBy>
  <cp:revision>1</cp:revision>
  <dcterms:created xsi:type="dcterms:W3CDTF">2026-04-27T06:35:27Z</dcterms:created>
  <dcterms:modified xsi:type="dcterms:W3CDTF">2026-04-27T06:35:27Z</dcterms:modified>
</cp:coreProperties>
</file>