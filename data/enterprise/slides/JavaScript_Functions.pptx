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365760"/>
            <a:ext cx="2286000" cy="2286000"/>
          </a:xfrm>
          <a:prstGeom prst="ellipse">
            <a:avLst/>
          </a:prstGeom>
          <a:solidFill>
            <a:srgbClr val="40916C">
              <a:alpha val="50000"/>
            </a:srgbClr>
          </a:solidFill>
          <a:ln w="12700">
            <a:solidFill>
              <a:srgbClr val="40916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23774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2B788">
                    <a:alpha val="30000"/>
                  </a:srgbClr>
                </a:solidFill>
              </a:rPr>
              <a:t>{ }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Usage, Syntax, Flow &amp; Examples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JavaScript Concepts  |  Web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Function?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2651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reusable block of code that performs a specific task. It runs only when it is called, and can accept inputs (parameters) and return an output (return value).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80560" y="1051560"/>
            <a:ext cx="438912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Functions?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1572768"/>
            <a:ext cx="4160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 Reusability — write once, use many times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Modularity — break code into small pieces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Easier Debugging — isolate and fix issues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Readability — clean, self-documenting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Efficiency — avoids code repetition (DRY)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66344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the building blocks of every JavaScript program.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Syntax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2834640" cy="43891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78992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490472"/>
            <a:ext cx="2834640" cy="237744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" y="1572768"/>
            <a:ext cx="261518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'Hello, ' + name;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it: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greet('Alice');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834640" cy="43891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078992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Expression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490472"/>
            <a:ext cx="2834640" cy="237744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572768"/>
            <a:ext cx="261518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greet = function(name)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'Hello, ' + name;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it: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greet('Bob');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051560"/>
            <a:ext cx="2834640" cy="43891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078992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 (ES6)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490472"/>
            <a:ext cx="2834640" cy="237744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73368" y="1572768"/>
            <a:ext cx="261518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greet = (name)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'Hello, ' + name;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 form: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greet = name =&gt; 'Hello, ' + name;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977640"/>
            <a:ext cx="8686800" cy="658368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00507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keyword    </a:t>
            </a:r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identifier    </a:t>
            </a:r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(params)</a:t>
            </a:r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inputs    </a:t>
            </a:r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body }</a:t>
            </a:r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logic block    </a:t>
            </a:r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pPr algn="ctr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 value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66344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styles create functions — choose based on context and readability.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Functions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48640" cy="5486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87552" y="1051560"/>
            <a:ext cx="7863840" cy="64008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0881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Define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08813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function with a name, parameters, and body logic.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" y="1691640"/>
            <a:ext cx="146304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47088"/>
            <a:ext cx="548640" cy="5486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7552" y="1801368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183794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Call / Invoke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183794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function name followed by () to execute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" y="2441448"/>
            <a:ext cx="146304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96896"/>
            <a:ext cx="548640" cy="5486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968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7552" y="2551176"/>
            <a:ext cx="7863840" cy="64008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258775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Pass Arguments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91840" y="258775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values for the parameters when calling.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" y="3191256"/>
            <a:ext cx="146304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46704"/>
            <a:ext cx="548640" cy="5486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346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7552" y="3300984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333756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Execute Body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333756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runs each statement inside { } in order.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" y="3941064"/>
            <a:ext cx="146304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096512"/>
            <a:ext cx="548640" cy="5486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87552" y="4050792"/>
            <a:ext cx="7863840" cy="64008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408736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Return Value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291840" y="408736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statement sends a value back to the caller.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6344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pause program execution until they return — this is called the Call Stack.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Flow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920240"/>
            <a:ext cx="1371600" cy="777240"/>
          </a:xfrm>
          <a:prstGeom prst="ellipse">
            <a:avLst/>
          </a:prstGeom>
          <a:solidFill>
            <a:srgbClr val="40916C"/>
          </a:solidFill>
          <a:ln w="1905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920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74520" y="1920240"/>
            <a:ext cx="1508760" cy="777240"/>
          </a:xfrm>
          <a:prstGeom prst="rect">
            <a:avLst/>
          </a:prstGeom>
          <a:solidFill>
            <a:srgbClr val="52B788"/>
          </a:solidFill>
          <a:ln w="19050">
            <a:solidFill>
              <a:srgbClr val="B7E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9202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0" y="1920240"/>
            <a:ext cx="1371600" cy="777240"/>
          </a:xfrm>
          <a:prstGeom prst="rect">
            <a:avLst/>
          </a:prstGeom>
          <a:solidFill>
            <a:srgbClr val="40916C"/>
          </a:solidFill>
          <a:ln w="19050">
            <a:solidFill>
              <a:srgbClr val="B7E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920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57800" y="1920240"/>
            <a:ext cx="1371600" cy="777240"/>
          </a:xfrm>
          <a:prstGeom prst="rect">
            <a:avLst/>
          </a:prstGeom>
          <a:solidFill>
            <a:srgbClr val="2D6A4F"/>
          </a:solidFill>
          <a:ln w="19050">
            <a:solidFill>
              <a:srgbClr val="B7E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920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0" y="1920240"/>
            <a:ext cx="1371600" cy="777240"/>
          </a:xfrm>
          <a:prstGeom prst="rect">
            <a:avLst/>
          </a:prstGeom>
          <a:solidFill>
            <a:srgbClr val="40916C"/>
          </a:solidFill>
          <a:ln w="19050">
            <a:solidFill>
              <a:srgbClr val="B7E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920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0" y="3200400"/>
            <a:ext cx="1371600" cy="777240"/>
          </a:xfrm>
          <a:prstGeom prst="rect">
            <a:avLst/>
          </a:prstGeom>
          <a:solidFill>
            <a:srgbClr val="2D6A4F"/>
          </a:solidFill>
          <a:ln w="19050">
            <a:solidFill>
              <a:srgbClr val="B7E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2004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57800" y="3200400"/>
            <a:ext cx="1371600" cy="777240"/>
          </a:xfrm>
          <a:prstGeom prst="rect">
            <a:avLst/>
          </a:prstGeom>
          <a:solidFill>
            <a:srgbClr val="40916C"/>
          </a:solidFill>
          <a:ln w="19050">
            <a:solidFill>
              <a:srgbClr val="B7E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32004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3200400"/>
            <a:ext cx="1508760" cy="777240"/>
          </a:xfrm>
          <a:prstGeom prst="rect">
            <a:avLst/>
          </a:prstGeom>
          <a:solidFill>
            <a:srgbClr val="52B788"/>
          </a:solidFill>
          <a:ln w="19050">
            <a:solidFill>
              <a:srgbClr val="B7E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20040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Again?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74520" y="3200400"/>
            <a:ext cx="1371600" cy="777240"/>
          </a:xfrm>
          <a:prstGeom prst="ellipse">
            <a:avLst/>
          </a:prstGeom>
          <a:solidFill>
            <a:srgbClr val="40916C"/>
          </a:solidFill>
          <a:ln w="19050">
            <a:solidFill>
              <a:srgbClr val="B7E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32004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600200" y="2308860"/>
            <a:ext cx="27432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2308860"/>
            <a:ext cx="27432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2308860"/>
            <a:ext cx="22860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2308860"/>
            <a:ext cx="22860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2697480"/>
            <a:ext cx="0" cy="50292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589020"/>
            <a:ext cx="-137160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3589020"/>
            <a:ext cx="-173736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3589020"/>
            <a:ext cx="-118872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4820" y="3200400"/>
            <a:ext cx="0" cy="-50292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20540" y="271576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0" y="33101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7452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8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ReferenceError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24328" y="1920240"/>
            <a:ext cx="0" cy="-137160"/>
          </a:xfrm>
          <a:prstGeom prst="line">
            <a:avLst/>
          </a:prstGeom>
          <a:noFill/>
          <a:ln w="19050">
            <a:solidFill>
              <a:srgbClr val="FF8C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66344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must be defined before it is called (for declarations) or in scope (for expressions).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Usage of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420624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91440" cy="1207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78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Function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General-purpose reusable logic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636776"/>
            <a:ext cx="3913632" cy="4572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645920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add(a, b) { return a + b; 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20624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24128"/>
            <a:ext cx="91440" cy="1207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078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Function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371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Assigned to a variable or passed as argument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3752" y="1636776"/>
            <a:ext cx="3913632" cy="4572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8616" y="1645920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mul = function(a, b) { return a * b; };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50008"/>
            <a:ext cx="420624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0008"/>
            <a:ext cx="91440" cy="1207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404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2697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Concise, ideal for callbacks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2962656"/>
            <a:ext cx="3913632" cy="4572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971800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sq = n =&gt; n * n;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350008"/>
            <a:ext cx="420624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350008"/>
            <a:ext cx="91440" cy="1207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2404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Invoked (IIFE)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2697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Runs once immediately after definition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73752" y="2962656"/>
            <a:ext cx="3913632" cy="4572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2971800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(function() { console.log('IIFE!'); })();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75888"/>
            <a:ext cx="420624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75888"/>
            <a:ext cx="91440" cy="1207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7307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Function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8912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Passed as argument, called later (async)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8912" y="4288536"/>
            <a:ext cx="3913632" cy="4572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4297680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setTimeout(() =&gt; console.log('Hi'), 1000);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75888"/>
            <a:ext cx="420624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75888"/>
            <a:ext cx="91440" cy="1207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7307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Function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73752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Accepts or returns another function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73752" y="4288536"/>
            <a:ext cx="3913632" cy="4572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28616" y="4297680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arr.map(x =&gt; x * 2);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66344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function type based on readability, scope, and use case.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Calculator Function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8686800" cy="59436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Question: Write a function that takes two numbers and an operator (+, -, *, /) and returns the result.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37360"/>
            <a:ext cx="5120640" cy="2743200"/>
          </a:xfrm>
          <a:prstGeom prst="rect">
            <a:avLst/>
          </a:prstGeom>
          <a:solidFill>
            <a:srgbClr val="0D2818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737360"/>
            <a:ext cx="5120640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556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calculator.js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495604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calculator(a, b, operator)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(operator === '+') return a + b;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(operator === '-') return a - b;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(operator === '*') return a * b;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(operator === '/')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 === 0) return 'Error: Division by zero!';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/ b;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'Unknown operator';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Calling the function: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console.log(calculator(10, 5, '+'));   // Output: 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console.log(calculator(10, 5, '*'));   // Output: 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console.log(calculator(10, 0, '/'));   // Output: Error: Division by zero!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32120" y="1737360"/>
            <a:ext cx="338328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773936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Parameters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40880" y="1773936"/>
            <a:ext cx="1783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are numbers; operator is a string selector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242316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459736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Conditionals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40880" y="2459736"/>
            <a:ext cx="1783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logic routes to the correct math operation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3108960"/>
            <a:ext cx="338328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145536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Guard Clause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0" y="3145536"/>
            <a:ext cx="1783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division by zero before executing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379476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3831336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Return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0" y="3831336"/>
            <a:ext cx="1783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returns a value back to the caller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6344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Parameters give functions flexibility — same function, different inputs, different outputs.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Array Filter with Callback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8686800" cy="59436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Question: Write a function that filters even numbers from an array using a callback function.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37360"/>
            <a:ext cx="5120640" cy="2743200"/>
          </a:xfrm>
          <a:prstGeom prst="rect">
            <a:avLst/>
          </a:prstGeom>
          <a:solidFill>
            <a:srgbClr val="0D2818"/>
          </a:solidFill>
          <a:ln w="12700">
            <a:solidFill>
              <a:srgbClr val="4091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737360"/>
            <a:ext cx="5120640" cy="3200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556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filterArray.js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495604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Callback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isEven(num)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num % 2 ===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Higher-order function using callback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filterArray(arr, callback)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result = [];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arr.length; i++)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(callback(arr[i]))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result.push(arr[i]);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Using the functions: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numbers = [1, 2, 3, 4, 5, 6, 7, 8];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evens = filterArray(numbers, isEven);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console.log(evens); // Output: [2, 4, 6, 8]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using built-in .filter():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numbers.filter(isEven);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1737360"/>
            <a:ext cx="338328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1737360"/>
            <a:ext cx="73152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7739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Function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0" y="20482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isEven is passed as an argument to filterArray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32120" y="242316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2423160"/>
            <a:ext cx="73152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4597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Function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0" y="27340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filterArray accepts a function as a parameter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32120" y="3108960"/>
            <a:ext cx="338328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3108960"/>
            <a:ext cx="73152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1455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0" y="34198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isEven can be reused with any array method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379476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3794760"/>
            <a:ext cx="73152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8313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Alternative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0" y="41056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Array.filter() does the same job natively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66344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Functions passed as arguments are callbacks — the backbone of async JavaScript!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Recursive Function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8686800" cy="594360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Question: Write a recursive function to calculate the factorial of a number (e.g. 5! = 120).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37360"/>
            <a:ext cx="5120640" cy="2743200"/>
          </a:xfrm>
          <a:prstGeom prst="rect">
            <a:avLst/>
          </a:prstGeom>
          <a:solidFill>
            <a:srgbClr val="0D2818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737360"/>
            <a:ext cx="512064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556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factorial.js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495604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factorial(n)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Base case: stops recursion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 === 0 || n === 1)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Recursive case: calls itself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 * factorial(n - 1);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Step-by-step for factorial(4):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factorial(4) = 4 * factorial(3)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factorial(3) = 3 * factorial(2)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factorial(2) = 2 * factorial(1)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factorial(1) = 1  ← base 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2 * 1 = 2, 3 * 2 = 6, 4 * 6 = 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console.log(factorial(5));  // Output: 120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console.log(factorial(0));  // Output: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32120" y="1737360"/>
            <a:ext cx="338328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755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(factorial(4))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2057400"/>
            <a:ext cx="3383280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07568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factorial(1) →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560320"/>
            <a:ext cx="3383280" cy="438912"/>
          </a:xfrm>
          <a:prstGeom prst="rect">
            <a:avLst/>
          </a:prstGeom>
          <a:solidFill>
            <a:srgbClr val="40916C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5786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factorial(2) → 2×1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3063240"/>
            <a:ext cx="33832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08152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factorial(3) → 3×2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3566160"/>
            <a:ext cx="338328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3584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factorial(4) → 4×6 = 24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4087368"/>
            <a:ext cx="3383280" cy="402336"/>
          </a:xfrm>
          <a:prstGeom prst="rect">
            <a:avLst/>
          </a:prstGeom>
          <a:solidFill>
            <a:srgbClr val="D8F3DC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41148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Answer: 24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6344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Recursion — a function that calls itself. Always define a base case to stop it!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2743200" cy="2743200"/>
          </a:xfrm>
          <a:prstGeom prst="ellipse">
            <a:avLst/>
          </a:prstGeom>
          <a:solidFill>
            <a:srgbClr val="40916C">
              <a:alpha val="35000"/>
            </a:srgbClr>
          </a:solidFill>
          <a:ln w="12700">
            <a:solidFill>
              <a:srgbClr val="40916C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Functions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206240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95681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 function is a reusable block of code for a specific task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4206240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2896" y="195681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Three styles: Declaration, Expression, Arrow — pick by 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761488"/>
            <a:ext cx="4206240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79806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Parameters accept inputs; return sends back outputs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61488"/>
            <a:ext cx="4206240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279806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Functions can call themselves (recursion) with a base case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02736"/>
            <a:ext cx="4206240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63931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Callbacks and higher-order functions power async &amp; functional JS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602736"/>
            <a:ext cx="4206240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363931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Functions keep code DRY — Don't Repeat Yourself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663440"/>
            <a:ext cx="8595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functions → Master JavaScript 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Functions</dc:title>
  <dc:subject>PptxGenJS Presentation</dc:subject>
  <dc:creator>PptxGenJS</dc:creator>
  <cp:lastModifiedBy>PptxGenJS</cp:lastModifiedBy>
  <cp:revision>1</cp:revision>
  <dcterms:created xsi:type="dcterms:W3CDTF">2026-03-31T02:51:33Z</dcterms:created>
  <dcterms:modified xsi:type="dcterms:W3CDTF">2026-03-31T02:51:33Z</dcterms:modified>
</cp:coreProperties>
</file>