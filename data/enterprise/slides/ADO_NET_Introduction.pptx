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2C7A4B">
              <a:alpha val="30000"/>
            </a:srgbClr>
          </a:solidFill>
          <a:ln w="12700">
            <a:solidFill>
              <a:srgbClr val="2C7A4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4CAF7D">
              <a:alpha val="20000"/>
            </a:srgbClr>
          </a:solidFill>
          <a:ln w="12700">
            <a:solidFill>
              <a:srgbClr val="4CAF7D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88720"/>
            <a:ext cx="1828800" cy="32004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4731"/>
                </a:solidFill>
              </a:rPr>
              <a:t>.NET FRAMEWORK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64008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ADO.NET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6400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D6F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8D4BE"/>
                </a:solidFill>
              </a:rPr>
              <a:t>Data Access Technology for .NET Applications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F0E0"/>
                </a:solidFill>
              </a:rPr>
              <a:t>C# &amp; VB.NET  |  SQL Server  |  Oracle  |  XML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100584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5953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What is ADO.NET?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960120"/>
          </a:xfrm>
          <a:prstGeom prst="rect">
            <a:avLst/>
          </a:prstGeom>
          <a:solidFill>
            <a:srgbClr val="D6F0E0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07008"/>
            <a:ext cx="81381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24"/>
                </a:solidFill>
              </a:rPr>
              <a:t>ADO.NET (ActiveX Data Objects for .NET) is a core technology in the .NET Framework that enables developers to interact with data sources such as databases and XML files. It provides classes for data access, manipulation, and management in C# and VB.NET applications.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377440"/>
            <a:ext cx="265176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4CAF7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377440"/>
            <a:ext cx="2651760" cy="73152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468880"/>
            <a:ext cx="26517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🔌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11480" y="310896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4731"/>
                </a:solidFill>
              </a:rPr>
              <a:t>Data Providers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9768" y="3520440"/>
            <a:ext cx="2432304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7060"/>
                </a:solidFill>
              </a:rPr>
              <a:t>Components for fast data access: Connection, Command, DataReader, DataAdapter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2968" y="2377440"/>
            <a:ext cx="265176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4CAF7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2377440"/>
            <a:ext cx="2651760" cy="73152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72968" y="2468880"/>
            <a:ext cx="26517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🗄️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264408" y="310896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4731"/>
                </a:solidFill>
              </a:rPr>
              <a:t>DataSet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82696" y="3520440"/>
            <a:ext cx="2432304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7060"/>
                </a:solidFill>
              </a:rPr>
              <a:t>In-memory representation of data — holds multiple DataTables and their relationships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25896" y="2377440"/>
            <a:ext cx="265176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4CAF7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25896" y="2377440"/>
            <a:ext cx="2651760" cy="73152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25896" y="2468880"/>
            <a:ext cx="26517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117336" y="310896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4731"/>
                </a:solidFill>
              </a:rPr>
              <a:t>Performance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35624" y="3520440"/>
            <a:ext cx="2432304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7060"/>
                </a:solidFill>
              </a:rPr>
              <a:t>Lightweight, flexible, and optimized for high-performance database interactions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ADO.NET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6F0E0"/>
                </a:solidFill>
              </a:rPr>
              <a:t>Two-layer model: Data Providers + DataSet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3749040" cy="347472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25880"/>
            <a:ext cx="3749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4731"/>
                </a:solidFill>
              </a:rPr>
              <a:t>.NET DATA PROVIDER LAYER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868680" cy="1417320"/>
          </a:xfrm>
          <a:prstGeom prst="rect">
            <a:avLst/>
          </a:prstGeom>
          <a:solidFill>
            <a:srgbClr val="2C7A4B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28800"/>
            <a:ext cx="8686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Connection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86868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F0E0"/>
                </a:solidFill>
              </a:rPr>
              <a:t>Opens/closes DB link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25880" y="1783080"/>
            <a:ext cx="868680" cy="1417320"/>
          </a:xfrm>
          <a:prstGeom prst="rect">
            <a:avLst/>
          </a:prstGeom>
          <a:solidFill>
            <a:srgbClr val="2C7A4B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1828800"/>
            <a:ext cx="8686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Command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25880" y="2377440"/>
            <a:ext cx="86868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F0E0"/>
                </a:solidFill>
              </a:rPr>
              <a:t>Executes SQL queries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0" y="1783080"/>
            <a:ext cx="868680" cy="1417320"/>
          </a:xfrm>
          <a:prstGeom prst="rect">
            <a:avLst/>
          </a:prstGeom>
          <a:solidFill>
            <a:srgbClr val="2C7A4B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1828800"/>
            <a:ext cx="8686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DataReader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2377440"/>
            <a:ext cx="86868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F0E0"/>
                </a:solidFill>
              </a:rPr>
              <a:t>Fast forward-only read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46120" y="1783080"/>
            <a:ext cx="868680" cy="1417320"/>
          </a:xfrm>
          <a:prstGeom prst="rect">
            <a:avLst/>
          </a:prstGeom>
          <a:solidFill>
            <a:srgbClr val="2C7A4B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828800"/>
            <a:ext cx="8686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DataAdapter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46120" y="2377440"/>
            <a:ext cx="86868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F0E0"/>
                </a:solidFill>
              </a:rPr>
              <a:t>Bridge to DataSet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06240" y="2331720"/>
            <a:ext cx="731520" cy="73152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214884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4CAF7D"/>
                </a:solidFill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074920" y="1325880"/>
            <a:ext cx="3657600" cy="347472"/>
          </a:xfrm>
          <a:prstGeom prst="rect">
            <a:avLst/>
          </a:prstGeom>
          <a:solidFill>
            <a:srgbClr val="2C7A4B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132588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DATASET LAYER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74920" y="1783080"/>
            <a:ext cx="3657600" cy="1417320"/>
          </a:xfrm>
          <a:prstGeom prst="rect">
            <a:avLst/>
          </a:prstGeom>
          <a:solidFill>
            <a:srgbClr val="235F3A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182880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DataSet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12080" y="2286000"/>
            <a:ext cx="33832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F0E0"/>
                </a:solidFill>
              </a:rPr>
              <a:t>DataTable 1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F0E0"/>
                </a:solidFill>
              </a:rPr>
              <a:t>DataTable 2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F0E0"/>
                </a:solidFill>
              </a:rPr>
              <a:t>DataRelations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429000"/>
            <a:ext cx="8366760" cy="685800"/>
          </a:xfrm>
          <a:prstGeom prst="rect">
            <a:avLst/>
          </a:prstGeom>
          <a:solidFill>
            <a:srgbClr val="143D26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456432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7D"/>
                </a:solidFill>
              </a:rPr>
              <a:t>DATA SOURCES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749040"/>
            <a:ext cx="1417320" cy="256032"/>
          </a:xfrm>
          <a:prstGeom prst="rect">
            <a:avLst/>
          </a:prstGeom>
          <a:solidFill>
            <a:srgbClr val="2C7A4B"/>
          </a:solidFill>
          <a:ln w="6350">
            <a:solidFill>
              <a:srgbClr val="4CAF7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749040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SQL Server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057400" y="3749040"/>
            <a:ext cx="1417320" cy="256032"/>
          </a:xfrm>
          <a:prstGeom prst="rect">
            <a:avLst/>
          </a:prstGeom>
          <a:solidFill>
            <a:srgbClr val="2C7A4B"/>
          </a:solidFill>
          <a:ln w="6350">
            <a:solidFill>
              <a:srgbClr val="4CAF7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57400" y="3749040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Oracle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0" y="3749040"/>
            <a:ext cx="1417320" cy="256032"/>
          </a:xfrm>
          <a:prstGeom prst="rect">
            <a:avLst/>
          </a:prstGeom>
          <a:solidFill>
            <a:srgbClr val="2C7A4B"/>
          </a:solidFill>
          <a:ln w="6350">
            <a:solidFill>
              <a:srgbClr val="4CAF7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0" y="3749040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OLE DB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257800" y="3749040"/>
            <a:ext cx="1417320" cy="256032"/>
          </a:xfrm>
          <a:prstGeom prst="rect">
            <a:avLst/>
          </a:prstGeom>
          <a:solidFill>
            <a:srgbClr val="2C7A4B"/>
          </a:solidFill>
          <a:ln w="6350">
            <a:solidFill>
              <a:srgbClr val="4CAF7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57800" y="3749040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ODBC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858000" y="3749040"/>
            <a:ext cx="1417320" cy="256032"/>
          </a:xfrm>
          <a:prstGeom prst="rect">
            <a:avLst/>
          </a:prstGeom>
          <a:solidFill>
            <a:srgbClr val="2C7A4B"/>
          </a:solidFill>
          <a:ln w="6350">
            <a:solidFill>
              <a:srgbClr val="4CAF7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3749040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XML Files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D2E1A"/>
          </a:solidFill>
          <a:ln w="12700">
            <a:solidFill>
              <a:srgbClr val="0D2E1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.NET Framework Data Provider Objects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594360" cy="169164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7373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AF7D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280160"/>
            <a:ext cx="3383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731"/>
                </a:solidFill>
              </a:rPr>
              <a:t>Connection Object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691640"/>
            <a:ext cx="33832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7060"/>
                </a:solidFill>
              </a:rPr>
              <a:t>Establishes a link to the database. Requires a connection string with server address, database name, and authentication.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60120" y="2532888"/>
            <a:ext cx="3337560" cy="219456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532888"/>
            <a:ext cx="33375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C7A4B"/>
                </a:solidFill>
              </a:rPr>
              <a:t>SqlConnection  |  OracleConnection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118872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188720"/>
            <a:ext cx="594360" cy="169164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7373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AF7D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94960" y="1280160"/>
            <a:ext cx="3383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731"/>
                </a:solidFill>
              </a:rPr>
              <a:t>Command Object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94960" y="1691640"/>
            <a:ext cx="33832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7060"/>
                </a:solidFill>
              </a:rPr>
              <a:t>Executes SQL queries or stored procedures. Supports SELECT, INSERT, UPDATE, DELETE operations.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94960" y="2532888"/>
            <a:ext cx="3337560" cy="219456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0" y="2532888"/>
            <a:ext cx="33375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C7A4B"/>
                </a:solidFill>
              </a:rPr>
              <a:t>SqlCommand  |  OracleCommand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06324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063240"/>
            <a:ext cx="594360" cy="169164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61188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AF7D"/>
                </a:solidFill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3154680"/>
            <a:ext cx="3383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731"/>
                </a:solidFill>
              </a:rPr>
              <a:t>DataReader Object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566160"/>
            <a:ext cx="33832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7060"/>
                </a:solidFill>
              </a:rPr>
              <a:t>Retrieves data in a fast, forward-only, read-only stream. Ideal for large volumes of data.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60120" y="4407408"/>
            <a:ext cx="3337560" cy="219456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407408"/>
            <a:ext cx="33375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C7A4B"/>
                </a:solidFill>
              </a:rPr>
              <a:t>SqlDataReader  |  OracleDataReader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306324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063240"/>
            <a:ext cx="594360" cy="169164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361188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AF7D"/>
                </a:solidFill>
              </a:rPr>
              <a:t>04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94960" y="3154680"/>
            <a:ext cx="3383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731"/>
                </a:solidFill>
              </a:rPr>
              <a:t>DataAdapter Object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94960" y="3566160"/>
            <a:ext cx="33832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7060"/>
                </a:solidFill>
              </a:rPr>
              <a:t>Acts as a bridge between a DataSet and the data source. Fills and updates data using Select/Insert/Update/Delete commands.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394960" y="4407408"/>
            <a:ext cx="3337560" cy="219456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94960" y="4407408"/>
            <a:ext cx="33375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C7A4B"/>
                </a:solidFill>
              </a:rPr>
              <a:t>SqlDataAdapter  |  DataSet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SQL Server Connection — C# 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475488"/>
          </a:xfrm>
          <a:prstGeom prst="rect">
            <a:avLst/>
          </a:prstGeom>
          <a:solidFill>
            <a:srgbClr val="0D2E1A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78408"/>
            <a:ext cx="83210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CAF7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Connection String:  "data source=.; database=student; integrated security=SSPI"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8503920" cy="3200400"/>
          </a:xfrm>
          <a:prstGeom prst="rect">
            <a:avLst/>
          </a:prstGeom>
          <a:solidFill>
            <a:srgbClr val="0D2E1A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0200"/>
            <a:ext cx="8229600" cy="3108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D4B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using </a:t>
            </a:r>
            <a:r>
              <a:rPr lang="en-US" sz="1200" dirty="0">
                <a:solidFill>
                  <a:srgbClr val="4CAF7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System.Data.SqlClient;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CAF7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SqlConnection</a:t>
            </a:r>
            <a:r>
              <a:rPr lang="en-US" sz="1200" dirty="0">
                <a:solidFill>
                  <a:srgbClr val="A8D4B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con = </a:t>
            </a:r>
            <a:r>
              <a:rPr lang="en-US" sz="1200" dirty="0">
                <a:solidFill>
                  <a:srgbClr val="7ECB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new SqlConnection</a:t>
            </a:r>
            <a:r>
              <a:rPr lang="en-US" sz="1200" dirty="0">
                <a:solidFill>
                  <a:srgbClr val="A8D4B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(connectionString);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CAF7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SqlCommand</a:t>
            </a:r>
            <a:r>
              <a:rPr lang="en-US" sz="1200" dirty="0">
                <a:solidFill>
                  <a:srgbClr val="A8D4B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cm = </a:t>
            </a:r>
            <a:r>
              <a:rPr lang="en-US" sz="1200" dirty="0">
                <a:solidFill>
                  <a:srgbClr val="7ECB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new SqlCommand</a:t>
            </a:r>
            <a:r>
              <a:rPr lang="en-US" sz="1200" dirty="0">
                <a:solidFill>
                  <a:srgbClr val="A8D4B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</a:t>
            </a:r>
            <a:r>
              <a:rPr lang="en-US" sz="1200" dirty="0">
                <a:solidFill>
                  <a:srgbClr val="FFD5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"SELECT * FROM student"</a:t>
            </a:r>
            <a:r>
              <a:rPr lang="en-US" sz="1200" dirty="0">
                <a:solidFill>
                  <a:srgbClr val="A8D4B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con);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4B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con.</a:t>
            </a:r>
            <a:r>
              <a:rPr lang="en-US" sz="1200" dirty="0">
                <a:solidFill>
                  <a:srgbClr val="7ECB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Open</a:t>
            </a:r>
            <a:r>
              <a:rPr lang="en-US" sz="1200" dirty="0">
                <a:solidFill>
                  <a:srgbClr val="A8D4B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CAF7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SqlDataReader</a:t>
            </a:r>
            <a:r>
              <a:rPr lang="en-US" sz="1200" dirty="0">
                <a:solidFill>
                  <a:srgbClr val="A8D4B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sdr = cm.</a:t>
            </a:r>
            <a:r>
              <a:rPr lang="en-US" sz="1200" dirty="0">
                <a:solidFill>
                  <a:srgbClr val="7ECB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ExecuteReader</a:t>
            </a:r>
            <a:r>
              <a:rPr lang="en-US" sz="1200" dirty="0">
                <a:solidFill>
                  <a:srgbClr val="A8D4B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();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4B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while</a:t>
            </a:r>
            <a:r>
              <a:rPr lang="en-US" sz="1200" dirty="0">
                <a:solidFill>
                  <a:srgbClr val="A8D4B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(sdr.</a:t>
            </a:r>
            <a:r>
              <a:rPr lang="en-US" sz="1200" dirty="0">
                <a:solidFill>
                  <a:srgbClr val="7ECB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Read</a:t>
            </a:r>
            <a:r>
              <a:rPr lang="en-US" sz="1200" dirty="0">
                <a:solidFill>
                  <a:srgbClr val="A8D4B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())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4B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Console.</a:t>
            </a:r>
            <a:r>
              <a:rPr lang="en-US" sz="1200" dirty="0">
                <a:solidFill>
                  <a:srgbClr val="7ECB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WriteLine</a:t>
            </a:r>
            <a:r>
              <a:rPr lang="en-US" sz="1200" dirty="0">
                <a:solidFill>
                  <a:srgbClr val="A8D4B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(sdr[</a:t>
            </a:r>
            <a:r>
              <a:rPr lang="en-US" sz="1200" dirty="0">
                <a:solidFill>
                  <a:srgbClr val="FFD5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"id"</a:t>
            </a:r>
            <a:r>
              <a:rPr lang="en-US" sz="1200" dirty="0">
                <a:solidFill>
                  <a:srgbClr val="A8D4B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] + " " + sdr[</a:t>
            </a:r>
            <a:r>
              <a:rPr lang="en-US" sz="1200" dirty="0">
                <a:solidFill>
                  <a:srgbClr val="FFD5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"name"</a:t>
            </a:r>
            <a:r>
              <a:rPr lang="en-US" sz="1200" dirty="0">
                <a:solidFill>
                  <a:srgbClr val="A8D4B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]);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4B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4B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con.</a:t>
            </a:r>
            <a:r>
              <a:rPr lang="en-US" sz="1200" dirty="0">
                <a:solidFill>
                  <a:srgbClr val="7ECB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Close</a:t>
            </a:r>
            <a:r>
              <a:rPr lang="en-US" sz="1200" dirty="0">
                <a:solidFill>
                  <a:srgbClr val="A8D4B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();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Core SQL Operations in ADO.NET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E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1280160" cy="841248"/>
          </a:xfrm>
          <a:prstGeom prst="rect">
            <a:avLst/>
          </a:prstGeom>
          <a:solidFill>
            <a:srgbClr val="1A6B42"/>
          </a:solidFill>
          <a:ln w="12700">
            <a:solidFill>
              <a:srgbClr val="1A6B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88720"/>
            <a:ext cx="128016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🏗️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CREATE TABLE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645920" y="1216152"/>
            <a:ext cx="6217920" cy="347472"/>
          </a:xfrm>
          <a:prstGeom prst="rect">
            <a:avLst/>
          </a:prstGeom>
          <a:solidFill>
            <a:srgbClr val="0D2E1A"/>
          </a:solidFill>
          <a:ln w="12700">
            <a:solidFill>
              <a:srgbClr val="0D2E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1640" y="1216152"/>
            <a:ext cx="6126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AF7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SqlCommand("CREATE TABLE student(id int, name varchar(100), email varchar(50))", con)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91640" y="1618488"/>
            <a:ext cx="6217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7060"/>
                </a:solidFill>
              </a:rPr>
              <a:t>→  Defines schema — run ExecuteNonQuery() to apply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084832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E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084832"/>
            <a:ext cx="1280160" cy="841248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130552"/>
            <a:ext cx="128016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➕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INSERT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645920" y="2157984"/>
            <a:ext cx="6217920" cy="347472"/>
          </a:xfrm>
          <a:prstGeom prst="rect">
            <a:avLst/>
          </a:prstGeom>
          <a:solidFill>
            <a:srgbClr val="0D2E1A"/>
          </a:solidFill>
          <a:ln w="12700">
            <a:solidFill>
              <a:srgbClr val="0D2E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91640" y="2157984"/>
            <a:ext cx="6126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AF7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SqlCommand("INSERT INTO student VALUES('101','hassan','hassan@example.com')", con)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91640" y="2567305"/>
            <a:ext cx="6217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7060"/>
                </a:solidFill>
              </a:rPr>
              <a:t>→  Add records — run ExecuteNonQuery() to insert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026664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E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026664"/>
            <a:ext cx="1280160" cy="841248"/>
          </a:xfrm>
          <a:prstGeom prst="rect">
            <a:avLst/>
          </a:prstGeom>
          <a:solidFill>
            <a:srgbClr val="1A8053"/>
          </a:solidFill>
          <a:ln w="12700">
            <a:solidFill>
              <a:srgbClr val="1A80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072384"/>
            <a:ext cx="128016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🔍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SELECT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645920" y="3099816"/>
            <a:ext cx="6217920" cy="347472"/>
          </a:xfrm>
          <a:prstGeom prst="rect">
            <a:avLst/>
          </a:prstGeom>
          <a:solidFill>
            <a:srgbClr val="0D2E1A"/>
          </a:solidFill>
          <a:ln w="12700">
            <a:solidFill>
              <a:srgbClr val="0D2E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91640" y="3099816"/>
            <a:ext cx="6126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AF7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SqlCommand("SELECT * FROM student", con)  →  ExecuteReader()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691640" y="3502152"/>
            <a:ext cx="6217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7060"/>
                </a:solidFill>
              </a:rPr>
              <a:t>→  Use SqlDataReader to iterate results row by row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968496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E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968496"/>
            <a:ext cx="1280160" cy="841248"/>
          </a:xfrm>
          <a:prstGeom prst="rect">
            <a:avLst/>
          </a:prstGeom>
          <a:solidFill>
            <a:srgbClr val="1B5E40"/>
          </a:solidFill>
          <a:ln w="12700">
            <a:solidFill>
              <a:srgbClr val="1B5E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014216"/>
            <a:ext cx="128016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🗑️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DELETE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645920" y="4041648"/>
            <a:ext cx="6217920" cy="347472"/>
          </a:xfrm>
          <a:prstGeom prst="rect">
            <a:avLst/>
          </a:prstGeom>
          <a:solidFill>
            <a:srgbClr val="0D2E1A"/>
          </a:solidFill>
          <a:ln w="12700">
            <a:solidFill>
              <a:srgbClr val="0D2E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91640" y="4041648"/>
            <a:ext cx="6126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AF7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SqlCommand("DELETE FROM student WHERE id = '101'", con)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691640" y="4443984"/>
            <a:ext cx="6217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7060"/>
                </a:solidFill>
              </a:rPr>
              <a:t>→  Remove rows — run ExecuteNonQuery() to delete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Choosing the Right Data Provider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011680" cy="3749040"/>
          </a:xfrm>
          <a:prstGeom prst="rect">
            <a:avLst/>
          </a:prstGeom>
          <a:solidFill>
            <a:srgbClr val="143D26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011680" cy="640080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SqlClient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1828800" cy="27432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830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4731"/>
                </a:solidFill>
              </a:rPr>
              <a:t>DATABASE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SQL Server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578608"/>
            <a:ext cx="1828800" cy="256032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5786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6F0E0"/>
                </a:solidFill>
              </a:rPr>
              <a:t>BEST FOR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2880360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4BE"/>
                </a:solidFill>
              </a:rPr>
              <a:t>Microsoft SQL Server apps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474720"/>
            <a:ext cx="1828800" cy="256032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4747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6F0E0"/>
                </a:solidFill>
              </a:rPr>
              <a:t>ADVANTAGE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3767328"/>
            <a:ext cx="18288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4BE"/>
                </a:solidFill>
              </a:rPr>
              <a:t>Optimized, fast, direct SQL Server integration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50592" y="1005840"/>
            <a:ext cx="2011680" cy="3749040"/>
          </a:xfrm>
          <a:prstGeom prst="rect">
            <a:avLst/>
          </a:prstGeom>
          <a:solidFill>
            <a:srgbClr val="143D26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50592" y="1005840"/>
            <a:ext cx="2011680" cy="640080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50592" y="100584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OracleClient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542032" y="1783080"/>
            <a:ext cx="1828800" cy="27432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42032" y="17830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4731"/>
                </a:solidFill>
              </a:rPr>
              <a:t>DATABASE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542032" y="210312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Oracle DB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42032" y="2578608"/>
            <a:ext cx="1828800" cy="256032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42032" y="25786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6F0E0"/>
                </a:solidFill>
              </a:rPr>
              <a:t>BEST FOR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542032" y="2880360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4BE"/>
                </a:solidFill>
              </a:rPr>
              <a:t>Oracle database projects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42032" y="3474720"/>
            <a:ext cx="1828800" cy="256032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42032" y="34747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6F0E0"/>
                </a:solidFill>
              </a:rPr>
              <a:t>ADVANTAGE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542032" y="3767328"/>
            <a:ext cx="18288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4BE"/>
                </a:solidFill>
              </a:rPr>
              <a:t>Native Oracle support with full compatibility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26864" y="1005840"/>
            <a:ext cx="2011680" cy="3749040"/>
          </a:xfrm>
          <a:prstGeom prst="rect">
            <a:avLst/>
          </a:prstGeom>
          <a:solidFill>
            <a:srgbClr val="143D26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26864" y="1005840"/>
            <a:ext cx="2011680" cy="640080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26864" y="100584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OleDb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18304" y="1783080"/>
            <a:ext cx="1828800" cy="27432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18304" y="17830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4731"/>
                </a:solidFill>
              </a:rPr>
              <a:t>DATABASE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18304" y="210312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OLE DB Sources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18304" y="2578608"/>
            <a:ext cx="1828800" cy="256032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18304" y="25786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6F0E0"/>
                </a:solidFill>
              </a:rPr>
              <a:t>BEST FOR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718304" y="2880360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4BE"/>
                </a:solidFill>
              </a:rPr>
              <a:t>Excel, Access, multi-source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18304" y="3474720"/>
            <a:ext cx="1828800" cy="256032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8304" y="34747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6F0E0"/>
                </a:solidFill>
              </a:rPr>
              <a:t>ADVANTAGE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18304" y="3767328"/>
            <a:ext cx="18288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4BE"/>
                </a:solidFill>
              </a:rPr>
              <a:t>Versatile — connects to diverse data sources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803136" y="1005840"/>
            <a:ext cx="2011680" cy="3749040"/>
          </a:xfrm>
          <a:prstGeom prst="rect">
            <a:avLst/>
          </a:prstGeom>
          <a:solidFill>
            <a:srgbClr val="143D26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03136" y="1005840"/>
            <a:ext cx="2011680" cy="640080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03136" y="100584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Odbc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894576" y="1783080"/>
            <a:ext cx="1828800" cy="27432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94576" y="17830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4731"/>
                </a:solidFill>
              </a:rPr>
              <a:t>DATABASE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894576" y="210312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ODBC Sources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894576" y="2578608"/>
            <a:ext cx="1828800" cy="256032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94576" y="25786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6F0E0"/>
                </a:solidFill>
              </a:rPr>
              <a:t>BEST FOR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894576" y="2880360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4BE"/>
                </a:solidFill>
              </a:rPr>
              <a:t>Legacy systems &amp; older DBs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894576" y="3474720"/>
            <a:ext cx="1828800" cy="256032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94576" y="34747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6F0E0"/>
                </a:solidFill>
              </a:rPr>
              <a:t>ADVANTAGE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894576" y="3767328"/>
            <a:ext cx="18288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4BE"/>
                </a:solidFill>
              </a:rPr>
              <a:t>Broad driver compatibility across platforms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SqlConnection Class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8503920" cy="438912"/>
          </a:xfrm>
          <a:prstGeom prst="rect">
            <a:avLst/>
          </a:prstGeom>
          <a:solidFill>
            <a:srgbClr val="0D2E1A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15568"/>
            <a:ext cx="83210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CAF7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public sealed class SqlConnection : DbConnection, ICloneable, IDisposable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20040" y="1664208"/>
            <a:ext cx="4114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4731"/>
                </a:solidFill>
              </a:rPr>
              <a:t>Key Methods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2057400"/>
            <a:ext cx="4160520" cy="402336"/>
          </a:xfrm>
          <a:prstGeom prst="rect">
            <a:avLst/>
          </a:prstGeom>
          <a:solidFill>
            <a:srgbClr val="E8F5EE"/>
          </a:solidFill>
          <a:ln w="6350">
            <a:solidFill>
              <a:srgbClr val="D6F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075688"/>
            <a:ext cx="1737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7A4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Open()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4560" y="2075688"/>
            <a:ext cx="2194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24"/>
                </a:solidFill>
              </a:rPr>
              <a:t>Opens the database connection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468880"/>
            <a:ext cx="4160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6F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487168"/>
            <a:ext cx="1737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7A4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Close()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2487168"/>
            <a:ext cx="2194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24"/>
                </a:solidFill>
              </a:rPr>
              <a:t>Closes and releases the connection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880360"/>
            <a:ext cx="4160520" cy="402336"/>
          </a:xfrm>
          <a:prstGeom prst="rect">
            <a:avLst/>
          </a:prstGeom>
          <a:solidFill>
            <a:srgbClr val="E8F5EE"/>
          </a:solidFill>
          <a:ln w="6350">
            <a:solidFill>
              <a:srgbClr val="D6F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898648"/>
            <a:ext cx="1737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7A4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BeginTransaction()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2898648"/>
            <a:ext cx="2194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24"/>
                </a:solidFill>
              </a:rPr>
              <a:t>Starts a database transaction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291840"/>
            <a:ext cx="4160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6F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310128"/>
            <a:ext cx="1737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7A4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CreateCommand()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94560" y="3310128"/>
            <a:ext cx="2194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24"/>
                </a:solidFill>
              </a:rPr>
              <a:t>Creates a SqlCommand object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703320"/>
            <a:ext cx="4160520" cy="402336"/>
          </a:xfrm>
          <a:prstGeom prst="rect">
            <a:avLst/>
          </a:prstGeom>
          <a:solidFill>
            <a:srgbClr val="E8F5EE"/>
          </a:solidFill>
          <a:ln w="6350">
            <a:solidFill>
              <a:srgbClr val="D6F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721608"/>
            <a:ext cx="1737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7A4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ChangeDatabase()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94560" y="3721608"/>
            <a:ext cx="2194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24"/>
                </a:solidFill>
              </a:rPr>
              <a:t>Switches current database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114800"/>
            <a:ext cx="4160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6F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133088"/>
            <a:ext cx="1737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7A4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GetSchema()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94560" y="4133088"/>
            <a:ext cx="2194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24"/>
                </a:solidFill>
              </a:rPr>
              <a:t>Returns schema information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1664208"/>
            <a:ext cx="4114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4731"/>
                </a:solidFill>
              </a:rPr>
              <a:t>Constructors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54880" y="2057400"/>
            <a:ext cx="4114800" cy="530352"/>
          </a:xfrm>
          <a:prstGeom prst="rect">
            <a:avLst/>
          </a:prstGeom>
          <a:solidFill>
            <a:srgbClr val="E8F5EE"/>
          </a:solidFill>
          <a:ln w="6350">
            <a:solidFill>
              <a:srgbClr val="D6F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075688"/>
            <a:ext cx="228600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7A4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SqlConnection()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78040" y="2075688"/>
            <a:ext cx="160020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4"/>
                </a:solidFill>
              </a:rPr>
              <a:t>New instance with no args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2606040"/>
            <a:ext cx="4114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6F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624328"/>
            <a:ext cx="228600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7A4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SqlConnection(String)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78040" y="2624328"/>
            <a:ext cx="160020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4"/>
                </a:solidFill>
              </a:rPr>
              <a:t>Pass connection string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3154680"/>
            <a:ext cx="4114800" cy="530352"/>
          </a:xfrm>
          <a:prstGeom prst="rect">
            <a:avLst/>
          </a:prstGeom>
          <a:solidFill>
            <a:srgbClr val="E8F5EE"/>
          </a:solidFill>
          <a:ln w="6350">
            <a:solidFill>
              <a:srgbClr val="D6F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172968"/>
            <a:ext cx="228600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7A4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SqlConnection(String, SqlCredential)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178040" y="3172968"/>
            <a:ext cx="160020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4"/>
                </a:solidFill>
              </a:rPr>
              <a:t>Connection string + credentials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solidFill>
            <a:srgbClr val="D6F0E0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590288"/>
            <a:ext cx="8321040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731"/>
                </a:solidFill>
              </a:rPr>
              <a:t>⚠️  Always call Close() explicitly — SqlConnection does not auto-close when it goes out of scope.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ADO.NET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6F0E0"/>
                </a:solidFill>
              </a:rPr>
              <a:t>Standard 6-step process for database operations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788920" cy="1691640"/>
          </a:xfrm>
          <a:prstGeom prst="rect">
            <a:avLst/>
          </a:prstGeom>
          <a:solidFill>
            <a:srgbClr val="143D26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99032"/>
            <a:ext cx="566928" cy="566928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9903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4731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417320"/>
            <a:ext cx="18288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Establish Connection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25603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4BE"/>
                </a:solidFill>
              </a:rPr>
              <a:t>Open a connection using a connection string (server, DB, credentials)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27832" y="1234440"/>
            <a:ext cx="2788920" cy="1691640"/>
          </a:xfrm>
          <a:prstGeom prst="rect">
            <a:avLst/>
          </a:prstGeom>
          <a:solidFill>
            <a:srgbClr val="143D26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64992" y="1399032"/>
            <a:ext cx="566928" cy="566928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39903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4731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50792" y="1417320"/>
            <a:ext cx="18288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Execute Commands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64992" y="2011680"/>
            <a:ext cx="25603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4BE"/>
                </a:solidFill>
              </a:rPr>
              <a:t>Create SqlCommand and run SQL queries or stored procedures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81344" y="1234440"/>
            <a:ext cx="2788920" cy="1691640"/>
          </a:xfrm>
          <a:prstGeom prst="rect">
            <a:avLst/>
          </a:prstGeom>
          <a:solidFill>
            <a:srgbClr val="143D26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18504" y="1399032"/>
            <a:ext cx="566928" cy="566928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18504" y="139903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4731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04304" y="1417320"/>
            <a:ext cx="18288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Retrieve Data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18504" y="2011680"/>
            <a:ext cx="25603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4BE"/>
                </a:solidFill>
              </a:rPr>
              <a:t>Use SqlDataReader for fast, row-by-row read-only data access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108960"/>
            <a:ext cx="2788920" cy="1691640"/>
          </a:xfrm>
          <a:prstGeom prst="rect">
            <a:avLst/>
          </a:prstGeom>
          <a:solidFill>
            <a:srgbClr val="143D26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273552"/>
            <a:ext cx="566928" cy="566928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27355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4731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291840"/>
            <a:ext cx="18288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Manipulate Data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3886200"/>
            <a:ext cx="25603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4BE"/>
                </a:solidFill>
              </a:rPr>
              <a:t>Modify data via DataSet, DataTables, and DataRows (optional)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27832" y="3108960"/>
            <a:ext cx="2788920" cy="1691640"/>
          </a:xfrm>
          <a:prstGeom prst="rect">
            <a:avLst/>
          </a:prstGeom>
          <a:solidFill>
            <a:srgbClr val="143D26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64992" y="3273552"/>
            <a:ext cx="566928" cy="566928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4992" y="327355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4731"/>
                </a:solidFill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050792" y="3291840"/>
            <a:ext cx="18288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Update Database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64992" y="3886200"/>
            <a:ext cx="25603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4BE"/>
                </a:solidFill>
              </a:rPr>
              <a:t>Use DataAdapter to push DataSet changes back to the database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81344" y="3108960"/>
            <a:ext cx="2788920" cy="1691640"/>
          </a:xfrm>
          <a:prstGeom prst="rect">
            <a:avLst/>
          </a:prstGeom>
          <a:solidFill>
            <a:srgbClr val="143D26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18504" y="3273552"/>
            <a:ext cx="566928" cy="566928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18504" y="327355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4731"/>
                </a:solidFill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04304" y="3291840"/>
            <a:ext cx="18288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Close Connection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18504" y="3886200"/>
            <a:ext cx="25603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4BE"/>
                </a:solidFill>
              </a:rPr>
              <a:t>Always call Close() to release resources and avoid leaks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3200400"/>
            <a:ext cx="3657600" cy="3657600"/>
          </a:xfrm>
          <a:prstGeom prst="ellipse">
            <a:avLst/>
          </a:prstGeom>
          <a:solidFill>
            <a:srgbClr val="2C7A4B">
              <a:alpha val="25000"/>
            </a:srgbClr>
          </a:solidFill>
          <a:ln w="12700">
            <a:solidFill>
              <a:srgbClr val="2C7A4B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-457200"/>
            <a:ext cx="3200400" cy="3200400"/>
          </a:xfrm>
          <a:prstGeom prst="ellipse">
            <a:avLst/>
          </a:prstGeom>
          <a:solidFill>
            <a:srgbClr val="4CAF7D">
              <a:alpha val="15000"/>
            </a:srgbClr>
          </a:solidFill>
          <a:ln w="12700">
            <a:solidFill>
              <a:srgbClr val="4CAF7D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Key Takeaways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160520" cy="1097280"/>
          </a:xfrm>
          <a:prstGeom prst="rect">
            <a:avLst/>
          </a:prstGeom>
          <a:solidFill>
            <a:srgbClr val="143D26"/>
          </a:solidFill>
          <a:ln w="10160">
            <a:solidFill>
              <a:srgbClr val="4CAF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3444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7D"/>
                </a:solidFill>
              </a:rPr>
              <a:t>🔗 ADO.NET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18488"/>
            <a:ext cx="38404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4BE"/>
                </a:solidFill>
              </a:rPr>
              <a:t>Core .NET framework for connecting C#/VB.NET apps to databases and XML.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143000"/>
            <a:ext cx="4160520" cy="1097280"/>
          </a:xfrm>
          <a:prstGeom prst="rect">
            <a:avLst/>
          </a:prstGeom>
          <a:solidFill>
            <a:srgbClr val="143D26"/>
          </a:solidFill>
          <a:ln w="10160">
            <a:solidFill>
              <a:srgbClr val="4CAF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23444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7D"/>
                </a:solidFill>
              </a:rPr>
              <a:t>⚙️ Data Providers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618488"/>
            <a:ext cx="38404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4BE"/>
                </a:solidFill>
              </a:rPr>
              <a:t>Choose the right provider: SqlClient, OracleClient, OleDb, or Odbc.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404872"/>
            <a:ext cx="4160520" cy="1097280"/>
          </a:xfrm>
          <a:prstGeom prst="rect">
            <a:avLst/>
          </a:prstGeom>
          <a:solidFill>
            <a:srgbClr val="143D26"/>
          </a:solidFill>
          <a:ln w="10160">
            <a:solidFill>
              <a:srgbClr val="4CAF7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96312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7D"/>
                </a:solidFill>
              </a:rPr>
              <a:t>📦 DataSet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2880360"/>
            <a:ext cx="38404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4BE"/>
                </a:solidFill>
              </a:rPr>
              <a:t>In-memory data container holding multiple DataTables and their relationships.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2404872"/>
            <a:ext cx="4160520" cy="1097280"/>
          </a:xfrm>
          <a:prstGeom prst="rect">
            <a:avLst/>
          </a:prstGeom>
          <a:solidFill>
            <a:srgbClr val="143D26"/>
          </a:solidFill>
          <a:ln w="10160">
            <a:solidFill>
              <a:srgbClr val="4CAF7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496312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7D"/>
                </a:solidFill>
              </a:rPr>
              <a:t>🔄 DataAdapter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2880360"/>
            <a:ext cx="38404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4BE"/>
                </a:solidFill>
              </a:rPr>
              <a:t>Bridges the gap — fills DataSet from DB and saves changes back.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666744"/>
            <a:ext cx="4160520" cy="1097280"/>
          </a:xfrm>
          <a:prstGeom prst="rect">
            <a:avLst/>
          </a:prstGeom>
          <a:solidFill>
            <a:srgbClr val="143D26"/>
          </a:solidFill>
          <a:ln w="10160">
            <a:solidFill>
              <a:srgbClr val="4CAF7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758184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7D"/>
                </a:solidFill>
              </a:rPr>
              <a:t>⚡ Performance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4142232"/>
            <a:ext cx="38404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4BE"/>
                </a:solidFill>
              </a:rPr>
              <a:t>Use SqlDataReader for high-speed, read-only access to large datasets.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3666744"/>
            <a:ext cx="4160520" cy="1097280"/>
          </a:xfrm>
          <a:prstGeom prst="rect">
            <a:avLst/>
          </a:prstGeom>
          <a:solidFill>
            <a:srgbClr val="143D26"/>
          </a:solidFill>
          <a:ln w="10160">
            <a:solidFill>
              <a:srgbClr val="4CAF7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758184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7D"/>
                </a:solidFill>
              </a:rPr>
              <a:t>🔒 Best Practice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4142232"/>
            <a:ext cx="38404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4BE"/>
                </a:solidFill>
              </a:rPr>
              <a:t>Always use try/catch/finally to open and close connections safely.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ADO.NET — Powerful Data Access for .NET Applications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4771</Words>
  <Application>WPS Presentation</Application>
  <PresentationFormat>On-screen Show (16:9)</PresentationFormat>
  <Paragraphs>331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ADO.NET Introduction</dc:title>
  <dc:creator>PptxGenJS</dc:creator>
  <dc:subject>PptxGenJS Presentation</dc:subject>
  <cp:lastModifiedBy>PMYLS</cp:lastModifiedBy>
  <cp:revision>2</cp:revision>
  <dcterms:created xsi:type="dcterms:W3CDTF">2026-04-06T15:38:00Z</dcterms:created>
  <dcterms:modified xsi:type="dcterms:W3CDTF">2026-04-13T06:03:55Z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7D0A317C7D314F76B3F0BBDBA5141A47_12</vt:lpwstr>
  </property>
  <property fmtid="{D5CDD505-2E9C-101B-9397-08002B2CF9AE}" pid="3" name="KSOProductBuildVer">
    <vt:lpwstr>1033-12.2.0.23196</vt:lpwstr>
  </property>
</Properties>
</file>