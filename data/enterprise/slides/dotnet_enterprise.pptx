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82880"/>
            <a:ext cx="3474720" cy="3474720"/>
          </a:xfrm>
          <a:prstGeom prst="ellipse">
            <a:avLst/>
          </a:prstGeom>
          <a:solidFill>
            <a:srgbClr val="0F6FC6">
              <a:alpha val="40000"/>
            </a:srgbClr>
          </a:solidFill>
          <a:ln w="12700">
            <a:solidFill>
              <a:srgbClr val="0F6FC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6FC6">
              <a:alpha val="70000"/>
            </a:srgbClr>
          </a:solidFill>
          <a:ln w="12700">
            <a:solidFill>
              <a:srgbClr val="0F6FC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.NET Architecture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Technology History  •  .NET Framework  •  MSIL  •  CLR  •  CLS  •  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|  LECTURE NOTES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Foundation of Modern Enterprise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lecture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10515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Characteristics, challenges &amp; architectural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502920" cy="10515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Technology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from DOS to modern .NET ecosystem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502920" cy="1051560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.NET &amp;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components, versions, and 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50292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 — Microsoft Intermediate Language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645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process and platform independence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23160"/>
            <a:ext cx="502920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— Common Language Runtime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880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engine, JIT compilation, memory management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57600"/>
            <a:ext cx="50292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49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&amp; CTS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4114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specifications and type system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software systems designed to support organizational processes, integrate multiple departments, and serve thousands of users simultaneously.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011680" cy="246888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057400"/>
            <a:ext cx="201168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concurrent users &amp; large datasets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2057400"/>
            <a:ext cx="2011680" cy="246888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057400"/>
            <a:ext cx="201168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50592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32004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(99.9%+ uptime), fault tolerance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2057400"/>
            <a:ext cx="2011680" cy="246888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1144" y="2057400"/>
            <a:ext cx="201168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81144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32004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data encryption &amp; auditing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11696" y="2057400"/>
            <a:ext cx="2011680" cy="246888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11696" y="2057400"/>
            <a:ext cx="201168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11696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57416" y="32004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with databases, APIs, legacy &amp; 3rd-party systems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 Types &amp; Architecture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Enterprise App Types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54864" cy="5943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075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(Enterprise Resource Planning)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Microsoft Dynamics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47672"/>
            <a:ext cx="54864" cy="5943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33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(Customer Relationship Mgmt)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Dynamics CRM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41148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33472"/>
            <a:ext cx="54864" cy="5943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79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(Supply Chain Management)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9535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logistics tracking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3192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19272"/>
            <a:ext cx="54864" cy="5943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649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(Human Resource Mgmt)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attendance, recruitment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41148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05072"/>
            <a:ext cx="54864" cy="5943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507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(Business Intelligence)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3251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dashboards, analytics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280160"/>
            <a:ext cx="393192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344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Presentation Layer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1664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Web, Mobile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1965960"/>
            <a:ext cx="731520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965960"/>
            <a:ext cx="731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176272"/>
            <a:ext cx="393192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Business Logic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2560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Services, APIs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2862072"/>
            <a:ext cx="731520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862072"/>
            <a:ext cx="731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072384"/>
            <a:ext cx="39319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136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 Access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456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Repositories, DAOs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758184"/>
            <a:ext cx="731520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758184"/>
            <a:ext cx="731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968496"/>
            <a:ext cx="393192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0325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Database Layer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Oracle, NoSQL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Technology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to Cloud — The Evolution of a Tech Giant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19456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Gates &amp; Paul Allen create Microsoft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36576" cy="3657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0512" y="2194560"/>
            <a:ext cx="256032" cy="256032"/>
          </a:xfrm>
          <a:prstGeom prst="ellipse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487168"/>
            <a:ext cx="36576" cy="32004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63040" y="33649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OS for IBM PCs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62072" y="2194560"/>
            <a:ext cx="256032" cy="256032"/>
          </a:xfrm>
          <a:prstGeom prst="ellipse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051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1.0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operating 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2194560"/>
            <a:ext cx="36576" cy="365760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219456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487168"/>
            <a:ext cx="36576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33649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OS &amp; networking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65192" y="2194560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051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Announced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platform for modern apps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2194560"/>
            <a:ext cx="36576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16752" y="219456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487168"/>
            <a:ext cx="36576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33649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VB.NET, ASP.NET released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68312" y="2194560"/>
            <a:ext cx="256032" cy="256032"/>
          </a:xfrm>
          <a:prstGeom prst="ellipse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051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2084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becomes open source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78040" y="2194560"/>
            <a:ext cx="36576" cy="36576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219456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2487168"/>
            <a:ext cx="36576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5+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72400" y="33649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cross-platform .NET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2062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Microsoft's shift from proprietary systems to open-source, cross-platform .NET in 2014–2020 represents one of the biggest strategic pivots in tech history.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.NET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is a free, open-source, cross-platform developer framework by Microsoft for building web, desktop, mobile, cloud, gaming, IoT &amp; AI applications.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88920" cy="384048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Languages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214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(Primary, most popular)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05456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9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VB.NET (Visual Basic)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F# (Functional language)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401568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65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C++/CLI (Native interop)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49624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IronPython, IronRuby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61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CLR-compliant language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2788920" cy="384048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600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Core Libraries (BCL)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057400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1214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System.Collections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505456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569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System.IO &amp; File System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953512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System.Net &amp; HTTP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401568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465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System.Threading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849624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913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System.Linq &amp; Reflection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4297680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361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(Data Access)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1600200"/>
            <a:ext cx="2788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600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Runtimes / Frameworks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2057400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1214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(Web)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2505456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569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 &amp; WPF (Desktop)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2953512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MAUI (Cross-platform Mobile)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3401568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465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(Web Assembly)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3849624"/>
            <a:ext cx="278892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913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(ORM)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4297680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361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(Real-time)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07408" y="1389888"/>
            <a:ext cx="329184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07408" y="1389888"/>
            <a:ext cx="3291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▼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407408" y="2029968"/>
            <a:ext cx="329184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7408" y="2029968"/>
            <a:ext cx="3291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07408" y="2670048"/>
            <a:ext cx="329184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2670048"/>
            <a:ext cx="3291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07408" y="3310128"/>
            <a:ext cx="329184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3310128"/>
            <a:ext cx="3291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07408" y="3950208"/>
            <a:ext cx="329184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3950208"/>
            <a:ext cx="3291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113385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VB.NET / F#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463040"/>
            <a:ext cx="82296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49961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Libraries / BCL / NuGet Packages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177393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| WPF | MAUI | EF 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3969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Runtime (CLR)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41401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 | GC | Exception Handling | Security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797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 System (CTS) + Common Language Spec (CLS)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0540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types and language interoperability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198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Intermediate Language (MSIL / CIL)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9417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 bytecode — the output of compilation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 (Windows | Linux | macOS)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33425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execution layer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 — Microsoft Intermediate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CIL (Common Intermediate Language) or 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60020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43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984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VB.NET / F#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65960" y="1078992"/>
            <a:ext cx="160020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143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984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csc.exe / vbc.exe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703320" y="1078992"/>
            <a:ext cx="160020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143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0332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 / 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1984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 bytecode in .exe / .dll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40680" y="1078992"/>
            <a:ext cx="1600200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1143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1984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CLR at runtime)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4088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178040" y="1078992"/>
            <a:ext cx="1600200" cy="13716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1143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78040" y="1984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 for current CPU/OS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 of MSIL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990088"/>
            <a:ext cx="416052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990088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Platform Independent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3741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MSIL runs on Windows, Linux, macOS — CLR converts to native code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95928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995928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0690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Verifiable &amp; Safe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3799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verifies MSIL before execution — prevents unsafe memory operations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990088"/>
            <a:ext cx="416052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2990088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Language Interoperable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3741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object can call VB.NET code because both compile to the same MSIL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995928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3995928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690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Stored in Assemblies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09160" y="43799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 is packaged in .exe or .dll assembly files with metadata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— Common Language Runtime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of .NET — converts MSIL to native machine code and manages application execution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MSIL to native CPU code at runtime. Just-In-Time — only when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11430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14300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2527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82112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 management. Finds &amp; frees unreferenced objects — no manual free()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11430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14300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2527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9904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try/catch/finally blocks. Unified model across all .NET languages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815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3538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Access Security (CAS). Controls what code can access based on permissions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82112" y="29718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2112" y="2971800"/>
            <a:ext cx="27432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0815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82112" y="3538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3886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pooling, synchronization, Task Parallel Library (TPL) management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971800"/>
            <a:ext cx="2743200" cy="1645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29718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30815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89904" y="3538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Checker / Verifier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81344" y="3886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MSIL is type-safe before JIT compilation to prevent security holes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CLR Executes a .NET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" y="1463040"/>
            <a:ext cx="45720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8229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82296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89611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Source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18872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 C# / VB.NET code in Visual Studio or VS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" y="2286000"/>
            <a:ext cx="45720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645920"/>
            <a:ext cx="6400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71907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to MSIL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116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compiler translates source to MSIL + metadata stored in Assembly (.exe/.dll)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" y="3108960"/>
            <a:ext cx="45720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46888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2468880"/>
            <a:ext cx="6400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54203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Assembly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83464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CLR's Class Loader loads and verifies the assembly. Checks MSIL is valid and type-safe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" y="3931920"/>
            <a:ext cx="45720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29184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" y="3291840"/>
            <a:ext cx="6400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36499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65760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 converts MSIL to native machine code for the current CPU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" y="411480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5840" y="4114800"/>
            <a:ext cx="64008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18795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Manage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48056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manages execution: garbage collection, exception handling, thread management, security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&amp; 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Specification  &amp;  Common Type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— Common Language Specification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60520" cy="502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RULES that all .NET languages must follow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160520" cy="502920"/>
          </a:xfrm>
          <a:prstGeom prst="rect">
            <a:avLst/>
          </a:prstGeom>
          <a:solidFill>
            <a:srgbClr val="1A3570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code written in C# can be used by VB.NET and vice versa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88336"/>
            <a:ext cx="4160520" cy="502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614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Defines: naming conventions, basic data types, exception handling patterns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55264"/>
            <a:ext cx="4160520" cy="502920"/>
          </a:xfrm>
          <a:prstGeom prst="rect">
            <a:avLst/>
          </a:prstGeom>
          <a:solidFill>
            <a:srgbClr val="1A3570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28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is CLS-compliant → it works with ANY .NET language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822192"/>
            <a:ext cx="4160520" cy="5029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3B5A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9534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with [CLSCompliant(true)] attribute in code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078992"/>
            <a:ext cx="4160520" cy="384048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7899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— Common Type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15544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defines ALL data types available in .NET and how they behave — creating a unified type system across all languages.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160520" cy="89611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130552"/>
            <a:ext cx="4160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5694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bool, struct, enum — stored on Stack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90672"/>
            <a:ext cx="4160520" cy="89611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090672"/>
            <a:ext cx="41605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00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5295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interface, array, string — stored on Heap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4050792"/>
            <a:ext cx="4160520" cy="89611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4050792"/>
            <a:ext cx="4160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1605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Types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4897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context only — direct memory address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MSIL, CLR, CLS &amp; CTS Work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188720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50008" y="132588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789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rules/spec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8848" y="132588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201168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789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47688" y="132588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01168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789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Summary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679192"/>
            <a:ext cx="859536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79192"/>
            <a:ext cx="777240" cy="548640"/>
          </a:xfrm>
          <a:prstGeom prst="rect">
            <a:avLst/>
          </a:prstGeom>
          <a:solidFill>
            <a:srgbClr val="6C3FC6"/>
          </a:solidFill>
          <a:ln w="12700">
            <a:solidFill>
              <a:srgbClr val="6C3F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889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2752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 System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299923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int, string, bool, class, struct… across ALL languages. The type vocabulary.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2826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82696"/>
            <a:ext cx="7772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9242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355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Specification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97280" y="360273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set of features each language must support to interoperate with others.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859536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886200"/>
            <a:ext cx="7772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959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Intermediate Language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7280" y="420624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Platform-neutral bytecode produced by the compiler — not machine code yet.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4897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489704"/>
            <a:ext cx="7772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59943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4562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Runtime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97280" y="48097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engine — JIT-compiles MSIL, manages memory, security, and threads.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E3A8A">
              <a:alpha val="50000"/>
            </a:srgbClr>
          </a:solidFill>
          <a:ln w="1270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03327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033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960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applications must be scalable, reliable, secure and integrated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167335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673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6002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evolved from DOS → Windows → .NET → Cross-platform open-source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00" y="231343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13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240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provides languages, libraries, and runtimes on one unified platform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71600" y="295351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953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880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compiles to MSIL — platform-independent bytecode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59359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520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is the execution engine: JIT compilation, GC, and security management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71600" y="423367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233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160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standardizes data types; CLS sets language interoperability rules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0" y="4572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Application Development &amp; .NET Architecture</dc:title>
  <dc:subject>PptxGenJS Presentation</dc:subject>
  <dc:creator>PptxGenJS</dc:creator>
  <cp:lastModifiedBy>PptxGenJS</cp:lastModifiedBy>
  <cp:revision>1</cp:revision>
  <dcterms:created xsi:type="dcterms:W3CDTF">2026-03-08T16:49:05Z</dcterms:created>
  <dcterms:modified xsi:type="dcterms:W3CDTF">2026-03-08T16:49:05Z</dcterms:modified>
</cp:coreProperties>
</file>