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7" r:id="rId1"/>
    <p:sldMasterId id="2147483777" r:id="rId2"/>
  </p:sldMasterIdLst>
  <p:notesMasterIdLst>
    <p:notesMasterId r:id="rId34"/>
  </p:notesMasterIdLst>
  <p:handoutMasterIdLst>
    <p:handoutMasterId r:id="rId35"/>
  </p:handoutMasterIdLst>
  <p:sldIdLst>
    <p:sldId id="530" r:id="rId3"/>
    <p:sldId id="584" r:id="rId4"/>
    <p:sldId id="651" r:id="rId5"/>
    <p:sldId id="652" r:id="rId6"/>
    <p:sldId id="653" r:id="rId7"/>
    <p:sldId id="654" r:id="rId8"/>
    <p:sldId id="650" r:id="rId9"/>
    <p:sldId id="647" r:id="rId10"/>
    <p:sldId id="655" r:id="rId11"/>
    <p:sldId id="681" r:id="rId12"/>
    <p:sldId id="657" r:id="rId13"/>
    <p:sldId id="685" r:id="rId14"/>
    <p:sldId id="658" r:id="rId15"/>
    <p:sldId id="656" r:id="rId16"/>
    <p:sldId id="645" r:id="rId17"/>
    <p:sldId id="659" r:id="rId18"/>
    <p:sldId id="660" r:id="rId19"/>
    <p:sldId id="661" r:id="rId20"/>
    <p:sldId id="662" r:id="rId21"/>
    <p:sldId id="663" r:id="rId22"/>
    <p:sldId id="682" r:id="rId23"/>
    <p:sldId id="683" r:id="rId24"/>
    <p:sldId id="664" r:id="rId25"/>
    <p:sldId id="665" r:id="rId26"/>
    <p:sldId id="666" r:id="rId27"/>
    <p:sldId id="671" r:id="rId28"/>
    <p:sldId id="667" r:id="rId29"/>
    <p:sldId id="668" r:id="rId30"/>
    <p:sldId id="669" r:id="rId31"/>
    <p:sldId id="670" r:id="rId32"/>
    <p:sldId id="672" r:id="rId33"/>
  </p:sldIdLst>
  <p:sldSz cx="9144000" cy="6858000" type="screen4x3"/>
  <p:notesSz cx="7315200" cy="9601200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Tahom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68">
          <p15:clr>
            <a:srgbClr val="A4A3A4"/>
          </p15:clr>
        </p15:guide>
        <p15:guide id="2" pos="307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6600"/>
    <a:srgbClr val="FFFFFF"/>
    <a:srgbClr val="000000"/>
    <a:srgbClr val="660066"/>
    <a:srgbClr val="5628C8"/>
    <a:srgbClr val="FFFF99"/>
    <a:srgbClr val="EAEAEA"/>
    <a:srgbClr val="DDDDDD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6" autoAdjust="0"/>
    <p:restoredTop sz="87558" autoAdjust="0"/>
  </p:normalViewPr>
  <p:slideViewPr>
    <p:cSldViewPr>
      <p:cViewPr varScale="1">
        <p:scale>
          <a:sx n="74" d="100"/>
          <a:sy n="74" d="100"/>
        </p:scale>
        <p:origin x="127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456"/>
    </p:cViewPr>
  </p:sorterViewPr>
  <p:notesViewPr>
    <p:cSldViewPr>
      <p:cViewPr varScale="1">
        <p:scale>
          <a:sx n="28" d="100"/>
          <a:sy n="28" d="100"/>
        </p:scale>
        <p:origin x="-1278" y="-90"/>
      </p:cViewPr>
      <p:guideLst>
        <p:guide orient="horz" pos="2268"/>
        <p:guide pos="30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31063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942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127E749-29DD-4107-8399-A3375D3701F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820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All items are</a:t>
            </a:r>
            <a:r>
              <a:rPr lang="en-US" baseline="0" dirty="0" smtClean="0"/>
              <a:t> of the same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8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Values in form</a:t>
            </a:r>
            <a:r>
              <a:rPr lang="en-US" baseline="0" dirty="0" smtClean="0"/>
              <a:t> get from user and contained in data object to be send to database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14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Adapter talks to data,</a:t>
            </a:r>
            <a:r>
              <a:rPr lang="en-US" baseline="0" dirty="0" smtClean="0"/>
              <a:t> gets/fetches data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20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Spinner is</a:t>
            </a:r>
            <a:r>
              <a:rPr lang="en-US" baseline="0" dirty="0" smtClean="0"/>
              <a:t> an adapter view – it talks to adapter and adapter talks to 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22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ArrayAdapter</a:t>
            </a:r>
          </a:p>
          <a:p>
            <a:r>
              <a:rPr lang="en-US" dirty="0" smtClean="0"/>
              <a:t>You can use this adapter when your data source is an array. By default, ArrayAdapter creates a view for each array item by calling </a:t>
            </a:r>
            <a:r>
              <a:rPr lang="en-US" dirty="0" err="1" smtClean="0"/>
              <a:t>toString</a:t>
            </a:r>
            <a:r>
              <a:rPr lang="en-US" dirty="0" smtClean="0"/>
              <a:t>() on each item and placing the contents in a </a:t>
            </a:r>
            <a:r>
              <a:rPr lang="en-US" b="1" dirty="0" smtClean="0"/>
              <a:t>TextView</a:t>
            </a:r>
            <a:r>
              <a:rPr lang="en-US" dirty="0" smtClean="0"/>
              <a:t>. Consider you have an array of strings you want to display in a ListView, initialize a new </a:t>
            </a:r>
            <a:r>
              <a:rPr lang="en-US" b="1" dirty="0" smtClean="0"/>
              <a:t>ArrayAdapter</a:t>
            </a:r>
            <a:r>
              <a:rPr lang="en-US" dirty="0" smtClean="0"/>
              <a:t> using a constructor to specify the layout for each string and the string array −</a:t>
            </a:r>
          </a:p>
          <a:p>
            <a:r>
              <a:rPr lang="en-US" dirty="0" smtClean="0"/>
              <a:t>ArrayAdapter adapter = new ArrayAdapter&lt;String&gt;(this, R.layout.ListView, StringArray);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90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mtClean="0"/>
              <a:t>Inflater</a:t>
            </a:r>
            <a:r>
              <a:rPr lang="en-US" b="1" dirty="0" smtClean="0"/>
              <a:t> </a:t>
            </a:r>
            <a:r>
              <a:rPr lang="en-US" b="0" dirty="0" smtClean="0"/>
              <a:t>convert the XML resource into a programmable object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55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Once you have array adapter created, then simply call </a:t>
            </a:r>
            <a:r>
              <a:rPr lang="en-US" b="1" dirty="0" err="1" smtClean="0"/>
              <a:t>setAdapter</a:t>
            </a:r>
            <a:r>
              <a:rPr lang="en-US" b="1" dirty="0" smtClean="0"/>
              <a:t>()</a:t>
            </a:r>
            <a:r>
              <a:rPr lang="en-US" dirty="0" smtClean="0"/>
              <a:t> on your </a:t>
            </a:r>
            <a:r>
              <a:rPr lang="en-US" b="1" dirty="0" smtClean="0"/>
              <a:t>ListView</a:t>
            </a:r>
            <a:r>
              <a:rPr lang="en-US" dirty="0" smtClean="0"/>
              <a:t> object as follows −</a:t>
            </a:r>
          </a:p>
          <a:p>
            <a:r>
              <a:rPr lang="en-US" dirty="0" smtClean="0"/>
              <a:t>ListView </a:t>
            </a:r>
            <a:r>
              <a:rPr lang="en-US" dirty="0" err="1" smtClean="0"/>
              <a:t>listView</a:t>
            </a:r>
            <a:r>
              <a:rPr lang="en-US" dirty="0" smtClean="0"/>
              <a:t> = (ListView)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R.id.listview</a:t>
            </a:r>
            <a:r>
              <a:rPr lang="en-US" dirty="0" smtClean="0"/>
              <a:t>); </a:t>
            </a:r>
          </a:p>
          <a:p>
            <a:r>
              <a:rPr lang="en-US" dirty="0" err="1" smtClean="0"/>
              <a:t>listView.setAdapter</a:t>
            </a:r>
            <a:r>
              <a:rPr lang="en-US" dirty="0" smtClean="0"/>
              <a:t>(adapter);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8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Sspecifying</a:t>
            </a:r>
            <a:r>
              <a:rPr lang="en-US" dirty="0" smtClean="0"/>
              <a:t> String to the generic adapter.</a:t>
            </a:r>
          </a:p>
          <a:p>
            <a:r>
              <a:rPr lang="en-US" dirty="0" smtClean="0"/>
              <a:t>Android.R.layout.simple_list_item_1</a:t>
            </a:r>
            <a:r>
              <a:rPr lang="en-US" baseline="0" dirty="0" smtClean="0"/>
              <a:t> . Android keyword here means we are using android default 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24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Study</a:t>
            </a:r>
            <a:r>
              <a:rPr lang="en-US" baseline="0" dirty="0" smtClean="0"/>
              <a:t> generics wild cards - * and ?</a:t>
            </a:r>
          </a:p>
          <a:p>
            <a:endParaRPr lang="en-US" baseline="0" dirty="0" smtClean="0"/>
          </a:p>
          <a:p>
            <a:r>
              <a:rPr lang="en-US" baseline="0" dirty="0" smtClean="0"/>
              <a:t>TOAST vs. Snake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7E749-29DD-4107-8399-A3375D3701F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2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B39F-9D41-4372-AFF9-8C82218AE98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7D0A-A384-49E9-B31A-56BF60BA213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4F0B-EE27-4512-BBB8-0BAF9C301B2A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4B32-40A5-4AF5-A900-D227CE7DFAAF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6F39E-79F8-4897-8C17-1358DE64FA4C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A501C-E3AD-47D9-83B0-E58B37D34EF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3BBA4-AF0B-4083-8344-954D7392D761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A0F-6EAC-4C74-B5B7-B58F9B6C9951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2AC1CEDA-BF03-4355-BFAC-5CABEBE017A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DB78-8D53-4AA0-A67B-932D8C899BD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100F7-F1B3-47FB-96D0-E18C92575CA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262626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62626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07F57A1-4040-47EA-959F-7BFB4AFEBB3A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648F39E-9C37-485F-AC97-16BB4BDF9F49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b="1" dirty="0" smtClean="0"/>
              <a:t>Android Adapters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Mobile (Android) 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Application Development</a:t>
            </a:r>
          </a:p>
          <a:p>
            <a:endParaRPr lang="en-US" sz="2400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View &amp; Grid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The </a:t>
            </a:r>
            <a:r>
              <a:rPr lang="en-US" sz="2000" dirty="0" smtClean="0">
                <a:solidFill>
                  <a:srgbClr val="3333FF"/>
                </a:solidFill>
              </a:rPr>
              <a:t>content</a:t>
            </a:r>
            <a:r>
              <a:rPr lang="en-US" sz="2000" dirty="0" smtClean="0"/>
              <a:t> for “List View” &amp; “Grid View” is </a:t>
            </a:r>
            <a:r>
              <a:rPr lang="en-US" sz="2000" dirty="0" smtClean="0">
                <a:solidFill>
                  <a:srgbClr val="3333FF"/>
                </a:solidFill>
              </a:rPr>
              <a:t>dynamic</a:t>
            </a:r>
            <a:r>
              <a:rPr lang="en-US" sz="2000" dirty="0" smtClean="0"/>
              <a:t>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These are </a:t>
            </a:r>
            <a:r>
              <a:rPr lang="en-US" sz="2000" dirty="0" smtClean="0">
                <a:solidFill>
                  <a:srgbClr val="3333FF"/>
                </a:solidFill>
              </a:rPr>
              <a:t>populated with views at runtime</a:t>
            </a:r>
            <a:r>
              <a:rPr lang="en-US" sz="2000" dirty="0" smtClean="0"/>
              <a:t>.</a:t>
            </a:r>
          </a:p>
        </p:txBody>
      </p:sp>
      <p:pic>
        <p:nvPicPr>
          <p:cNvPr id="7" name="Picture 2" descr="http://developer.android.com/images/ui/listview-sma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276600"/>
            <a:ext cx="2883243" cy="2133600"/>
          </a:xfrm>
          <a:prstGeom prst="rect">
            <a:avLst/>
          </a:prstGeom>
          <a:noFill/>
        </p:spPr>
      </p:pic>
      <p:pic>
        <p:nvPicPr>
          <p:cNvPr id="8" name="Picture 4" descr="http://developer.android.com/images/ui/gridview-smal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276600"/>
            <a:ext cx="2883243" cy="21336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View &amp; Grid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400" dirty="0" smtClean="0"/>
              <a:t>In order to implement functionality: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>
                <a:solidFill>
                  <a:srgbClr val="3333FF"/>
                </a:solidFill>
              </a:rPr>
              <a:t>Add each view item</a:t>
            </a:r>
            <a:r>
              <a:rPr lang="en-US" sz="2000" dirty="0" smtClean="0"/>
              <a:t> inside the List or Grid.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>
                <a:solidFill>
                  <a:srgbClr val="3333FF"/>
                </a:solidFill>
              </a:rPr>
              <a:t>Populate each view item </a:t>
            </a:r>
            <a:r>
              <a:rPr lang="en-US" sz="2000" dirty="0" smtClean="0"/>
              <a:t>with content.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Since we can have many items inside List or Grid, we may need to implement </a:t>
            </a:r>
            <a:r>
              <a:rPr lang="en-US" sz="2000" dirty="0" smtClean="0">
                <a:solidFill>
                  <a:srgbClr val="3333FF"/>
                </a:solidFill>
              </a:rPr>
              <a:t>scrolling</a:t>
            </a:r>
            <a:r>
              <a:rPr lang="en-US" sz="2000" dirty="0" smtClean="0"/>
              <a:t> &amp; </a:t>
            </a:r>
            <a:r>
              <a:rPr lang="en-US" sz="2000" dirty="0" smtClean="0">
                <a:solidFill>
                  <a:srgbClr val="3333FF"/>
                </a:solidFill>
              </a:rPr>
              <a:t>pagination</a:t>
            </a:r>
            <a:r>
              <a:rPr lang="en-US" sz="2000" dirty="0" smtClean="0"/>
              <a:t>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We also have to </a:t>
            </a:r>
            <a:r>
              <a:rPr lang="en-US" sz="2000" dirty="0" smtClean="0">
                <a:solidFill>
                  <a:srgbClr val="3333FF"/>
                </a:solidFill>
              </a:rPr>
              <a:t>write additional code to identify the click event </a:t>
            </a:r>
            <a:r>
              <a:rPr lang="en-US" sz="2000" dirty="0" smtClean="0"/>
              <a:t>on a particular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3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View &amp; Grid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400" dirty="0" smtClean="0"/>
              <a:t>Note that items in both the List &amp; Grid: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Are of </a:t>
            </a:r>
            <a:r>
              <a:rPr lang="en-US" sz="2000" dirty="0" smtClean="0">
                <a:solidFill>
                  <a:srgbClr val="3333FF"/>
                </a:solidFill>
              </a:rPr>
              <a:t>same type</a:t>
            </a:r>
            <a:r>
              <a:rPr lang="en-US" sz="2000" dirty="0" smtClean="0"/>
              <a:t>. i.e., TextView, </a:t>
            </a:r>
            <a:r>
              <a:rPr lang="en-US" sz="2000" dirty="0" err="1" smtClean="0"/>
              <a:t>ImageView</a:t>
            </a:r>
            <a:r>
              <a:rPr lang="en-US" sz="2000" dirty="0" smtClean="0"/>
              <a:t>, etc.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Need to be </a:t>
            </a:r>
            <a:r>
              <a:rPr lang="en-US" sz="2000" dirty="0" smtClean="0">
                <a:solidFill>
                  <a:srgbClr val="3333FF"/>
                </a:solidFill>
              </a:rPr>
              <a:t>accessed and added at runtime </a:t>
            </a:r>
            <a:r>
              <a:rPr lang="en-US" sz="2000" dirty="0" smtClean="0"/>
              <a:t>from some data source for example, array, database,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4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400" dirty="0" smtClean="0"/>
              <a:t>We need Android Framework to provide us with: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b="1" dirty="0" smtClean="0"/>
              <a:t>An object that can: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Provide access to the data items. </a:t>
            </a:r>
          </a:p>
          <a:p>
            <a:pPr lvl="1"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Be responsible for making a View for each item in the data set.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b="1" dirty="0" smtClean="0"/>
              <a:t>A ViewGroup: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Whose children are determined by the above object.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That provides mechanism to handle click event on particular list items.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That takes care of scrolling &amp; pagination.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5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Good News!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400" dirty="0" smtClean="0"/>
              <a:t>Android Framework provides us with: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b="1" dirty="0" smtClean="0"/>
              <a:t>Adapter Class: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Provides access to the data items. </a:t>
            </a:r>
          </a:p>
          <a:p>
            <a:pPr lvl="1"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/>
              <a:t>Responsible for making a View for each item in the data set.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b="1" dirty="0" smtClean="0"/>
              <a:t>AdapterView Class: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Whose children are determined by an Adapter.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Provide mechanism to handle click event on particular list items.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/>
              <a:t>Takes care of scrolling &amp; pagination.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3333FF"/>
                </a:solidFill>
              </a:rPr>
              <a:t>ListView</a:t>
            </a:r>
            <a:r>
              <a:rPr lang="en-US" sz="2000" dirty="0" smtClean="0"/>
              <a:t> &amp; </a:t>
            </a:r>
            <a:r>
              <a:rPr lang="en-US" sz="2000" dirty="0" err="1" smtClean="0">
                <a:solidFill>
                  <a:srgbClr val="3333FF"/>
                </a:solidFill>
              </a:rPr>
              <a:t>GridView</a:t>
            </a:r>
            <a:r>
              <a:rPr lang="en-US" sz="2000" dirty="0" smtClean="0"/>
              <a:t> are subclasses of </a:t>
            </a:r>
            <a:r>
              <a:rPr lang="en-US" sz="2000" dirty="0" smtClean="0">
                <a:solidFill>
                  <a:srgbClr val="3333FF"/>
                </a:solidFill>
              </a:rPr>
              <a:t>AdapterView</a:t>
            </a:r>
            <a:r>
              <a:rPr lang="en-US" sz="2000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6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Spinner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000" dirty="0" smtClean="0">
                <a:solidFill>
                  <a:srgbClr val="3333FF"/>
                </a:solidFill>
              </a:rPr>
              <a:t>Spinner</a:t>
            </a:r>
            <a:r>
              <a:rPr lang="en-US" sz="2000" dirty="0" smtClean="0"/>
              <a:t> and </a:t>
            </a:r>
            <a:r>
              <a:rPr lang="en-US" sz="2000" dirty="0" smtClean="0">
                <a:solidFill>
                  <a:srgbClr val="3333FF"/>
                </a:solidFill>
              </a:rPr>
              <a:t>Gallery</a:t>
            </a:r>
            <a:r>
              <a:rPr lang="en-US" sz="2000" dirty="0" smtClean="0"/>
              <a:t> (Gallery has been deprecated since API 16) are also commonly used subclasses of </a:t>
            </a:r>
            <a:r>
              <a:rPr lang="en-US" sz="2000" dirty="0" smtClean="0">
                <a:solidFill>
                  <a:srgbClr val="3333FF"/>
                </a:solidFill>
              </a:rPr>
              <a:t>AdapterView</a:t>
            </a:r>
            <a:r>
              <a:rPr lang="en-US" sz="2000" dirty="0" smtClean="0"/>
              <a:t>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2000" y="2743200"/>
            <a:ext cx="6777318" cy="3277870"/>
            <a:chOff x="762000" y="2743200"/>
            <a:chExt cx="6777318" cy="3277870"/>
          </a:xfrm>
        </p:grpSpPr>
        <p:sp>
          <p:nvSpPr>
            <p:cNvPr id="5" name="TextBox 4"/>
            <p:cNvSpPr txBox="1"/>
            <p:nvPr/>
          </p:nvSpPr>
          <p:spPr>
            <a:xfrm>
              <a:off x="2590800" y="3491753"/>
              <a:ext cx="494851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rgbClr val="3333FF"/>
                  </a:solidFill>
                  <a:latin typeface="+mn-lt"/>
                </a:rPr>
                <a:t>Spinners </a:t>
              </a:r>
              <a:r>
                <a:rPr lang="en-US" sz="2000" dirty="0" smtClean="0">
                  <a:latin typeface="+mn-lt"/>
                </a:rPr>
                <a:t>provide a quick way to select one value from a set. In the default state, a spinner shows its currently selected value. Touching the spinner displays a dropdown  menu with all other available values, from which the user can select a new one.</a:t>
              </a:r>
              <a:endParaRPr lang="en-US" sz="2000" dirty="0">
                <a:latin typeface="+mn-lt"/>
              </a:endParaRPr>
            </a:p>
          </p:txBody>
        </p:sp>
        <p:pic>
          <p:nvPicPr>
            <p:cNvPr id="8194" name="Picture 2" descr="http://developer.android.com/images/ui/spinner.png"/>
            <p:cNvPicPr>
              <a:picLocks noChangeAspect="1" noChangeArrowheads="1"/>
            </p:cNvPicPr>
            <p:nvPr/>
          </p:nvPicPr>
          <p:blipFill>
            <a:blip r:embed="rId3" cstate="print"/>
            <a:srcRect l="47059"/>
            <a:stretch>
              <a:fillRect/>
            </a:stretch>
          </p:blipFill>
          <p:spPr bwMode="auto">
            <a:xfrm>
              <a:off x="762000" y="2743200"/>
              <a:ext cx="2209800" cy="3277870"/>
            </a:xfrm>
            <a:prstGeom prst="rect">
              <a:avLst/>
            </a:prstGeom>
            <a:noFill/>
          </p:spPr>
        </p:pic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7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8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400" dirty="0" smtClean="0"/>
              <a:t>An </a:t>
            </a:r>
            <a:r>
              <a:rPr lang="en-US" sz="2400" dirty="0" smtClean="0">
                <a:solidFill>
                  <a:srgbClr val="3333FF"/>
                </a:solidFill>
              </a:rPr>
              <a:t>Adapter</a:t>
            </a:r>
            <a:r>
              <a:rPr lang="en-US" sz="2400" dirty="0" smtClean="0"/>
              <a:t> object acts as a bridge between an </a:t>
            </a:r>
            <a:r>
              <a:rPr lang="en-US" sz="2400" dirty="0" smtClean="0">
                <a:solidFill>
                  <a:srgbClr val="3333FF"/>
                </a:solidFill>
              </a:rPr>
              <a:t>AdapterView</a:t>
            </a:r>
            <a:r>
              <a:rPr lang="en-US" sz="2400" dirty="0" smtClean="0"/>
              <a:t> and the underlying </a:t>
            </a:r>
            <a:r>
              <a:rPr lang="en-US" sz="2400" dirty="0">
                <a:solidFill>
                  <a:srgbClr val="3333FF"/>
                </a:solidFill>
              </a:rPr>
              <a:t>data</a:t>
            </a:r>
            <a:r>
              <a:rPr lang="en-US" sz="2400" dirty="0" smtClean="0"/>
              <a:t> for that view. 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400" dirty="0" smtClean="0"/>
              <a:t>The Adapter </a:t>
            </a:r>
            <a:r>
              <a:rPr lang="en-US" sz="2400" dirty="0" smtClean="0">
                <a:solidFill>
                  <a:srgbClr val="3333FF"/>
                </a:solidFill>
              </a:rPr>
              <a:t>provides access to the data items</a:t>
            </a:r>
            <a:r>
              <a:rPr lang="en-US" sz="2400" dirty="0" smtClean="0"/>
              <a:t>. 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400" dirty="0" smtClean="0"/>
              <a:t>The Adapter is also </a:t>
            </a:r>
            <a:r>
              <a:rPr lang="en-US" sz="2400" dirty="0" smtClean="0">
                <a:solidFill>
                  <a:srgbClr val="3333FF"/>
                </a:solidFill>
              </a:rPr>
              <a:t>responsible for making a View for each item in the data set</a:t>
            </a:r>
            <a:r>
              <a:rPr lang="en-US" sz="2400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8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Adapter (Conceptual Diagram)</a:t>
            </a:r>
            <a:endParaRPr lang="en-US" dirty="0"/>
          </a:p>
        </p:txBody>
      </p:sp>
      <p:pic>
        <p:nvPicPr>
          <p:cNvPr id="26626" name="Picture 2" descr="Android Listview Adapters"/>
          <p:cNvPicPr>
            <a:picLocks noChangeAspect="1" noChangeArrowheads="1"/>
          </p:cNvPicPr>
          <p:nvPr/>
        </p:nvPicPr>
        <p:blipFill>
          <a:blip r:embed="rId3" cstate="print"/>
          <a:srcRect b="32063"/>
          <a:stretch>
            <a:fillRect/>
          </a:stretch>
        </p:blipFill>
        <p:spPr bwMode="auto">
          <a:xfrm>
            <a:off x="571500" y="2046982"/>
            <a:ext cx="8001000" cy="16002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85800" y="3799582"/>
            <a:ext cx="12768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" indent="-18288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List View</a:t>
            </a:r>
          </a:p>
          <a:p>
            <a:pPr marL="91440" indent="-18288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Grid View</a:t>
            </a:r>
          </a:p>
          <a:p>
            <a:pPr marL="91440" indent="-18288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Spinner</a:t>
            </a:r>
            <a:endParaRPr lang="en-US" sz="18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01283" y="3886200"/>
            <a:ext cx="2347117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" indent="-18288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ArrayAdapter</a:t>
            </a:r>
          </a:p>
          <a:p>
            <a:pPr marL="91440" indent="-18288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 err="1" smtClean="0">
                <a:latin typeface="+mn-lt"/>
              </a:rPr>
              <a:t>SimpleCursorAdapter</a:t>
            </a:r>
            <a:endParaRPr lang="en-US" sz="1800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86600" y="3886200"/>
            <a:ext cx="1260666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" indent="-18288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Array</a:t>
            </a:r>
          </a:p>
          <a:p>
            <a:pPr marL="91440" indent="-18288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 smtClean="0">
                <a:latin typeface="+mn-lt"/>
              </a:rPr>
              <a:t>Database</a:t>
            </a:r>
            <a:endParaRPr lang="en-US" sz="18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9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(</a:t>
            </a:r>
            <a:r>
              <a:rPr lang="en-US" dirty="0" smtClean="0"/>
              <a:t>Conceptual </a:t>
            </a:r>
            <a:r>
              <a:rPr lang="en-US" dirty="0"/>
              <a:t>Diagram)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10</a:t>
            </a:fld>
            <a:endParaRPr kumimoji="0" lang="en-US"/>
          </a:p>
        </p:txBody>
      </p:sp>
      <p:pic>
        <p:nvPicPr>
          <p:cNvPr id="1026" name="Picture 2" descr="C:\Users\arshad\Desktop\adapterDiagr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52" y="1447800"/>
            <a:ext cx="6140450" cy="478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52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Adapter &amp; AdapterView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US" sz="2000" dirty="0" smtClean="0"/>
              <a:t>Add </a:t>
            </a:r>
            <a:r>
              <a:rPr lang="en-US" sz="2000" dirty="0" smtClean="0">
                <a:solidFill>
                  <a:srgbClr val="3333FF"/>
                </a:solidFill>
              </a:rPr>
              <a:t>AdapterView</a:t>
            </a:r>
            <a:r>
              <a:rPr lang="en-US" sz="2000" dirty="0" smtClean="0"/>
              <a:t> to Activity (i.e., Add in XML Layout) – list, grid, spinner</a:t>
            </a:r>
          </a:p>
          <a:p>
            <a:pPr marL="457200" indent="-45720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US" sz="2000" dirty="0" smtClean="0"/>
              <a:t>Define </a:t>
            </a:r>
            <a:r>
              <a:rPr lang="en-US" sz="2000" dirty="0" smtClean="0">
                <a:solidFill>
                  <a:srgbClr val="3333FF"/>
                </a:solidFill>
              </a:rPr>
              <a:t>Date Source </a:t>
            </a:r>
            <a:r>
              <a:rPr lang="en-US" sz="2000" dirty="0" smtClean="0"/>
              <a:t>(e.g. Array in Code or in XML “string-array”) </a:t>
            </a:r>
          </a:p>
          <a:p>
            <a:pPr marL="457200" indent="-45720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US" sz="2000" dirty="0" smtClean="0"/>
              <a:t>Create </a:t>
            </a:r>
            <a:r>
              <a:rPr lang="en-US" sz="2000" dirty="0" smtClean="0">
                <a:solidFill>
                  <a:srgbClr val="3333FF"/>
                </a:solidFill>
              </a:rPr>
              <a:t>Adapter</a:t>
            </a:r>
            <a:r>
              <a:rPr lang="en-US" sz="2000" dirty="0" smtClean="0"/>
              <a:t> (e.g., ArrayAdapter)</a:t>
            </a:r>
          </a:p>
          <a:p>
            <a:pPr marL="914400" lvl="1" indent="-457200">
              <a:spcBef>
                <a:spcPts val="0"/>
              </a:spcBef>
              <a:spcAft>
                <a:spcPts val="2400"/>
              </a:spcAft>
            </a:pPr>
            <a:r>
              <a:rPr lang="en-US" sz="1800" dirty="0" smtClean="0"/>
              <a:t>Specify </a:t>
            </a:r>
            <a:r>
              <a:rPr lang="en-US" sz="1800" dirty="0" smtClean="0">
                <a:solidFill>
                  <a:srgbClr val="3333FF"/>
                </a:solidFill>
              </a:rPr>
              <a:t>context</a:t>
            </a:r>
            <a:r>
              <a:rPr lang="en-US" sz="1800" dirty="0" smtClean="0"/>
              <a:t>, </a:t>
            </a:r>
            <a:r>
              <a:rPr lang="en-US" sz="1800" dirty="0" smtClean="0">
                <a:solidFill>
                  <a:srgbClr val="3333FF"/>
                </a:solidFill>
              </a:rPr>
              <a:t>layout</a:t>
            </a:r>
            <a:r>
              <a:rPr lang="en-US" sz="1800" dirty="0" smtClean="0"/>
              <a:t> to be used for each view, and the </a:t>
            </a:r>
            <a:r>
              <a:rPr lang="en-US" sz="1800" dirty="0" smtClean="0">
                <a:solidFill>
                  <a:srgbClr val="3333FF"/>
                </a:solidFill>
              </a:rPr>
              <a:t>string array</a:t>
            </a:r>
          </a:p>
          <a:p>
            <a:pPr marL="457200" indent="-45720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US" sz="2000" dirty="0" smtClean="0"/>
              <a:t>Get </a:t>
            </a:r>
            <a:r>
              <a:rPr lang="en-US" sz="2000" dirty="0" smtClean="0">
                <a:solidFill>
                  <a:srgbClr val="3333FF"/>
                </a:solidFill>
              </a:rPr>
              <a:t>reference to AdapterView </a:t>
            </a:r>
            <a:r>
              <a:rPr lang="en-US" sz="2000" dirty="0" smtClean="0"/>
              <a:t>(use </a:t>
            </a:r>
            <a:r>
              <a:rPr lang="en-US" sz="2000" dirty="0" err="1" smtClean="0"/>
              <a:t>findViewById</a:t>
            </a:r>
            <a:r>
              <a:rPr lang="en-US" sz="2000" dirty="0" smtClean="0"/>
              <a:t>() method)</a:t>
            </a:r>
          </a:p>
          <a:p>
            <a:pPr marL="457200" indent="-45720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US" sz="2000" dirty="0" smtClean="0">
                <a:solidFill>
                  <a:srgbClr val="3333FF"/>
                </a:solidFill>
              </a:rPr>
              <a:t>Set Adapter on Adapter View </a:t>
            </a:r>
            <a:r>
              <a:rPr lang="en-US" sz="2000" dirty="0" smtClean="0"/>
              <a:t>(use </a:t>
            </a:r>
            <a:r>
              <a:rPr lang="en-US" sz="2000" dirty="0" err="1" smtClean="0"/>
              <a:t>setAdapter</a:t>
            </a:r>
            <a:r>
              <a:rPr lang="en-US" sz="2000" dirty="0" smtClean="0"/>
              <a:t>() method)</a:t>
            </a:r>
          </a:p>
          <a:p>
            <a:pPr marL="457200" indent="-457200">
              <a:spcBef>
                <a:spcPts val="0"/>
              </a:spcBef>
              <a:spcAft>
                <a:spcPts val="2400"/>
              </a:spcAft>
              <a:buFont typeface="+mj-lt"/>
              <a:buAutoNum type="arabicPeriod"/>
            </a:pPr>
            <a:r>
              <a:rPr lang="en-US" sz="2000" dirty="0" smtClean="0"/>
              <a:t>Set </a:t>
            </a:r>
            <a:r>
              <a:rPr lang="en-US" sz="2000" dirty="0" smtClean="0">
                <a:solidFill>
                  <a:srgbClr val="3333FF"/>
                </a:solidFill>
              </a:rPr>
              <a:t>Event Listener </a:t>
            </a:r>
            <a:r>
              <a:rPr lang="en-US" sz="2000" dirty="0" smtClean="0"/>
              <a:t>(if needed. e.g., </a:t>
            </a:r>
            <a:r>
              <a:rPr lang="en-US" sz="2000" dirty="0" err="1" smtClean="0"/>
              <a:t>onItemClick</a:t>
            </a:r>
            <a:r>
              <a:rPr lang="en-US" sz="2000" dirty="0" smtClean="0"/>
              <a:t>())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11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ArrayAdapter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1"/>
            <a:ext cx="8610600" cy="4876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</a:t>
            </a:r>
            <a:r>
              <a:rPr lang="en-US" sz="2400" dirty="0"/>
              <a:t>you have an array of strings you want to display in a ListView, initialize a new </a:t>
            </a:r>
            <a:r>
              <a:rPr lang="en-US" sz="2400" b="1" dirty="0"/>
              <a:t>ArrayAdapter</a:t>
            </a:r>
            <a:r>
              <a:rPr lang="en-US" sz="2400" dirty="0"/>
              <a:t> using a constructor to specify the layout for each string and the string array −</a:t>
            </a:r>
          </a:p>
          <a:p>
            <a:pPr marL="118872" indent="0">
              <a:buNone/>
            </a:pPr>
            <a:endParaRPr lang="en-US" sz="1200" dirty="0" smtClean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ＭＳ Ｐゴシック" charset="-128"/>
              </a:rPr>
              <a:t>      ArrayAdapte</a:t>
            </a:r>
            <a:r>
              <a:rPr lang="en-US" sz="1600" dirty="0" smtClean="0">
                <a:solidFill>
                  <a:prstClr val="black"/>
                </a:solidFill>
                <a:latin typeface="Arial Unicode MS" panose="020B0604020202020204" pitchFamily="34" charset="-128"/>
                <a:ea typeface="ＭＳ Ｐゴシック" charset="-128"/>
              </a:rPr>
              <a:t>r </a:t>
            </a:r>
            <a:r>
              <a:rPr lang="en-US" sz="1600" dirty="0">
                <a:solidFill>
                  <a:prstClr val="black"/>
                </a:solidFill>
                <a:latin typeface="Arial Unicode MS" panose="020B0604020202020204" pitchFamily="34" charset="-128"/>
                <a:ea typeface="ＭＳ Ｐゴシック" charset="-128"/>
              </a:rPr>
              <a:t>adapter = </a:t>
            </a:r>
            <a:r>
              <a:rPr lang="en-US" sz="1600" dirty="0">
                <a:solidFill>
                  <a:srgbClr val="3333FF"/>
                </a:solidFill>
                <a:latin typeface="Arial Unicode MS" panose="020B0604020202020204" pitchFamily="34" charset="-128"/>
                <a:ea typeface="ＭＳ Ｐゴシック" charset="-128"/>
              </a:rPr>
              <a:t>new</a:t>
            </a:r>
            <a:r>
              <a:rPr lang="en-US" sz="1600" dirty="0">
                <a:solidFill>
                  <a:prstClr val="black"/>
                </a:solidFill>
                <a:latin typeface="Arial Unicode MS" panose="020B0604020202020204" pitchFamily="34" charset="-128"/>
                <a:ea typeface="ＭＳ Ｐゴシック" charset="-128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ＭＳ Ｐゴシック" charset="-128"/>
              </a:rPr>
              <a:t>ArrayAdapter&lt;String&gt;</a:t>
            </a:r>
            <a:r>
              <a:rPr lang="en-US" sz="1600" dirty="0">
                <a:solidFill>
                  <a:prstClr val="black"/>
                </a:solidFill>
                <a:latin typeface="Arial Unicode MS" panose="020B0604020202020204" pitchFamily="34" charset="-128"/>
                <a:ea typeface="ＭＳ Ｐゴシック" charset="-128"/>
              </a:rPr>
              <a:t>(</a:t>
            </a:r>
            <a:r>
              <a:rPr lang="en-US" sz="1600" dirty="0">
                <a:solidFill>
                  <a:srgbClr val="3333FF"/>
                </a:solidFill>
                <a:latin typeface="Arial Unicode MS" panose="020B0604020202020204" pitchFamily="34" charset="-128"/>
                <a:ea typeface="ＭＳ Ｐゴシック" charset="-128"/>
              </a:rPr>
              <a:t>this</a:t>
            </a:r>
            <a:r>
              <a:rPr lang="en-US" sz="1600" dirty="0" smtClean="0">
                <a:solidFill>
                  <a:prstClr val="black"/>
                </a:solidFill>
                <a:latin typeface="Arial Unicode MS" panose="020B0604020202020204" pitchFamily="34" charset="-128"/>
                <a:ea typeface="ＭＳ Ｐゴシック" charset="-128"/>
              </a:rPr>
              <a:t>, R.layout.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ＭＳ Ｐゴシック" charset="-128"/>
              </a:rPr>
              <a:t>ListView</a:t>
            </a:r>
            <a:r>
              <a:rPr lang="en-US" sz="1600" dirty="0" smtClean="0">
                <a:solidFill>
                  <a:prstClr val="black"/>
                </a:solidFill>
                <a:latin typeface="Arial Unicode MS" panose="020B0604020202020204" pitchFamily="34" charset="-128"/>
                <a:ea typeface="ＭＳ Ｐゴシック" charset="-128"/>
              </a:rPr>
              <a:t>,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ＭＳ Ｐゴシック" charset="-128"/>
              </a:rPr>
              <a:t>StringArray</a:t>
            </a:r>
            <a:r>
              <a:rPr lang="en-US" sz="1600" dirty="0">
                <a:solidFill>
                  <a:prstClr val="black"/>
                </a:solidFill>
                <a:latin typeface="Arial Unicode MS" panose="020B0604020202020204" pitchFamily="34" charset="-128"/>
                <a:ea typeface="ＭＳ Ｐゴシック" charset="-128"/>
              </a:rPr>
              <a:t>);</a:t>
            </a:r>
            <a:r>
              <a:rPr lang="en-US" sz="1200" dirty="0">
                <a:solidFill>
                  <a:prstClr val="black"/>
                </a:solidFill>
                <a:latin typeface="Tahoma" charset="0"/>
                <a:ea typeface="ＭＳ Ｐゴシック" charset="-128"/>
              </a:rPr>
              <a:t> </a:t>
            </a:r>
            <a:endParaRPr lang="en-US" sz="1200" dirty="0" smtClean="0">
              <a:solidFill>
                <a:prstClr val="black"/>
              </a:solidFill>
              <a:latin typeface="Tahoma" charset="0"/>
              <a:ea typeface="ＭＳ Ｐゴシック" charset="-128"/>
            </a:endParaRPr>
          </a:p>
          <a:p>
            <a:endParaRPr lang="en-US" sz="2400" b="1" dirty="0" smtClean="0"/>
          </a:p>
          <a:p>
            <a:r>
              <a:rPr lang="en-US" sz="2400" b="1" dirty="0" smtClean="0"/>
              <a:t>Parameters of Array Adapter</a:t>
            </a:r>
          </a:p>
          <a:p>
            <a:r>
              <a:rPr lang="en-US" sz="2400" b="1" dirty="0" smtClean="0"/>
              <a:t>this</a:t>
            </a:r>
            <a:r>
              <a:rPr lang="en-US" sz="2400" dirty="0" smtClean="0"/>
              <a:t> </a:t>
            </a:r>
            <a:r>
              <a:rPr lang="en-US" sz="2400" dirty="0"/>
              <a:t>is the application context. </a:t>
            </a:r>
            <a:endParaRPr lang="en-US" sz="2400" dirty="0" smtClean="0"/>
          </a:p>
          <a:p>
            <a:r>
              <a:rPr lang="en-US" sz="2400" b="1" dirty="0" smtClean="0"/>
              <a:t>R.layout.ListView</a:t>
            </a:r>
            <a:r>
              <a:rPr lang="en-US" sz="2400" dirty="0" smtClean="0"/>
              <a:t> is defined </a:t>
            </a:r>
            <a:r>
              <a:rPr lang="en-US" sz="2400" dirty="0"/>
              <a:t>in XML file and having </a:t>
            </a:r>
            <a:r>
              <a:rPr lang="en-US" sz="2400" b="1" dirty="0"/>
              <a:t>TextView</a:t>
            </a:r>
            <a:r>
              <a:rPr lang="en-US" sz="2400" dirty="0"/>
              <a:t> for each string in the array.</a:t>
            </a:r>
          </a:p>
          <a:p>
            <a:r>
              <a:rPr lang="en-US" sz="2400" b="1" dirty="0" smtClean="0"/>
              <a:t>StringArray </a:t>
            </a:r>
            <a:r>
              <a:rPr lang="en-US" sz="2400" dirty="0" smtClean="0"/>
              <a:t>is</a:t>
            </a:r>
            <a:r>
              <a:rPr lang="en-US" sz="2400" b="1" dirty="0" smtClean="0"/>
              <a:t> </a:t>
            </a:r>
            <a:r>
              <a:rPr lang="en-US" sz="2400" dirty="0" smtClean="0"/>
              <a:t>an </a:t>
            </a:r>
            <a:r>
              <a:rPr lang="en-US" sz="2400" dirty="0"/>
              <a:t>array of strings which will be populated in the text view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2837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ArrayAdapter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400" dirty="0" smtClean="0"/>
              <a:t>List View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400" dirty="0" smtClean="0"/>
              <a:t>Grid View</a:t>
            </a: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US" sz="2400" dirty="0" smtClean="0"/>
              <a:t>Spinner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13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cap="none" dirty="0" smtClean="0"/>
              <a:t>List View With Array Adapter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14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1. Add AdapterView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RelativeLayout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... &gt;</a:t>
            </a:r>
          </a:p>
          <a:p>
            <a:pPr>
              <a:buNone/>
            </a:pP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&lt;ListView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android:id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="@+id/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listView1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android:layout_width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match_parent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android:layout_height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wrap_content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android:layout_alignParentLeft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="true"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android:layout_alignParentTop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="true" 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&lt;/ListView&gt;</a:t>
            </a:r>
          </a:p>
          <a:p>
            <a:pPr>
              <a:buNone/>
            </a:pP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RelativeLayout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15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2. Define Date Source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String[]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months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= {"January", "February", "March", "April", "May", "June", "July",  "August", "September", "October", "November", "December"};</a:t>
            </a:r>
          </a:p>
          <a:p>
            <a:pPr>
              <a:buNone/>
            </a:pP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16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3. Create Adapter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ArrayAdapter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&lt;String&gt;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ArrayAdapter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&lt;String&gt;(this, android.R.layout.simple_list_item_1, months);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17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4. Get reference to AdapterView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ListView 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listview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= (ListView)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findViewById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(R.id.listView1);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18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5. Set Adapter on Adapter View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listview.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setAdapter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(adapter);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19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6. Set Event Listener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listview.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setOnItemClickListener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OnItemClickListener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() 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public void 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onItemClick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AdapterView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&lt;?&gt; parent, View v,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position, long id) {</a:t>
            </a:r>
            <a:b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</a:b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Toast.makeText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getApplicationContext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months[position]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Toast.LENGTH_SHORT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).show();</a:t>
            </a:r>
            <a:b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</a:b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20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ListView</a:t>
            </a:r>
            <a:r>
              <a:rPr lang="en-IN" dirty="0" smtClean="0"/>
              <a:t> with </a:t>
            </a:r>
            <a:r>
              <a:rPr lang="en-IN" dirty="0" err="1" smtClean="0"/>
              <a:t>ChoiceMode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ListView</a:t>
            </a:r>
            <a:b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:id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"@+id/listView1"</a:t>
            </a:r>
            <a:b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:layout_width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match_parent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:layout_height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wrap_content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:layout_alignParentLeft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"true"</a:t>
            </a:r>
            <a:b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:layout_alignParentTop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"true"</a:t>
            </a:r>
            <a:b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:divider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"@color/</a:t>
            </a: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colorAccent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:dividerHeight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1dp“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:choiceMode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multipleChoice</a:t>
            </a:r>
            <a:r>
              <a:rPr lang="en-US" sz="20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ListView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21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4218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ListView</a:t>
            </a:r>
            <a:r>
              <a:rPr lang="en-IN" dirty="0"/>
              <a:t> with </a:t>
            </a:r>
            <a:r>
              <a:rPr lang="en-IN" dirty="0" err="1"/>
              <a:t>ChoiceMode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872" indent="0">
              <a:buNone/>
            </a:pPr>
            <a:r>
              <a:rPr lang="en-IN" sz="1800" dirty="0" err="1"/>
              <a:t>ArrayAdapter</a:t>
            </a:r>
            <a:r>
              <a:rPr lang="en-IN" sz="1800" dirty="0"/>
              <a:t>&lt;String&gt; adapter = </a:t>
            </a:r>
            <a:r>
              <a:rPr lang="en-IN" sz="1800" b="1" dirty="0"/>
              <a:t>new </a:t>
            </a:r>
            <a:r>
              <a:rPr lang="en-IN" sz="1800" b="1" dirty="0" err="1"/>
              <a:t>ArrayAdapter</a:t>
            </a:r>
            <a:r>
              <a:rPr lang="en-IN" sz="1800" b="1" dirty="0"/>
              <a:t>&lt;String&gt;(this, </a:t>
            </a:r>
            <a:r>
              <a:rPr lang="en-IN" sz="1800" b="1" dirty="0" err="1">
                <a:solidFill>
                  <a:srgbClr val="FF0000"/>
                </a:solidFill>
              </a:rPr>
              <a:t>android.R.layout.</a:t>
            </a:r>
            <a:r>
              <a:rPr lang="en-IN" sz="1800" b="1" i="1" dirty="0" err="1">
                <a:solidFill>
                  <a:srgbClr val="FF0000"/>
                </a:solidFill>
              </a:rPr>
              <a:t>simple_list_item_multiple_choice</a:t>
            </a:r>
            <a:r>
              <a:rPr lang="en-IN" sz="1800" b="1" i="1" dirty="0"/>
              <a:t>, data);</a:t>
            </a:r>
            <a:endParaRPr lang="en-IN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22</a:t>
            </a:fld>
            <a:endParaRPr kumimoji="0"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617076"/>
            <a:ext cx="298205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25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cap="none" dirty="0" smtClean="0"/>
              <a:t>Grid View With Array Adapter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23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1. Add AdapterView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RelativeLayout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... &gt;</a:t>
            </a:r>
          </a:p>
          <a:p>
            <a:pPr>
              <a:buNone/>
            </a:pP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	&lt;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GridView</a:t>
            </a: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android:id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="@+id/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gridView1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android:layout_width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match_parent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android:layout_height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wrap_content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android:layout_alignParentLeft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="true"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android:layout_alignParentTop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="true"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android:numColumns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="3" 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GridView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RelativeLayout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24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2. Define Date Source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2400" b="1" dirty="0" smtClean="0"/>
              <a:t>In “strings.xml” File: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&lt;string-array name="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alphabets_array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&lt;item&gt;A&lt;/item&gt;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&lt;item&gt;B&lt;/item&gt;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&lt;item&gt;C&lt;/item&gt;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&lt;item&gt;Z&lt;/item&gt;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&lt;/string-array&gt;</a:t>
            </a:r>
          </a:p>
          <a:p>
            <a:pPr>
              <a:buNone/>
            </a:pP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25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2. Define Date Source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2400" b="1" dirty="0" smtClean="0"/>
              <a:t>In Activity’s “.java” File:</a:t>
            </a:r>
          </a:p>
          <a:p>
            <a:pPr>
              <a:buNone/>
            </a:pPr>
            <a:endParaRPr lang="en-US" sz="1600" b="1" dirty="0" smtClean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You can declare outside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onCreate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) method</a:t>
            </a:r>
            <a:r>
              <a:rPr lang="en-US" sz="16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, But don’t initialize</a:t>
            </a: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String[]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alphabets; </a:t>
            </a:r>
            <a:endParaRPr lang="en-US" sz="1600" b="1" dirty="0" smtClean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Get values from XML resource file</a:t>
            </a:r>
            <a:endParaRPr lang="en-US" sz="1600" b="1" dirty="0" smtClean="0">
              <a:solidFill>
                <a:srgbClr val="3333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alphabets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getResources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getStringArray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R.array.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alphabets_array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26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3. Create Adapter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ArrayAdapter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&lt;String&gt;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ArrayAdapter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&lt;String&gt;(this, android.R.layout.simple_list_item_1, alphabets);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27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4. Get reference to AdapterView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GridView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gridview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GridView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findViewById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(R.id.gridView1);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28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5. Set Adapter on Adapter View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gridview.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setAdapter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(adapter);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29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6. Set Event Listener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gridview.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setOnItemClickListener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OnItemClickListener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() 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public void 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onItemClick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AdapterView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&lt;?&gt; parent, View v,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 position, long id) 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Toast.makeText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getApplicationContext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(), "You Clicked: "  + 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alphabets[position]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Toast.LENGTH_SHORT</a:t>
            </a: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).show();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30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cap="none" dirty="0" smtClean="0"/>
              <a:t>Spinner With Array Adapter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31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owerpointTemplate">
  <a:themeElements>
    <a:clrScheme name="Blue">
      <a:dk1>
        <a:srgbClr val="1F497D"/>
      </a:dk1>
      <a:lt1>
        <a:srgbClr val="C6D9F0"/>
      </a:lt1>
      <a:dk2>
        <a:srgbClr val="4F81BD"/>
      </a:dk2>
      <a:lt2>
        <a:srgbClr val="DBE5F1"/>
      </a:lt2>
      <a:accent1>
        <a:srgbClr val="17365D"/>
      </a:accent1>
      <a:accent2>
        <a:srgbClr val="366092"/>
      </a:accent2>
      <a:accent3>
        <a:srgbClr val="953734"/>
      </a:accent3>
      <a:accent4>
        <a:srgbClr val="E36C09"/>
      </a:accent4>
      <a:accent5>
        <a:srgbClr val="262626"/>
      </a:accent5>
      <a:accent6>
        <a:srgbClr val="5F497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PowerpointTemplate</Template>
  <TotalTime>9332</TotalTime>
  <Words>1093</Words>
  <Application>Microsoft Office PowerPoint</Application>
  <PresentationFormat>On-screen Show (4:3)</PresentationFormat>
  <Paragraphs>210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ＭＳ Ｐゴシック</vt:lpstr>
      <vt:lpstr>Arial</vt:lpstr>
      <vt:lpstr>Arial Unicode MS</vt:lpstr>
      <vt:lpstr>Calibri</vt:lpstr>
      <vt:lpstr>Corbel</vt:lpstr>
      <vt:lpstr>Courier New</vt:lpstr>
      <vt:lpstr>Tahoma</vt:lpstr>
      <vt:lpstr>Times New Roman</vt:lpstr>
      <vt:lpstr>Wingdings</vt:lpstr>
      <vt:lpstr>Wingdings 2</vt:lpstr>
      <vt:lpstr>Wingdings 3</vt:lpstr>
      <vt:lpstr>PowerpointTemplate</vt:lpstr>
      <vt:lpstr>Module</vt:lpstr>
      <vt:lpstr>Android Adapters</vt:lpstr>
      <vt:lpstr>List View &amp; Grid View</vt:lpstr>
      <vt:lpstr>List View &amp; Grid View</vt:lpstr>
      <vt:lpstr>List View &amp; Grid View</vt:lpstr>
      <vt:lpstr>What We Need?</vt:lpstr>
      <vt:lpstr>Good News!</vt:lpstr>
      <vt:lpstr>Spinner</vt:lpstr>
      <vt:lpstr>Adapter</vt:lpstr>
      <vt:lpstr>Adapter (Conceptual Diagram)</vt:lpstr>
      <vt:lpstr>Adapter (Conceptual Diagram)</vt:lpstr>
      <vt:lpstr>Using Adapter &amp; AdapterView</vt:lpstr>
      <vt:lpstr>ArrayAdapter</vt:lpstr>
      <vt:lpstr>ArrayAdapter Examples</vt:lpstr>
      <vt:lpstr>Example: List View With Array Adapter</vt:lpstr>
      <vt:lpstr>1. Add AdapterView </vt:lpstr>
      <vt:lpstr>2. Define Date Source </vt:lpstr>
      <vt:lpstr>3. Create Adapter </vt:lpstr>
      <vt:lpstr>4. Get reference to AdapterView </vt:lpstr>
      <vt:lpstr>5. Set Adapter on Adapter View </vt:lpstr>
      <vt:lpstr>6. Set Event Listener </vt:lpstr>
      <vt:lpstr>ListView with ChoiceMode</vt:lpstr>
      <vt:lpstr>ListView with ChoiceMode</vt:lpstr>
      <vt:lpstr>Example: Grid View With Array Adapter</vt:lpstr>
      <vt:lpstr>1. Add AdapterView </vt:lpstr>
      <vt:lpstr>2. Define Date Source </vt:lpstr>
      <vt:lpstr>2. Define Date Source </vt:lpstr>
      <vt:lpstr>3. Create Adapter </vt:lpstr>
      <vt:lpstr>4. Get reference to AdapterView </vt:lpstr>
      <vt:lpstr>5. Set Adapter on Adapter View </vt:lpstr>
      <vt:lpstr>6. Set Event Listener </vt:lpstr>
      <vt:lpstr>Example: Spinner With Array Adapter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CONCEPTS</dc:title>
  <cp:lastModifiedBy>CGS COMPUTERS</cp:lastModifiedBy>
  <cp:revision>620</cp:revision>
  <dcterms:created xsi:type="dcterms:W3CDTF">2011-09-09T05:53:28Z</dcterms:created>
  <dcterms:modified xsi:type="dcterms:W3CDTF">2026-04-22T09:25:11Z</dcterms:modified>
</cp:coreProperties>
</file>